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86" r:id="rId4"/>
    <p:sldId id="261" r:id="rId5"/>
    <p:sldId id="273" r:id="rId6"/>
    <p:sldId id="274" r:id="rId7"/>
    <p:sldId id="262" r:id="rId8"/>
    <p:sldId id="277" r:id="rId9"/>
    <p:sldId id="278" r:id="rId10"/>
    <p:sldId id="279" r:id="rId11"/>
    <p:sldId id="281" r:id="rId12"/>
    <p:sldId id="280" r:id="rId13"/>
    <p:sldId id="282" r:id="rId14"/>
    <p:sldId id="283" r:id="rId15"/>
    <p:sldId id="284" r:id="rId16"/>
    <p:sldId id="285"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47" autoAdjust="0"/>
    <p:restoredTop sz="94660"/>
  </p:normalViewPr>
  <p:slideViewPr>
    <p:cSldViewPr>
      <p:cViewPr varScale="1">
        <p:scale>
          <a:sx n="86" d="100"/>
          <a:sy n="86" d="100"/>
        </p:scale>
        <p:origin x="-1488"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9CD557D-615F-4ED9-9DE2-548CAFCB7EB8}"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F42B5B-6235-4788-9551-B2DE24EEA5F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CD557D-615F-4ED9-9DE2-548CAFCB7EB8}"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F42B5B-6235-4788-9551-B2DE24EEA5F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9CD557D-615F-4ED9-9DE2-548CAFCB7EB8}"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F42B5B-6235-4788-9551-B2DE24EEA5F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9CD557D-615F-4ED9-9DE2-548CAFCB7EB8}"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F42B5B-6235-4788-9551-B2DE24EEA5F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9CD557D-615F-4ED9-9DE2-548CAFCB7EB8}" type="datetimeFigureOut">
              <a:rPr lang="en-US" smtClean="0"/>
              <a:pPr/>
              <a:t>5/19/2019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F42B5B-6235-4788-9551-B2DE24EEA5F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9CD557D-615F-4ED9-9DE2-548CAFCB7EB8}" type="datetimeFigureOut">
              <a:rPr lang="en-US" smtClean="0"/>
              <a:pPr/>
              <a:t>5/19/2019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F42B5B-6235-4788-9551-B2DE24EEA5F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CD557D-615F-4ED9-9DE2-548CAFCB7EB8}" type="datetimeFigureOut">
              <a:rPr lang="en-US" smtClean="0"/>
              <a:pPr/>
              <a:t>5/19/2019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DF42B5B-6235-4788-9551-B2DE24EEA5F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CD557D-615F-4ED9-9DE2-548CAFCB7EB8}"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F42B5B-6235-4788-9551-B2DE24EEA5F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CD557D-615F-4ED9-9DE2-548CAFCB7EB8}"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F42B5B-6235-4788-9551-B2DE24EEA5F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CD557D-615F-4ED9-9DE2-548CAFCB7EB8}"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F42B5B-6235-4788-9551-B2DE24EEA5F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CD557D-615F-4ED9-9DE2-548CAFCB7EB8}"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F42B5B-6235-4788-9551-B2DE24EEA5F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CD557D-615F-4ED9-9DE2-548CAFCB7EB8}" type="datetimeFigureOut">
              <a:rPr lang="en-US" smtClean="0"/>
              <a:pPr/>
              <a:t>5/19/2019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F42B5B-6235-4788-9551-B2DE24EEA5F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Governance</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sp>
        <p:nvSpPr>
          <p:cNvPr id="4" name="Subtitle 2"/>
          <p:cNvSpPr txBox="1">
            <a:spLocks/>
          </p:cNvSpPr>
          <p:nvPr/>
        </p:nvSpPr>
        <p:spPr>
          <a:xfrm>
            <a:off x="1524000" y="4038600"/>
            <a:ext cx="6400800" cy="17526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rPr>
              <a:t>Bernard Parenteau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rPr>
              <a:t>bparente@fit.edu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rPr>
              <a:t>February 2019</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Cryptocurrency Governance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Many </a:t>
            </a:r>
            <a:r>
              <a:rPr lang="en-US" dirty="0" smtClean="0"/>
              <a:t>cryptocurrencies are governed by a Foundation that was set up specifically to manage matters related to the cryptocurrency.</a:t>
            </a:r>
          </a:p>
          <a:p>
            <a:endParaRPr lang="en-US" dirty="0" smtClean="0"/>
          </a:p>
          <a:p>
            <a:r>
              <a:rPr lang="en-US" dirty="0" smtClean="0"/>
              <a:t>This is particularly true for those that have gone through ICOs or initial pre-mines.</a:t>
            </a:r>
          </a:p>
          <a:p>
            <a:endParaRPr lang="en-US" dirty="0" smtClean="0"/>
          </a:p>
          <a:p>
            <a:r>
              <a:rPr lang="en-US" dirty="0" smtClean="0"/>
              <a:t>Some, such as Ripple (XRP) are associated with and/or managed by a private company.</a:t>
            </a:r>
          </a:p>
          <a:p>
            <a:endParaRPr lang="en-US" dirty="0" smtClean="0"/>
          </a:p>
          <a:p>
            <a:r>
              <a:rPr lang="en-US" dirty="0" smtClean="0"/>
              <a:t>But there is no single model of governance.  Each currency effectively plays by its own rules.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Cryptocurrency Governance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 number of cryptocurrencies have voting models, some of which are related to stakes in </a:t>
            </a:r>
            <a:r>
              <a:rPr lang="en-US" dirty="0" err="1" smtClean="0"/>
              <a:t>PoS</a:t>
            </a:r>
            <a:r>
              <a:rPr lang="en-US" dirty="0" smtClean="0"/>
              <a:t> consensus, or to a type of node</a:t>
            </a:r>
            <a:endParaRPr lang="en-US" dirty="0" smtClean="0"/>
          </a:p>
          <a:p>
            <a:endParaRPr lang="en-US" dirty="0" smtClean="0"/>
          </a:p>
          <a:p>
            <a:r>
              <a:rPr lang="en-US" dirty="0" err="1" smtClean="0"/>
              <a:t>Decred</a:t>
            </a:r>
            <a:r>
              <a:rPr lang="en-US" dirty="0" smtClean="0"/>
              <a:t> is a cryptocurrency notable for its focus on governance via its “</a:t>
            </a:r>
            <a:r>
              <a:rPr lang="en-US" dirty="0" err="1" smtClean="0"/>
              <a:t>Politeia</a:t>
            </a:r>
            <a:r>
              <a:rPr lang="en-US" dirty="0" smtClean="0"/>
              <a:t>”</a:t>
            </a:r>
          </a:p>
          <a:p>
            <a:endParaRPr lang="en-US" dirty="0" smtClean="0"/>
          </a:p>
          <a:p>
            <a:r>
              <a:rPr lang="en-US" dirty="0" smtClean="0"/>
              <a:t>A number of other cryptocurrencies allow stakeholders to vote on proposals regarding the allocation of development funds.</a:t>
            </a:r>
            <a:endParaRPr lang="en-US"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 Governance</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Ethereum is managed by the Ethereum Foundation, a Swiss non-profit, as it has been since prior to the initial release.</a:t>
            </a:r>
          </a:p>
          <a:p>
            <a:r>
              <a:rPr lang="en-US" dirty="0"/>
              <a:t>The Ethereum Foundation’s </a:t>
            </a:r>
            <a:r>
              <a:rPr lang="en-US" dirty="0" smtClean="0"/>
              <a:t>mission </a:t>
            </a:r>
            <a:r>
              <a:rPr lang="en-US" dirty="0"/>
              <a:t>is to promote and support Ethereum </a:t>
            </a:r>
            <a:r>
              <a:rPr lang="en-US" dirty="0" smtClean="0"/>
              <a:t>platform.</a:t>
            </a:r>
          </a:p>
          <a:p>
            <a:endParaRPr lang="en-US" dirty="0"/>
          </a:p>
          <a:p>
            <a:r>
              <a:rPr lang="en-US" dirty="0" smtClean="0"/>
              <a:t>The Foundation’s Governing Council includes </a:t>
            </a:r>
            <a:r>
              <a:rPr lang="en-US" dirty="0" err="1" smtClean="0"/>
              <a:t>Vitalek</a:t>
            </a:r>
            <a:r>
              <a:rPr lang="en-US" dirty="0" smtClean="0"/>
              <a:t> </a:t>
            </a:r>
            <a:r>
              <a:rPr lang="en-US" dirty="0" err="1" smtClean="0"/>
              <a:t>Buterin</a:t>
            </a:r>
            <a:r>
              <a:rPr lang="en-US" dirty="0" smtClean="0"/>
              <a:t>, the founder of Ethereum, and Patrick </a:t>
            </a:r>
            <a:r>
              <a:rPr lang="en-US" dirty="0" err="1" smtClean="0"/>
              <a:t>Storchenegger</a:t>
            </a:r>
            <a:r>
              <a:rPr lang="en-US" dirty="0" smtClean="0"/>
              <a:t>, a Swiss attorney.  </a:t>
            </a:r>
          </a:p>
          <a:p>
            <a:r>
              <a:rPr lang="en-US" dirty="0" smtClean="0"/>
              <a:t>The Technical Steering Committee includes Jeffrey </a:t>
            </a:r>
            <a:r>
              <a:rPr lang="en-US" dirty="0" err="1" smtClean="0"/>
              <a:t>Wilcke</a:t>
            </a:r>
            <a:r>
              <a:rPr lang="en-US" dirty="0" smtClean="0"/>
              <a:t>, who along with </a:t>
            </a:r>
            <a:r>
              <a:rPr lang="en-US" dirty="0" err="1" smtClean="0"/>
              <a:t>Buterin</a:t>
            </a:r>
            <a:r>
              <a:rPr lang="en-US" dirty="0" smtClean="0"/>
              <a:t> and Gavin Wood, were among the original developers of the Ethereum system.</a:t>
            </a:r>
          </a:p>
          <a:p>
            <a:endParaRPr lang="en-US" dirty="0" smtClean="0"/>
          </a:p>
          <a:p>
            <a:r>
              <a:rPr lang="en-US" dirty="0" smtClean="0"/>
              <a:t>These three were the directors of the original ETH DEV organization which managed the development under contract from Ethereum Suisse</a:t>
            </a:r>
            <a:br>
              <a:rPr lang="en-US" dirty="0" smtClean="0"/>
            </a:b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 Governance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governance of Ethereum was put to the test with the DAO in 2016.</a:t>
            </a:r>
          </a:p>
          <a:p>
            <a:endParaRPr lang="en-US" dirty="0" smtClean="0"/>
          </a:p>
          <a:p>
            <a:r>
              <a:rPr lang="en-US" dirty="0" smtClean="0"/>
              <a:t>The DAO was a smart contract through which ETH holders could invest in Ethereum-related projects.  It attracted substantial investment.</a:t>
            </a:r>
          </a:p>
          <a:p>
            <a:endParaRPr lang="en-US" dirty="0" smtClean="0"/>
          </a:p>
          <a:p>
            <a:r>
              <a:rPr lang="en-US" dirty="0" smtClean="0"/>
              <a:t>A flaw in the smart contract enabled a hacker to drain much of the funds.</a:t>
            </a:r>
          </a:p>
          <a:p>
            <a:endParaRPr lang="en-US" dirty="0" smtClean="0"/>
          </a:p>
          <a:p>
            <a:r>
              <a:rPr lang="en-US" dirty="0" smtClean="0"/>
              <a:t>The Ethereum community was split as to whether a hard fork should be created to rectify the situation.</a:t>
            </a:r>
            <a:br>
              <a:rPr lang="en-US" dirty="0" smtClean="0"/>
            </a:b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 Governance</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 Ethereum foundation had a vote, announced with </a:t>
            </a:r>
            <a:r>
              <a:rPr lang="en-US" dirty="0" smtClean="0"/>
              <a:t>limited </a:t>
            </a:r>
            <a:r>
              <a:rPr lang="en-US" dirty="0" smtClean="0"/>
              <a:t>lead-time, and a </a:t>
            </a:r>
            <a:r>
              <a:rPr lang="en-US" dirty="0" smtClean="0"/>
              <a:t>likewise limited</a:t>
            </a:r>
            <a:r>
              <a:rPr lang="en-US" dirty="0" smtClean="0"/>
              <a:t> </a:t>
            </a:r>
            <a:r>
              <a:rPr lang="en-US" dirty="0" smtClean="0"/>
              <a:t>voting window.</a:t>
            </a:r>
          </a:p>
          <a:p>
            <a:endParaRPr lang="en-US" dirty="0" smtClean="0"/>
          </a:p>
          <a:p>
            <a:r>
              <a:rPr lang="en-US" dirty="0" smtClean="0"/>
              <a:t>The majority of those voting favored a hard fork to restore the hacked funds.</a:t>
            </a:r>
          </a:p>
          <a:p>
            <a:endParaRPr lang="en-US" dirty="0" smtClean="0"/>
          </a:p>
          <a:p>
            <a:r>
              <a:rPr lang="en-US" dirty="0" smtClean="0"/>
              <a:t>Many Ethereum holders cried foul claiming that it was essentially rigged by the main players in the community who had the most invested in the DAO, and undermined the impartiality and credibility of the network.</a:t>
            </a:r>
          </a:p>
          <a:p>
            <a:endParaRPr lang="en-US" dirty="0"/>
          </a:p>
          <a:p>
            <a:r>
              <a:rPr lang="en-US" dirty="0" smtClean="0"/>
              <a:t>For better or worse, it did demonstrate the influence and potential control of the main members of the community.</a:t>
            </a:r>
            <a:br>
              <a:rPr lang="en-US" dirty="0" smtClean="0"/>
            </a:b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Governance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In contrast to most other </a:t>
            </a:r>
            <a:r>
              <a:rPr lang="en-US" dirty="0" err="1" smtClean="0"/>
              <a:t>crytpocurrencies</a:t>
            </a:r>
            <a:r>
              <a:rPr lang="en-US" dirty="0" smtClean="0"/>
              <a:t>, there is no explicit governance of Bitcoin.</a:t>
            </a:r>
          </a:p>
          <a:p>
            <a:endParaRPr lang="en-US" dirty="0" smtClean="0"/>
          </a:p>
          <a:p>
            <a:r>
              <a:rPr lang="en-US" dirty="0" smtClean="0"/>
              <a:t>Bitcoin is essentially governed by the Bitcoin Core software, and effectively by those that implement it through the version(s) they choose to implement and support.</a:t>
            </a:r>
          </a:p>
          <a:p>
            <a:endParaRPr lang="en-US" dirty="0" smtClean="0"/>
          </a:p>
          <a:p>
            <a:r>
              <a:rPr lang="en-US" dirty="0" smtClean="0"/>
              <a:t>There are several groups which have influence, but none can exercise control.</a:t>
            </a:r>
          </a:p>
          <a:p>
            <a:endParaRPr lang="en-US" dirty="0" smtClean="0"/>
          </a:p>
          <a:p>
            <a:r>
              <a:rPr lang="en-US" dirty="0" smtClean="0"/>
              <a:t>These groups include the Bitcoin Core developers, the miners, Bitcoin users including exchanges, and organizations such as the Bitcoin Foundation.</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Governance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Bitcoin Core code was developed primarily by Satoshi </a:t>
            </a:r>
            <a:r>
              <a:rPr lang="en-US" dirty="0" err="1" smtClean="0"/>
              <a:t>Nakamoto</a:t>
            </a:r>
            <a:r>
              <a:rPr lang="en-US" dirty="0" smtClean="0"/>
              <a:t> and first released in January 2009.</a:t>
            </a:r>
          </a:p>
          <a:p>
            <a:endParaRPr lang="en-US" dirty="0" smtClean="0"/>
          </a:p>
          <a:p>
            <a:r>
              <a:rPr lang="en-US" dirty="0" smtClean="0"/>
              <a:t>Satoshi continued participating in development through 2010, during which time an increasing number of other developers also began participating.</a:t>
            </a:r>
          </a:p>
          <a:p>
            <a:endParaRPr lang="en-US" dirty="0" smtClean="0"/>
          </a:p>
          <a:p>
            <a:r>
              <a:rPr lang="en-US" dirty="0" smtClean="0"/>
              <a:t>Satoshi stopped participating after 2010 and the work continued with the other developers.</a:t>
            </a:r>
          </a:p>
          <a:p>
            <a:endParaRPr lang="en-US" dirty="0" smtClean="0"/>
          </a:p>
          <a:p>
            <a:r>
              <a:rPr lang="en-US" dirty="0" smtClean="0"/>
              <a:t>Bitcoin Improvement Proposals (BIPs) were developed to propose development ideas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Bitcoin.org</a:t>
            </a:r>
            <a:endParaRPr lang="en-US" dirty="0"/>
          </a:p>
        </p:txBody>
      </p:sp>
      <p:sp>
        <p:nvSpPr>
          <p:cNvPr id="3" name="Content Placeholder 2"/>
          <p:cNvSpPr>
            <a:spLocks noGrp="1"/>
          </p:cNvSpPr>
          <p:nvPr>
            <p:ph idx="1"/>
          </p:nvPr>
        </p:nvSpPr>
        <p:spPr>
          <a:xfrm>
            <a:off x="457200" y="1600200"/>
            <a:ext cx="8229600" cy="4953000"/>
          </a:xfrm>
        </p:spPr>
        <p:txBody>
          <a:bodyPr>
            <a:normAutofit fontScale="62500" lnSpcReduction="20000"/>
          </a:bodyPr>
          <a:lstStyle/>
          <a:p>
            <a:r>
              <a:rPr lang="en-US" dirty="0" smtClean="0"/>
              <a:t>Bitcoin.org is a site meant to provide information and documentation about Bitcoin and was originally registered and owned by Bitcoin's first two developers; Satoshi </a:t>
            </a:r>
            <a:r>
              <a:rPr lang="en-US" dirty="0" err="1" smtClean="0"/>
              <a:t>Nakamoto</a:t>
            </a:r>
            <a:r>
              <a:rPr lang="en-US" dirty="0" smtClean="0"/>
              <a:t> and </a:t>
            </a:r>
            <a:r>
              <a:rPr lang="en-US" dirty="0" err="1" smtClean="0"/>
              <a:t>Martti</a:t>
            </a:r>
            <a:r>
              <a:rPr lang="en-US" dirty="0" smtClean="0"/>
              <a:t> </a:t>
            </a:r>
            <a:r>
              <a:rPr lang="en-US" dirty="0" err="1" smtClean="0"/>
              <a:t>Malmi</a:t>
            </a:r>
            <a:r>
              <a:rPr lang="en-US" dirty="0" smtClean="0"/>
              <a:t>. </a:t>
            </a:r>
          </a:p>
          <a:p>
            <a:r>
              <a:rPr lang="en-US" dirty="0" smtClean="0"/>
              <a:t>When </a:t>
            </a:r>
            <a:r>
              <a:rPr lang="en-US" dirty="0" err="1" smtClean="0"/>
              <a:t>Nakamoto</a:t>
            </a:r>
            <a:r>
              <a:rPr lang="en-US" dirty="0" smtClean="0"/>
              <a:t> left the project, he gave ownership of the domain to additional people, separate from the Bitcoin developers, to spread responsibility and prevent any one person or group from easily gaining control over the Bitcoin project.</a:t>
            </a:r>
          </a:p>
          <a:p>
            <a:endParaRPr lang="en-US" dirty="0" smtClean="0"/>
          </a:p>
          <a:p>
            <a:r>
              <a:rPr lang="en-US" dirty="0" smtClean="0"/>
              <a:t>Today the site itself is an independent open source project with contributors from around the world. Final publication authority is held by the co-owners, but all regular activity is organized through the public pull request process and managed by the site co-maintainers.</a:t>
            </a:r>
          </a:p>
          <a:p>
            <a:endParaRPr lang="en-US" dirty="0" smtClean="0"/>
          </a:p>
          <a:p>
            <a:r>
              <a:rPr lang="en-US" dirty="0" smtClean="0"/>
              <a:t>Bitcoin.org does not claim to be Bitcoin's official website. Instead it states that just like nobody owns the email technology, nobody owns the Bitcoin network. As such, nobody can speak with authority in the name of Bitcoin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BitcoinCore.org</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The Bitcoin Core project is the organization for Bitcoin Core code maintenance and development .  </a:t>
            </a:r>
          </a:p>
          <a:p>
            <a:r>
              <a:rPr lang="en-US" dirty="0" smtClean="0"/>
              <a:t>As such it is essentially the successor to Satoshi and the original developers.  It has been overseen since 2012 by </a:t>
            </a:r>
            <a:r>
              <a:rPr lang="en-US" dirty="0" err="1" smtClean="0"/>
              <a:t>Wladimir</a:t>
            </a:r>
            <a:r>
              <a:rPr lang="en-US" dirty="0" smtClean="0"/>
              <a:t> van </a:t>
            </a:r>
            <a:r>
              <a:rPr lang="en-US" dirty="0" err="1" smtClean="0"/>
              <a:t>der</a:t>
            </a:r>
            <a:r>
              <a:rPr lang="en-US" dirty="0" smtClean="0"/>
              <a:t> </a:t>
            </a:r>
            <a:r>
              <a:rPr lang="en-US" dirty="0" err="1" smtClean="0"/>
              <a:t>Laan</a:t>
            </a:r>
            <a:r>
              <a:rPr lang="en-US" dirty="0" smtClean="0"/>
              <a:t>. </a:t>
            </a:r>
          </a:p>
          <a:p>
            <a:r>
              <a:rPr lang="en-US" dirty="0" smtClean="0"/>
              <a:t>It has a large open source developer community with many regular and casual contributors to the codebase. </a:t>
            </a:r>
          </a:p>
          <a:p>
            <a:r>
              <a:rPr lang="en-US" dirty="0" smtClean="0"/>
              <a:t>Many others contribute research, peer review, testing, documentation, and translation.</a:t>
            </a:r>
          </a:p>
          <a:p>
            <a:endParaRPr lang="en-US" dirty="0" smtClean="0"/>
          </a:p>
          <a:p>
            <a:r>
              <a:rPr lang="en-US" dirty="0" smtClean="0"/>
              <a:t>Contributors :</a:t>
            </a:r>
            <a:r>
              <a:rPr lang="en-US" b="1" dirty="0" smtClean="0"/>
              <a:t> </a:t>
            </a:r>
            <a:r>
              <a:rPr lang="en-US" dirty="0" smtClean="0"/>
              <a:t>Anyone is free to propose code changes and to test, review and comment on open Pull Requests. </a:t>
            </a:r>
          </a:p>
          <a:p>
            <a:r>
              <a:rPr lang="en-US" dirty="0" smtClean="0"/>
              <a:t>Anyone who contributes code, review, test, translation or documentation to the Bitcoin Core project is considered a contributor. </a:t>
            </a:r>
          </a:p>
          <a:p>
            <a:r>
              <a:rPr lang="en-US" dirty="0" smtClean="0"/>
              <a:t>The release notes for each Bitcoin Core software release contain a credits section to recognize all those who have contributed to the project over the previous release cycle.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BitcoinCore.org Maintainers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Bitcoin Core has Project Maintainers who have commit access and are responsible for merging patches from contributors. </a:t>
            </a:r>
          </a:p>
          <a:p>
            <a:endParaRPr lang="en-US" dirty="0" smtClean="0"/>
          </a:p>
          <a:p>
            <a:r>
              <a:rPr lang="en-US" dirty="0" smtClean="0"/>
              <a:t>They perform an operational role in merging patches that the team agrees should be merged. </a:t>
            </a:r>
          </a:p>
          <a:p>
            <a:endParaRPr lang="en-US" dirty="0" smtClean="0"/>
          </a:p>
          <a:p>
            <a:r>
              <a:rPr lang="en-US" dirty="0" smtClean="0"/>
              <a:t>They also act as a final check to ensure that patches are safe and in line with the project goals. </a:t>
            </a:r>
          </a:p>
          <a:p>
            <a:endParaRPr lang="en-US" dirty="0" smtClean="0"/>
          </a:p>
          <a:p>
            <a:r>
              <a:rPr lang="en-US" dirty="0" smtClean="0"/>
              <a:t>The maintainers’ role is by agreement of project contributors.</a:t>
            </a:r>
          </a:p>
          <a:p>
            <a:endParaRPr lang="en-US"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BitcoinCore.org Sponsors</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The Bitcoin Core Sponsorship </a:t>
            </a:r>
            <a:r>
              <a:rPr lang="en-US" dirty="0" err="1" smtClean="0"/>
              <a:t>Programme</a:t>
            </a:r>
            <a:r>
              <a:rPr lang="en-US" dirty="0" smtClean="0"/>
              <a:t> provides a way for the Bitcoin industry to fund independent research and development of Bitcoin Core, by funding developers, developer projects, or otherwise providing resources to the project. </a:t>
            </a:r>
          </a:p>
          <a:p>
            <a:r>
              <a:rPr lang="en-US" dirty="0" smtClean="0"/>
              <a:t>Sponsors may provide funding or human resources.</a:t>
            </a:r>
          </a:p>
          <a:p>
            <a:endParaRPr lang="en-US" dirty="0" smtClean="0"/>
          </a:p>
          <a:p>
            <a:r>
              <a:rPr lang="en-US" dirty="0" smtClean="0"/>
              <a:t>The </a:t>
            </a:r>
            <a:r>
              <a:rPr lang="en-US" dirty="0" err="1" smtClean="0"/>
              <a:t>programme</a:t>
            </a:r>
            <a:r>
              <a:rPr lang="en-US" dirty="0" smtClean="0"/>
              <a:t> is tailored for larger industry participants and at this time, we have no mechanism for taking smaller donations.</a:t>
            </a:r>
          </a:p>
          <a:p>
            <a:endParaRPr lang="en-US" dirty="0" smtClean="0"/>
          </a:p>
          <a:p>
            <a:r>
              <a:rPr lang="en-US" dirty="0" smtClean="0"/>
              <a:t>To maintain decentralization, projects will be individually managed by a separate lead, who will be responsible for heading the project as well as allocating funds.</a:t>
            </a:r>
          </a:p>
          <a:p>
            <a:endParaRPr lang="en-US" dirty="0" smtClean="0"/>
          </a:p>
          <a:p>
            <a:r>
              <a:rPr lang="en-US" dirty="0" smtClean="0"/>
              <a:t>The Bitcoin Core project has a suggested list of projects that require funding, and sponsors are also able to suggest their own.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Foundation</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 Bitcoin Foundation manifesto states that it </a:t>
            </a:r>
          </a:p>
          <a:p>
            <a:pPr lvl="1"/>
            <a:r>
              <a:rPr lang="en-US" dirty="0" smtClean="0"/>
              <a:t>“coordinates the efforts of the members of the Bitcoin community, helping to create awareness of the benefits of Bitcoin, how to use it and its related technology requirements, for technologists, regulators, the media and everyone else globally.”</a:t>
            </a:r>
          </a:p>
          <a:p>
            <a:endParaRPr lang="en-US" dirty="0" smtClean="0"/>
          </a:p>
          <a:p>
            <a:r>
              <a:rPr lang="en-US" dirty="0" smtClean="0"/>
              <a:t>It’s primary functions recently have been advocacy, evangelism, and lobbying on behalf of the Bitcoin community.</a:t>
            </a:r>
          </a:p>
          <a:p>
            <a:endParaRPr lang="en-US" dirty="0" smtClean="0"/>
          </a:p>
          <a:p>
            <a:r>
              <a:rPr lang="en-US" dirty="0" smtClean="0"/>
              <a:t>The Bitcoin Foundation is the oldest Bitcoin advocacy group, but for much of its history it has been rather controversial in the Bitcoin community.  Those controversies have included past financial questions and problems, its stances on issues, its decision-making processes, and some of its members.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Foundation</a:t>
            </a:r>
            <a:endParaRPr lang="en-US" dirty="0"/>
          </a:p>
        </p:txBody>
      </p:sp>
      <p:sp>
        <p:nvSpPr>
          <p:cNvPr id="3" name="Content Placeholder 2"/>
          <p:cNvSpPr>
            <a:spLocks noGrp="1"/>
          </p:cNvSpPr>
          <p:nvPr>
            <p:ph idx="1"/>
          </p:nvPr>
        </p:nvSpPr>
        <p:spPr/>
        <p:txBody>
          <a:bodyPr>
            <a:normAutofit fontScale="92500" lnSpcReduction="20000"/>
          </a:bodyPr>
          <a:lstStyle/>
          <a:p>
            <a:r>
              <a:rPr lang="en-US" sz="2600" dirty="0" smtClean="0"/>
              <a:t>Early on the Bitcoin Foundation’s mission included support of key Bitcoin Core developers, specifically lead </a:t>
            </a:r>
            <a:r>
              <a:rPr lang="en-US" sz="2600" dirty="0" err="1" smtClean="0"/>
              <a:t>Wladimir</a:t>
            </a:r>
            <a:r>
              <a:rPr lang="en-US" sz="2600" dirty="0" smtClean="0"/>
              <a:t> van </a:t>
            </a:r>
            <a:r>
              <a:rPr lang="en-US" sz="2600" dirty="0" err="1" smtClean="0"/>
              <a:t>der</a:t>
            </a:r>
            <a:r>
              <a:rPr lang="en-US" sz="2600" dirty="0" smtClean="0"/>
              <a:t> </a:t>
            </a:r>
            <a:r>
              <a:rPr lang="en-US" sz="2600" dirty="0" err="1" smtClean="0"/>
              <a:t>Laan</a:t>
            </a:r>
            <a:r>
              <a:rPr lang="en-US" sz="2600" dirty="0" smtClean="0"/>
              <a:t>, former lead Gavin Andresen and Cory Fields. </a:t>
            </a:r>
          </a:p>
          <a:p>
            <a:endParaRPr lang="en-US" sz="2600" dirty="0" smtClean="0"/>
          </a:p>
          <a:p>
            <a:endParaRPr lang="en-US" sz="2600" dirty="0" smtClean="0"/>
          </a:p>
          <a:p>
            <a:r>
              <a:rPr lang="en-US" sz="2600" dirty="0" smtClean="0"/>
              <a:t>After the Foundation ran into financial problems in 2015, the three Bitcoin Core developers funded by the foundation were hired by the then newly established MIT Media Lab's Digital Currency Initiative.</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MIT Digital Currency Initiative.</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The Digital Currency Initiative is an academic unit within MIT and the MIT Media Lab with a broad mandate.  </a:t>
            </a:r>
          </a:p>
          <a:p>
            <a:r>
              <a:rPr lang="en-US" dirty="0" smtClean="0"/>
              <a:t>It seeks to be a leader of world-class research on cryptocurrency, its underlying technologies, and its real-world impacts, while remaining neutral. </a:t>
            </a:r>
          </a:p>
          <a:p>
            <a:r>
              <a:rPr lang="en-US" dirty="0" smtClean="0"/>
              <a:t>It supports open-source cryptocurrency communities, and is open to collaboration.</a:t>
            </a:r>
          </a:p>
          <a:p>
            <a:endParaRPr lang="en-US" dirty="0" smtClean="0"/>
          </a:p>
          <a:p>
            <a:r>
              <a:rPr lang="en-US" dirty="0" smtClean="0"/>
              <a:t>The three key developers are still members of the Digital Currency Initiative, along with several researchers.  They are free to work on projects of their choice, even including alternative Bitcoin implementations. </a:t>
            </a:r>
          </a:p>
          <a:p>
            <a:r>
              <a:rPr lang="en-US" dirty="0" smtClean="0"/>
              <a:t>According to their site; the Digital Currency Initiative relies on gifts from sponsors, including mining specialists </a:t>
            </a:r>
            <a:r>
              <a:rPr lang="en-US" dirty="0" err="1" smtClean="0"/>
              <a:t>BitFury</a:t>
            </a:r>
            <a:r>
              <a:rPr lang="en-US" dirty="0" smtClean="0"/>
              <a:t> and </a:t>
            </a:r>
            <a:r>
              <a:rPr lang="en-US" dirty="0" err="1" smtClean="0"/>
              <a:t>Bitmain</a:t>
            </a:r>
            <a:r>
              <a:rPr lang="en-US" dirty="0" smtClean="0"/>
              <a:t>, wallet service Circle, API-provider Chain, the </a:t>
            </a:r>
            <a:r>
              <a:rPr lang="en-US" dirty="0" err="1" smtClean="0"/>
              <a:t>Nasdaq</a:t>
            </a:r>
            <a:r>
              <a:rPr lang="en-US" dirty="0" smtClean="0"/>
              <a:t> stock exchange, venture capitalist Fred Wilson, LinkedIn co-founder Reid Hoffman and others.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Governance</a:t>
            </a:r>
            <a:endParaRPr lang="en-US" dirty="0"/>
          </a:p>
        </p:txBody>
      </p:sp>
      <p:sp>
        <p:nvSpPr>
          <p:cNvPr id="3" name="Content Placeholder 2"/>
          <p:cNvSpPr>
            <a:spLocks noGrp="1"/>
          </p:cNvSpPr>
          <p:nvPr>
            <p:ph idx="1"/>
          </p:nvPr>
        </p:nvSpPr>
        <p:spPr/>
        <p:txBody>
          <a:bodyPr>
            <a:normAutofit fontScale="92500" lnSpcReduction="20000"/>
          </a:bodyPr>
          <a:lstStyle/>
          <a:p>
            <a:r>
              <a:rPr lang="en-US" sz="2400" dirty="0" smtClean="0"/>
              <a:t>The “no one is in charge”, or ad hoc consensus model that has evolved with Bitcoin has led to a notable lack of consensus at times.</a:t>
            </a:r>
          </a:p>
          <a:p>
            <a:endParaRPr lang="en-US" sz="2400" dirty="0" smtClean="0"/>
          </a:p>
          <a:p>
            <a:r>
              <a:rPr lang="en-US" sz="2400" dirty="0" smtClean="0"/>
              <a:t>The Bitcoin Cash and </a:t>
            </a:r>
            <a:r>
              <a:rPr lang="en-US" sz="2400" dirty="0" err="1" smtClean="0"/>
              <a:t>segwit</a:t>
            </a:r>
            <a:r>
              <a:rPr lang="en-US" sz="2400" dirty="0" smtClean="0"/>
              <a:t> developments of 2017 culminated a long-running debate about scalability and the block size limit.</a:t>
            </a:r>
          </a:p>
          <a:p>
            <a:endParaRPr lang="en-US" sz="2400" dirty="0" smtClean="0"/>
          </a:p>
          <a:p>
            <a:r>
              <a:rPr lang="en-US" sz="2400" dirty="0" smtClean="0"/>
              <a:t>The results seem to indicate that the model is essentially one in which any group can effectively veto a proposal, or at least create a fork.</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8702</TotalTime>
  <Words>1068</Words>
  <Application>Microsoft Office PowerPoint</Application>
  <PresentationFormat>On-screen Show (4:3)</PresentationFormat>
  <Paragraphs>118</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Governance</vt:lpstr>
      <vt:lpstr>Cryptocurrency Governance</vt:lpstr>
      <vt:lpstr>Cryptocurrency Governance</vt:lpstr>
      <vt:lpstr>Ethereum Governance</vt:lpstr>
      <vt:lpstr>Ethereum Governance</vt:lpstr>
      <vt:lpstr>Ethereum Governance</vt:lpstr>
      <vt:lpstr>Bitcoin Governance</vt:lpstr>
      <vt:lpstr>Bitcoin Governance</vt:lpstr>
      <vt:lpstr>Bitcoin.org</vt:lpstr>
      <vt:lpstr>BitcoinCore.org</vt:lpstr>
      <vt:lpstr>BitcoinCore.org Maintainers</vt:lpstr>
      <vt:lpstr>BitcoinCore.org Sponsors</vt:lpstr>
      <vt:lpstr>Bitcoin Foundation</vt:lpstr>
      <vt:lpstr>Bitcoin Foundation</vt:lpstr>
      <vt:lpstr>MIT Digital Currency Initiative.</vt:lpstr>
      <vt:lpstr>Bitcoin Governance</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BP - FL</dc:creator>
  <cp:lastModifiedBy>BP - FL</cp:lastModifiedBy>
  <cp:revision>21</cp:revision>
  <dcterms:created xsi:type="dcterms:W3CDTF">2018-04-22T21:50:34Z</dcterms:created>
  <dcterms:modified xsi:type="dcterms:W3CDTF">2019-05-20T00:12:22Z</dcterms:modified>
</cp:coreProperties>
</file>