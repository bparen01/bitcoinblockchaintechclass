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63" r:id="rId4"/>
    <p:sldId id="266" r:id="rId5"/>
    <p:sldId id="267" r:id="rId6"/>
    <p:sldId id="268" r:id="rId7"/>
    <p:sldId id="258" r:id="rId8"/>
    <p:sldId id="259" r:id="rId9"/>
    <p:sldId id="260" r:id="rId10"/>
    <p:sldId id="261" r:id="rId11"/>
    <p:sldId id="262" r:id="rId12"/>
    <p:sldId id="264" r:id="rId13"/>
    <p:sldId id="265" r:id="rId14"/>
    <p:sldId id="271" r:id="rId15"/>
    <p:sldId id="273" r:id="rId16"/>
    <p:sldId id="274" r:id="rId17"/>
    <p:sldId id="275" r:id="rId18"/>
    <p:sldId id="276"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91" d="100"/>
          <a:sy n="91" d="100"/>
        </p:scale>
        <p:origin x="-1374"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C14670-06F5-450F-BA42-A8E7D0268DEF}" type="datetimeFigureOut">
              <a:rPr lang="en-US" smtClean="0"/>
              <a:pPr/>
              <a:t>5/19/2019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E1A4D8-23F2-4969-B6DE-ADC880E955F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FE1A4D8-23F2-4969-B6DE-ADC880E955F6}"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466E78C-9158-4E3C-B53E-82793B32E0F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66E78C-9158-4E3C-B53E-82793B32E0F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466E78C-9158-4E3C-B53E-82793B32E0F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466E78C-9158-4E3C-B53E-82793B32E0F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466E78C-9158-4E3C-B53E-82793B32E0F9}" type="datetimeFigureOut">
              <a:rPr lang="en-US" smtClean="0"/>
              <a:pPr/>
              <a:t>5/19/2019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466E78C-9158-4E3C-B53E-82793B32E0F9}" type="datetimeFigureOut">
              <a:rPr lang="en-US" smtClean="0"/>
              <a:pPr/>
              <a:t>5/19/2019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66E78C-9158-4E3C-B53E-82793B32E0F9}" type="datetimeFigureOut">
              <a:rPr lang="en-US" smtClean="0"/>
              <a:pPr/>
              <a:t>5/19/2019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466E78C-9158-4E3C-B53E-82793B32E0F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466E78C-9158-4E3C-B53E-82793B32E0F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66E78C-9158-4E3C-B53E-82793B32E0F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66E78C-9158-4E3C-B53E-82793B32E0F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E5EC8-0EE5-4487-95DD-1E1B1D88707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66E78C-9158-4E3C-B53E-82793B32E0F9}" type="datetimeFigureOut">
              <a:rPr lang="en-US" smtClean="0"/>
              <a:pPr/>
              <a:t>5/19/2019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0E5EC8-0EE5-4487-95DD-1E1B1D88707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corda.net/" TargetMode="External"/><Relationship Id="rId2" Type="http://schemas.openxmlformats.org/officeDocument/2006/relationships/hyperlink" Target="https://www.multichain.com/blog/2018/05/r3-corda-deep-dive-and-technical-review/"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jpmorganchase/quorum" TargetMode="External"/><Relationship Id="rId2" Type="http://schemas.openxmlformats.org/officeDocument/2006/relationships/hyperlink" Target="https://www.jpmorgan.com/global/Quoru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blog.chain.com/chain-and-stellar-are-joining-forces-ecd44fb4c47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corda.net/" TargetMode="External"/><Relationship Id="rId7" Type="http://schemas.openxmlformats.org/officeDocument/2006/relationships/hyperlink" Target="https://chain.com/" TargetMode="External"/><Relationship Id="rId2" Type="http://schemas.openxmlformats.org/officeDocument/2006/relationships/hyperlink" Target="http://www.multichain.com/" TargetMode="External"/><Relationship Id="rId1" Type="http://schemas.openxmlformats.org/officeDocument/2006/relationships/slideLayout" Target="../slideLayouts/slideLayout2.xml"/><Relationship Id="rId6" Type="http://schemas.openxmlformats.org/officeDocument/2006/relationships/hyperlink" Target="https://consensys.net/quorum-2/" TargetMode="External"/><Relationship Id="rId5" Type="http://schemas.openxmlformats.org/officeDocument/2006/relationships/hyperlink" Target="https://github.com/jpmorganchase/quorum" TargetMode="External"/><Relationship Id="rId4" Type="http://schemas.openxmlformats.org/officeDocument/2006/relationships/hyperlink" Target="https://www.jpmorgan.com/global/Quoru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err="1" smtClean="0"/>
              <a:t>Multichain</a:t>
            </a:r>
            <a:r>
              <a:rPr lang="en-US" dirty="0" smtClean="0"/>
              <a:t> and other </a:t>
            </a:r>
            <a:r>
              <a:rPr lang="en-US" dirty="0" err="1" smtClean="0"/>
              <a:t>Permissioned</a:t>
            </a:r>
            <a:r>
              <a:rPr lang="en-US" dirty="0" smtClean="0"/>
              <a:t> Blockchains:</a:t>
            </a:r>
            <a:r>
              <a:rPr lang="en-US" dirty="0" smtClean="0"/>
              <a:t> </a:t>
            </a:r>
            <a:r>
              <a:rPr lang="en-US" dirty="0" err="1" smtClean="0"/>
              <a:t>Corda</a:t>
            </a:r>
            <a:r>
              <a:rPr lang="en-US" dirty="0" smtClean="0"/>
              <a:t>, Quorum, Chain</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
        <p:nvSpPr>
          <p:cNvPr id="5" name="Subtitle 2"/>
          <p:cNvSpPr txBox="1">
            <a:spLocks/>
          </p:cNvSpPr>
          <p:nvPr/>
        </p:nvSpPr>
        <p:spPr>
          <a:xfrm>
            <a:off x="1295400" y="40386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600" dirty="0" smtClean="0">
                <a:solidFill>
                  <a:schemeClr val="tx1">
                    <a:tint val="75000"/>
                  </a:schemeClr>
                </a:solidFill>
              </a:rPr>
              <a:t>February</a:t>
            </a: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Multichain</a:t>
            </a:r>
            <a:endParaRPr lang="en-US" dirty="0"/>
          </a:p>
        </p:txBody>
      </p:sp>
      <p:sp>
        <p:nvSpPr>
          <p:cNvPr id="3" name="Content Placeholder 2"/>
          <p:cNvSpPr>
            <a:spLocks noGrp="1"/>
          </p:cNvSpPr>
          <p:nvPr>
            <p:ph idx="1"/>
          </p:nvPr>
        </p:nvSpPr>
        <p:spPr/>
        <p:txBody>
          <a:bodyPr>
            <a:normAutofit fontScale="77500" lnSpcReduction="20000"/>
          </a:bodyPr>
          <a:lstStyle/>
          <a:p>
            <a:r>
              <a:rPr lang="en-US" dirty="0" err="1" smtClean="0"/>
              <a:t>Multichain</a:t>
            </a:r>
            <a:r>
              <a:rPr lang="en-US" dirty="0" smtClean="0"/>
              <a:t> is an open source, freely available commercial blockchain that has been in development for years (multichain.com)</a:t>
            </a:r>
          </a:p>
          <a:p>
            <a:endParaRPr lang="en-US" dirty="0" smtClean="0"/>
          </a:p>
          <a:p>
            <a:r>
              <a:rPr lang="en-US" dirty="0" smtClean="0"/>
              <a:t>It has been developed by Coin Sciences Ltd., a UK company that was previously involved with “Colored Coins” on the Bitcoin blockchain</a:t>
            </a:r>
          </a:p>
          <a:p>
            <a:endParaRPr lang="en-US" dirty="0" smtClean="0"/>
          </a:p>
          <a:p>
            <a:r>
              <a:rPr lang="en-US" dirty="0" err="1" smtClean="0"/>
              <a:t>Multichain</a:t>
            </a:r>
            <a:r>
              <a:rPr lang="en-US" dirty="0" smtClean="0"/>
              <a:t> is forked from Bitcoin</a:t>
            </a:r>
          </a:p>
          <a:p>
            <a:endParaRPr lang="en-US" dirty="0" smtClean="0"/>
          </a:p>
          <a:p>
            <a:r>
              <a:rPr lang="en-US" dirty="0" smtClean="0"/>
              <a:t>It is a configurable private blockchain with several levels of security / access-control</a:t>
            </a:r>
          </a:p>
          <a:p>
            <a:endParaRPr lang="en-US" dirty="0"/>
          </a:p>
        </p:txBody>
      </p:sp>
      <p:sp>
        <p:nvSpPr>
          <p:cNvPr id="4" name="TextBox 3"/>
          <p:cNvSpPr txBox="1"/>
          <p:nvPr/>
        </p:nvSpPr>
        <p:spPr>
          <a:xfrm>
            <a:off x="838200" y="6248400"/>
            <a:ext cx="1638269" cy="369332"/>
          </a:xfrm>
          <a:prstGeom prst="rect">
            <a:avLst/>
          </a:prstGeom>
          <a:noFill/>
        </p:spPr>
        <p:txBody>
          <a:bodyPr wrap="none" rtlCol="0">
            <a:spAutoFit/>
          </a:bodyPr>
          <a:lstStyle/>
          <a:p>
            <a:r>
              <a:rPr lang="en-US" dirty="0" smtClean="0"/>
              <a:t>multichain.com</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Multichain</a:t>
            </a:r>
            <a:endParaRPr lang="en-US" dirty="0"/>
          </a:p>
        </p:txBody>
      </p:sp>
      <p:sp>
        <p:nvSpPr>
          <p:cNvPr id="3" name="Content Placeholder 2"/>
          <p:cNvSpPr>
            <a:spLocks noGrp="1"/>
          </p:cNvSpPr>
          <p:nvPr>
            <p:ph idx="1"/>
          </p:nvPr>
        </p:nvSpPr>
        <p:spPr/>
        <p:txBody>
          <a:bodyPr>
            <a:normAutofit/>
          </a:bodyPr>
          <a:lstStyle/>
          <a:p>
            <a:r>
              <a:rPr lang="en-US" sz="2000" dirty="0" smtClean="0"/>
              <a:t>MultiChain </a:t>
            </a:r>
            <a:r>
              <a:rPr lang="en-US" sz="2000" dirty="0"/>
              <a:t>offers three areas of high-level functionality</a:t>
            </a:r>
            <a:r>
              <a:rPr lang="en-US" sz="2000" dirty="0" smtClean="0"/>
              <a:t>:</a:t>
            </a:r>
          </a:p>
          <a:p>
            <a:pPr lvl="1"/>
            <a:r>
              <a:rPr lang="en-US" sz="2000" b="1" dirty="0" smtClean="0"/>
              <a:t>Permissions</a:t>
            </a:r>
            <a:r>
              <a:rPr lang="en-US" sz="2000" dirty="0"/>
              <a:t> to control who can connect, transact, create assets/streams, mine/validate and administrate.</a:t>
            </a:r>
          </a:p>
          <a:p>
            <a:pPr lvl="1"/>
            <a:r>
              <a:rPr lang="en-US" sz="2000" b="1" dirty="0"/>
              <a:t>Assets</a:t>
            </a:r>
            <a:r>
              <a:rPr lang="en-US" sz="2000" dirty="0"/>
              <a:t> including issuance, reissuance, transfer, atomic exchange, escrow and destruction.</a:t>
            </a:r>
          </a:p>
          <a:p>
            <a:pPr lvl="1"/>
            <a:r>
              <a:rPr lang="en-US" sz="2000" b="1" dirty="0"/>
              <a:t>Streams</a:t>
            </a:r>
            <a:r>
              <a:rPr lang="en-US" sz="2000" dirty="0"/>
              <a:t> with APIs for creating streams, writing, subscribing, indexing and retrieving.</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Permissions</a:t>
            </a:r>
            <a:endParaRPr lang="en-US" dirty="0"/>
          </a:p>
        </p:txBody>
      </p:sp>
      <p:sp>
        <p:nvSpPr>
          <p:cNvPr id="3" name="Content Placeholder 2"/>
          <p:cNvSpPr>
            <a:spLocks noGrp="1"/>
          </p:cNvSpPr>
          <p:nvPr>
            <p:ph idx="1"/>
          </p:nvPr>
        </p:nvSpPr>
        <p:spPr/>
        <p:txBody>
          <a:bodyPr>
            <a:normAutofit fontScale="55000" lnSpcReduction="20000"/>
          </a:bodyPr>
          <a:lstStyle/>
          <a:p>
            <a:r>
              <a:rPr lang="en-US" dirty="0"/>
              <a:t>In MultiChain, there are eight types of global permissions that can be granted to addresses:</a:t>
            </a:r>
          </a:p>
          <a:p>
            <a:r>
              <a:rPr lang="en-US" dirty="0"/>
              <a:t>connect – to connect to other nodes and see the blockchain’s contents.</a:t>
            </a:r>
          </a:p>
          <a:p>
            <a:r>
              <a:rPr lang="en-US" dirty="0"/>
              <a:t>send – to send funds, i.e. sign inputs of transactions.</a:t>
            </a:r>
          </a:p>
          <a:p>
            <a:r>
              <a:rPr lang="en-US" dirty="0"/>
              <a:t>receive – to receive funds, i.e. appear in the outputs of transactions</a:t>
            </a:r>
            <a:r>
              <a:rPr lang="en-US" dirty="0" smtClean="0"/>
              <a:t>.</a:t>
            </a:r>
          </a:p>
          <a:p>
            <a:endParaRPr lang="en-US" dirty="0"/>
          </a:p>
          <a:p>
            <a:r>
              <a:rPr lang="en-US" dirty="0"/>
              <a:t>issue – to issue assets, i.e. sign inputs of transactions which create new native assets.</a:t>
            </a:r>
          </a:p>
          <a:p>
            <a:r>
              <a:rPr lang="en-US" dirty="0"/>
              <a:t>create – to create streams, i.e. sign inputs of transactions which create new streams.</a:t>
            </a:r>
          </a:p>
          <a:p>
            <a:r>
              <a:rPr lang="en-US" dirty="0"/>
              <a:t>mine – to mine blocks, i.e. to sign the metadata of coinbase transactions</a:t>
            </a:r>
            <a:r>
              <a:rPr lang="en-US" dirty="0" smtClean="0"/>
              <a:t>.</a:t>
            </a:r>
          </a:p>
          <a:p>
            <a:endParaRPr lang="en-US" dirty="0"/>
          </a:p>
          <a:p>
            <a:r>
              <a:rPr lang="en-US" dirty="0"/>
              <a:t>activate – to change connect, send and receive permissions for other users, i.e. sign transactions which change those permissions.</a:t>
            </a:r>
          </a:p>
          <a:p>
            <a:r>
              <a:rPr lang="en-US" dirty="0"/>
              <a:t>admin – to change all permissions for </a:t>
            </a:r>
            <a:r>
              <a:rPr lang="en-US" dirty="0" smtClean="0"/>
              <a:t>other  users including issue, mine, activate and admin.</a:t>
            </a: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Permissions</a:t>
            </a:r>
            <a:endParaRPr lang="en-US" dirty="0"/>
          </a:p>
        </p:txBody>
      </p:sp>
      <p:sp>
        <p:nvSpPr>
          <p:cNvPr id="3" name="Content Placeholder 2"/>
          <p:cNvSpPr>
            <a:spLocks noGrp="1"/>
          </p:cNvSpPr>
          <p:nvPr>
            <p:ph idx="1"/>
          </p:nvPr>
        </p:nvSpPr>
        <p:spPr/>
        <p:txBody>
          <a:bodyPr>
            <a:normAutofit fontScale="62500" lnSpcReduction="20000"/>
          </a:bodyPr>
          <a:lstStyle/>
          <a:p>
            <a:r>
              <a:rPr lang="en-US" dirty="0"/>
              <a:t>All permissions are assigned on a per-address basis, where addresses can either be </a:t>
            </a:r>
            <a:r>
              <a:rPr lang="en-US" dirty="0" err="1"/>
              <a:t>pubkey</a:t>
            </a:r>
            <a:r>
              <a:rPr lang="en-US" dirty="0"/>
              <a:t> hashes or script hashes. </a:t>
            </a:r>
            <a:endParaRPr lang="en-US" dirty="0" smtClean="0"/>
          </a:p>
          <a:p>
            <a:endParaRPr lang="en-US" dirty="0" smtClean="0"/>
          </a:p>
          <a:p>
            <a:r>
              <a:rPr lang="en-US" dirty="0" smtClean="0"/>
              <a:t>Depending </a:t>
            </a:r>
            <a:r>
              <a:rPr lang="en-US" dirty="0"/>
              <a:t>on the anyone-can-*settings in the blockchain parameters, some operations might be completely unrestricted. </a:t>
            </a:r>
            <a:endParaRPr lang="en-US" dirty="0" smtClean="0"/>
          </a:p>
          <a:p>
            <a:r>
              <a:rPr lang="en-US" dirty="0" smtClean="0"/>
              <a:t>Permissions </a:t>
            </a:r>
            <a:r>
              <a:rPr lang="en-US" dirty="0"/>
              <a:t>can also be made temporary by limiting them to a specific range of block numbers, so that they are available only to transactions which appear within those blocks</a:t>
            </a:r>
            <a:r>
              <a:rPr lang="en-US" dirty="0" smtClean="0"/>
              <a:t>.</a:t>
            </a:r>
          </a:p>
          <a:p>
            <a:endParaRPr lang="en-US" dirty="0"/>
          </a:p>
          <a:p>
            <a:r>
              <a:rPr lang="en-US" dirty="0"/>
              <a:t>All permissions are granted and revoked using network transactions containing special metadata, which are easy to send using the grant and </a:t>
            </a:r>
            <a:r>
              <a:rPr lang="en-US" dirty="0" smtClean="0"/>
              <a:t>revoke commands from</a:t>
            </a:r>
            <a:r>
              <a:rPr lang="en-US" dirty="0"/>
              <a:t> </a:t>
            </a:r>
            <a:r>
              <a:rPr lang="en-US" dirty="0" err="1" smtClean="0"/>
              <a:t>multichain’s</a:t>
            </a:r>
            <a:r>
              <a:rPr lang="en-US" dirty="0" smtClean="0"/>
              <a:t> command line interface</a:t>
            </a:r>
            <a:r>
              <a:rPr lang="en-US" dirty="0"/>
              <a:t> or the JSON-RPC API. </a:t>
            </a:r>
            <a:endParaRPr lang="en-US" dirty="0" smtClean="0"/>
          </a:p>
          <a:p>
            <a:r>
              <a:rPr lang="en-US" dirty="0" smtClean="0"/>
              <a:t>The </a:t>
            </a:r>
            <a:r>
              <a:rPr lang="en-US" dirty="0"/>
              <a:t>miner of a chain’s first genesis block automatically receives all permissions. This administrator can then grant permissions to other addresses, including admin and activate permissions.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Assets</a:t>
            </a:r>
            <a:endParaRPr lang="en-US" dirty="0"/>
          </a:p>
        </p:txBody>
      </p:sp>
      <p:sp>
        <p:nvSpPr>
          <p:cNvPr id="3" name="Content Placeholder 2"/>
          <p:cNvSpPr>
            <a:spLocks noGrp="1"/>
          </p:cNvSpPr>
          <p:nvPr>
            <p:ph idx="1"/>
          </p:nvPr>
        </p:nvSpPr>
        <p:spPr/>
        <p:txBody>
          <a:bodyPr>
            <a:normAutofit fontScale="62500" lnSpcReduction="20000"/>
          </a:bodyPr>
          <a:lstStyle/>
          <a:p>
            <a:r>
              <a:rPr lang="en-US" dirty="0"/>
              <a:t>When a MultiChain asset is created, it can be open or closed. </a:t>
            </a:r>
            <a:endParaRPr lang="en-US" dirty="0" smtClean="0"/>
          </a:p>
          <a:p>
            <a:r>
              <a:rPr lang="en-US" dirty="0" smtClean="0"/>
              <a:t>If </a:t>
            </a:r>
            <a:r>
              <a:rPr lang="en-US" dirty="0"/>
              <a:t>an asset is open, then more units of the same asset can be created in future “reissuance” events. </a:t>
            </a:r>
            <a:endParaRPr lang="en-US" dirty="0" smtClean="0"/>
          </a:p>
          <a:p>
            <a:r>
              <a:rPr lang="en-US" dirty="0" smtClean="0"/>
              <a:t>By </a:t>
            </a:r>
            <a:r>
              <a:rPr lang="en-US" dirty="0"/>
              <a:t>default, only the original issuer can do this, however they can optionally grant this right to other addresses as well</a:t>
            </a:r>
            <a:r>
              <a:rPr lang="en-US" dirty="0" smtClean="0"/>
              <a:t>.</a:t>
            </a:r>
          </a:p>
          <a:p>
            <a:endParaRPr lang="en-US" dirty="0"/>
          </a:p>
          <a:p>
            <a:r>
              <a:rPr lang="en-US" dirty="0"/>
              <a:t>All units of a particular asset are fungible on the blockchain, no matter who issued them and when. </a:t>
            </a:r>
            <a:endParaRPr lang="en-US" dirty="0" smtClean="0"/>
          </a:p>
          <a:p>
            <a:r>
              <a:rPr lang="en-US" dirty="0" smtClean="0"/>
              <a:t>When </a:t>
            </a:r>
            <a:r>
              <a:rPr lang="en-US" dirty="0"/>
              <a:t>an asset quantity is sent or exchanged using MultiChain’s </a:t>
            </a:r>
            <a:r>
              <a:rPr lang="en-US" dirty="0" smtClean="0"/>
              <a:t> API </a:t>
            </a:r>
            <a:r>
              <a:rPr lang="en-US" dirty="0"/>
              <a:t>commands, no distinction is made between units created in the original or subsequent issuances. </a:t>
            </a:r>
            <a:endParaRPr lang="en-US" dirty="0" smtClean="0"/>
          </a:p>
          <a:p>
            <a:r>
              <a:rPr lang="en-US" dirty="0" smtClean="0"/>
              <a:t>Applications </a:t>
            </a:r>
            <a:r>
              <a:rPr lang="en-US" dirty="0"/>
              <a:t>should therefore assume that these units are fully interchangeable, mixed together and equal in value. </a:t>
            </a:r>
            <a:endParaRPr lang="en-US" dirty="0" smtClean="0"/>
          </a:p>
          <a:p>
            <a:r>
              <a:rPr lang="en-US" dirty="0" smtClean="0"/>
              <a:t>If there needs to be a distinction </a:t>
            </a:r>
            <a:r>
              <a:rPr lang="en-US" dirty="0"/>
              <a:t>between the units created by different issuances of the same asset, </a:t>
            </a:r>
            <a:r>
              <a:rPr lang="en-US" dirty="0" smtClean="0"/>
              <a:t>these should actually be separate </a:t>
            </a:r>
            <a:r>
              <a:rPr lang="en-US" dirty="0"/>
              <a:t>assets instead.</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Streams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final version of </a:t>
            </a:r>
            <a:r>
              <a:rPr lang="en-US" dirty="0" err="1" smtClean="0"/>
              <a:t>Multichain</a:t>
            </a:r>
            <a:r>
              <a:rPr lang="en-US" dirty="0" smtClean="0"/>
              <a:t> 1.0, released in August 2017, introduced functionality </a:t>
            </a:r>
            <a:r>
              <a:rPr lang="en-US" dirty="0"/>
              <a:t>called “streams”. </a:t>
            </a:r>
            <a:r>
              <a:rPr lang="en-US" dirty="0" smtClean="0"/>
              <a:t> (2.0 beta 2 was released in February 2019)</a:t>
            </a:r>
          </a:p>
          <a:p>
            <a:endParaRPr lang="en-US" dirty="0" smtClean="0"/>
          </a:p>
          <a:p>
            <a:r>
              <a:rPr lang="en-US" dirty="0" smtClean="0"/>
              <a:t>Streams </a:t>
            </a:r>
            <a:r>
              <a:rPr lang="en-US" dirty="0"/>
              <a:t>provide a natural abstraction for blockchain use cases which focus on general data retrieval, </a:t>
            </a:r>
            <a:r>
              <a:rPr lang="en-US" dirty="0" err="1"/>
              <a:t>timestamping</a:t>
            </a:r>
            <a:r>
              <a:rPr lang="en-US" dirty="0"/>
              <a:t> and archiving, rather than the transfer of assets between participants. </a:t>
            </a:r>
            <a:endParaRPr lang="en-US" dirty="0" smtClean="0"/>
          </a:p>
          <a:p>
            <a:endParaRPr lang="en-US" dirty="0" smtClean="0"/>
          </a:p>
          <a:p>
            <a:r>
              <a:rPr lang="en-US" dirty="0" smtClean="0"/>
              <a:t>Streams </a:t>
            </a:r>
            <a:r>
              <a:rPr lang="en-US" dirty="0"/>
              <a:t>can be used to implement three different types of databases on a chain:</a:t>
            </a:r>
          </a:p>
          <a:p>
            <a:pPr lvl="1"/>
            <a:r>
              <a:rPr lang="en-US" sz="3200" dirty="0"/>
              <a:t>A key-value database or document store, in the style of </a:t>
            </a:r>
            <a:r>
              <a:rPr lang="en-US" sz="3200" dirty="0" err="1"/>
              <a:t>NoSQL</a:t>
            </a:r>
            <a:r>
              <a:rPr lang="en-US" sz="3200" dirty="0"/>
              <a:t>.</a:t>
            </a:r>
          </a:p>
          <a:p>
            <a:pPr lvl="1"/>
            <a:r>
              <a:rPr lang="en-US" sz="3200" dirty="0"/>
              <a:t>A time series database, which focuses on the ordering of entries.</a:t>
            </a:r>
          </a:p>
          <a:p>
            <a:pPr lvl="1"/>
            <a:r>
              <a:rPr lang="en-US" sz="3200" dirty="0"/>
              <a:t>An identity-driven database where entries are classified according to their author.</a:t>
            </a:r>
          </a:p>
          <a:p>
            <a:r>
              <a:rPr lang="en-US" dirty="0"/>
              <a:t>These can be considered as the ‘what’, ‘when’ and ‘who’ of a shared database.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Streams B</a:t>
            </a:r>
            <a:r>
              <a:rPr lang="en-US" dirty="0" smtClean="0"/>
              <a:t>asics</a:t>
            </a:r>
            <a:endParaRPr lang="en-US" dirty="0"/>
          </a:p>
        </p:txBody>
      </p:sp>
      <p:sp>
        <p:nvSpPr>
          <p:cNvPr id="3" name="Content Placeholder 2"/>
          <p:cNvSpPr>
            <a:spLocks noGrp="1"/>
          </p:cNvSpPr>
          <p:nvPr>
            <p:ph idx="1"/>
          </p:nvPr>
        </p:nvSpPr>
        <p:spPr/>
        <p:txBody>
          <a:bodyPr>
            <a:normAutofit fontScale="77500" lnSpcReduction="20000"/>
          </a:bodyPr>
          <a:lstStyle/>
          <a:p>
            <a:r>
              <a:rPr lang="en-US" dirty="0"/>
              <a:t>Any number of streams can be created in a MultiChain blockchain, and each stream acts as an independent append-only collection of items. </a:t>
            </a:r>
            <a:endParaRPr lang="en-US" dirty="0" smtClean="0"/>
          </a:p>
          <a:p>
            <a:endParaRPr lang="en-US" dirty="0" smtClean="0"/>
          </a:p>
          <a:p>
            <a:r>
              <a:rPr lang="en-US" dirty="0" smtClean="0"/>
              <a:t>Each </a:t>
            </a:r>
            <a:r>
              <a:rPr lang="en-US" dirty="0"/>
              <a:t>item in a stream has the following characteristics:</a:t>
            </a:r>
          </a:p>
          <a:p>
            <a:pPr lvl="1"/>
            <a:r>
              <a:rPr lang="en-US" dirty="0"/>
              <a:t>One or more </a:t>
            </a:r>
            <a:r>
              <a:rPr lang="en-US" b="1" dirty="0"/>
              <a:t>publishers</a:t>
            </a:r>
            <a:r>
              <a:rPr lang="en-US" dirty="0"/>
              <a:t> who have digitally signed that item.</a:t>
            </a:r>
          </a:p>
          <a:p>
            <a:pPr lvl="1"/>
            <a:r>
              <a:rPr lang="en-US" dirty="0"/>
              <a:t>An optional </a:t>
            </a:r>
            <a:r>
              <a:rPr lang="en-US" b="1" dirty="0"/>
              <a:t>key</a:t>
            </a:r>
            <a:r>
              <a:rPr lang="en-US" dirty="0"/>
              <a:t> for convenient later retrieval.</a:t>
            </a:r>
          </a:p>
          <a:p>
            <a:pPr lvl="1"/>
            <a:r>
              <a:rPr lang="en-US" dirty="0"/>
              <a:t>Some </a:t>
            </a:r>
            <a:r>
              <a:rPr lang="en-US" b="1" dirty="0"/>
              <a:t>data</a:t>
            </a:r>
            <a:r>
              <a:rPr lang="en-US" dirty="0"/>
              <a:t>, which can range from a small piece of text to many megabytes of raw binary.</a:t>
            </a:r>
          </a:p>
          <a:p>
            <a:pPr lvl="1"/>
            <a:r>
              <a:rPr lang="en-US" dirty="0"/>
              <a:t>A </a:t>
            </a:r>
            <a:r>
              <a:rPr lang="en-US" b="1" dirty="0"/>
              <a:t>timestamp</a:t>
            </a:r>
            <a:r>
              <a:rPr lang="en-US" dirty="0"/>
              <a:t>, which is taken from the header of the block in which the item is confirmed.</a:t>
            </a:r>
          </a:p>
          <a:p>
            <a:pPr lvl="1"/>
            <a:r>
              <a:rPr lang="en-US" dirty="0"/>
              <a:t>Behind the scenes, each item in a stream is represented by a blockchain transaction, but developers can read and write streams with no awareness of this underlying mechanism.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Streams Basics</a:t>
            </a:r>
            <a:endParaRPr lang="en-US" dirty="0"/>
          </a:p>
        </p:txBody>
      </p:sp>
      <p:sp>
        <p:nvSpPr>
          <p:cNvPr id="3" name="Content Placeholder 2"/>
          <p:cNvSpPr>
            <a:spLocks noGrp="1"/>
          </p:cNvSpPr>
          <p:nvPr>
            <p:ph idx="1"/>
          </p:nvPr>
        </p:nvSpPr>
        <p:spPr/>
        <p:txBody>
          <a:bodyPr>
            <a:normAutofit fontScale="62500" lnSpcReduction="20000"/>
          </a:bodyPr>
          <a:lstStyle/>
          <a:p>
            <a:r>
              <a:rPr lang="en-US" dirty="0"/>
              <a:t>Streams integrate with MultiChain’s permissions system in a number of ways. </a:t>
            </a:r>
            <a:endParaRPr lang="en-US" dirty="0" smtClean="0"/>
          </a:p>
          <a:p>
            <a:r>
              <a:rPr lang="en-US" dirty="0" smtClean="0"/>
              <a:t>Streams </a:t>
            </a:r>
            <a:r>
              <a:rPr lang="en-US" dirty="0"/>
              <a:t>can only be created by those who have permission to do so, in the same way that assets can only be issued by certain addresses. </a:t>
            </a:r>
            <a:endParaRPr lang="en-US" dirty="0" smtClean="0"/>
          </a:p>
          <a:p>
            <a:endParaRPr lang="en-US" dirty="0" smtClean="0"/>
          </a:p>
          <a:p>
            <a:r>
              <a:rPr lang="en-US" dirty="0" smtClean="0"/>
              <a:t>When </a:t>
            </a:r>
            <a:r>
              <a:rPr lang="en-US" dirty="0"/>
              <a:t>a stream is </a:t>
            </a:r>
            <a:r>
              <a:rPr lang="en-US" dirty="0" smtClean="0"/>
              <a:t>created </a:t>
            </a:r>
            <a:r>
              <a:rPr lang="en-US" dirty="0"/>
              <a:t>it </a:t>
            </a:r>
            <a:r>
              <a:rPr lang="en-US" dirty="0" smtClean="0"/>
              <a:t>can be defined as </a:t>
            </a:r>
            <a:r>
              <a:rPr lang="en-US" dirty="0"/>
              <a:t>open or closed. Open streams are writeable by anybody who has permission to send a blockchain transaction, while closed streams are restricted to a changeable list of permitted addresses. In the latter case, each stream has one or more administrators who can change those write permissions over time</a:t>
            </a:r>
            <a:r>
              <a:rPr lang="en-US" dirty="0" smtClean="0"/>
              <a:t>.</a:t>
            </a:r>
          </a:p>
          <a:p>
            <a:endParaRPr lang="en-US" dirty="0" smtClean="0"/>
          </a:p>
          <a:p>
            <a:r>
              <a:rPr lang="en-US" dirty="0"/>
              <a:t>Each blockchain has an optional ‘root’ stream, which is defined in its parameters and exists from the moment the chain is created. </a:t>
            </a:r>
            <a:endParaRPr lang="en-US" dirty="0" smtClean="0"/>
          </a:p>
          <a:p>
            <a:r>
              <a:rPr lang="en-US" dirty="0" smtClean="0"/>
              <a:t>This </a:t>
            </a:r>
            <a:r>
              <a:rPr lang="en-US" dirty="0"/>
              <a:t>enables a blockchain to be used immediately for storing and retrieving data, without waiting for a stream to be explicitly created.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Streams Basics</a:t>
            </a:r>
            <a:endParaRPr lang="en-US" dirty="0"/>
          </a:p>
        </p:txBody>
      </p:sp>
      <p:sp>
        <p:nvSpPr>
          <p:cNvPr id="3" name="Content Placeholder 2"/>
          <p:cNvSpPr>
            <a:spLocks noGrp="1"/>
          </p:cNvSpPr>
          <p:nvPr>
            <p:ph idx="1"/>
          </p:nvPr>
        </p:nvSpPr>
        <p:spPr/>
        <p:txBody>
          <a:bodyPr>
            <a:normAutofit fontScale="70000" lnSpcReduction="20000"/>
          </a:bodyPr>
          <a:lstStyle/>
          <a:p>
            <a:r>
              <a:rPr lang="en-US" dirty="0"/>
              <a:t>C</a:t>
            </a:r>
            <a:r>
              <a:rPr lang="en-US" dirty="0" smtClean="0"/>
              <a:t>onfidentiality </a:t>
            </a:r>
            <a:r>
              <a:rPr lang="en-US" dirty="0"/>
              <a:t>is the biggest challenge in </a:t>
            </a:r>
            <a:r>
              <a:rPr lang="en-US" dirty="0" smtClean="0"/>
              <a:t>many blockchain </a:t>
            </a:r>
            <a:r>
              <a:rPr lang="en-US" dirty="0"/>
              <a:t>use cases. This is because each node in a blockchain sees a full copy of the entire chain’s contents. </a:t>
            </a:r>
            <a:endParaRPr lang="en-US" dirty="0" smtClean="0"/>
          </a:p>
          <a:p>
            <a:r>
              <a:rPr lang="en-US" dirty="0" smtClean="0"/>
              <a:t>Streams </a:t>
            </a:r>
            <a:r>
              <a:rPr lang="en-US" dirty="0"/>
              <a:t>provide a natural way to support encrypted data on a blockchain, as follows:</a:t>
            </a:r>
          </a:p>
          <a:p>
            <a:pPr lvl="1"/>
            <a:r>
              <a:rPr lang="en-US" dirty="0"/>
              <a:t>One stream is used by participants to distribute their public keys for any public-key cryptography scheme.</a:t>
            </a:r>
          </a:p>
          <a:p>
            <a:pPr lvl="1"/>
            <a:r>
              <a:rPr lang="en-US" dirty="0"/>
              <a:t>A second stream is used to publish data, where each piece of data is encrypted using symmetric cryptography with a unique key.</a:t>
            </a:r>
          </a:p>
          <a:p>
            <a:pPr lvl="1"/>
            <a:r>
              <a:rPr lang="en-US" dirty="0"/>
              <a:t>A third stream provides data access. For each participant who should see a piece of data, a stream entry is created which contains that data’s secret key, encrypted using that participant’s public key.</a:t>
            </a:r>
          </a:p>
          <a:p>
            <a:pPr lvl="1"/>
            <a:r>
              <a:rPr lang="en-US" dirty="0"/>
              <a:t>This provides an efficient way to archive data on a blockchain, while making it visible only to certain participants.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Retrieving Data from Streams</a:t>
            </a:r>
            <a:endParaRPr lang="en-US" dirty="0"/>
          </a:p>
        </p:txBody>
      </p:sp>
      <p:sp>
        <p:nvSpPr>
          <p:cNvPr id="3" name="Content Placeholder 2"/>
          <p:cNvSpPr>
            <a:spLocks noGrp="1"/>
          </p:cNvSpPr>
          <p:nvPr>
            <p:ph idx="1"/>
          </p:nvPr>
        </p:nvSpPr>
        <p:spPr/>
        <p:txBody>
          <a:bodyPr>
            <a:normAutofit fontScale="62500" lnSpcReduction="20000"/>
          </a:bodyPr>
          <a:lstStyle/>
          <a:p>
            <a:r>
              <a:rPr lang="en-US" dirty="0"/>
              <a:t>The core value of streams is in indexing and retrieval</a:t>
            </a:r>
            <a:r>
              <a:rPr lang="en-US" dirty="0" smtClean="0"/>
              <a:t>.</a:t>
            </a:r>
          </a:p>
          <a:p>
            <a:r>
              <a:rPr lang="en-US" dirty="0" smtClean="0"/>
              <a:t> </a:t>
            </a:r>
          </a:p>
          <a:p>
            <a:r>
              <a:rPr lang="en-US" dirty="0" smtClean="0"/>
              <a:t>Each </a:t>
            </a:r>
            <a:r>
              <a:rPr lang="en-US" dirty="0"/>
              <a:t>node can choose which streams to subscribe to, with the blockchain guaranteeing that all nodes which subscribe to a particular stream will see the same items within. (A node can also be configured to automatically subscribe to every new stream created</a:t>
            </a:r>
            <a:r>
              <a:rPr lang="en-US" dirty="0" smtClean="0"/>
              <a:t>.)</a:t>
            </a:r>
          </a:p>
          <a:p>
            <a:endParaRPr lang="en-US" dirty="0"/>
          </a:p>
          <a:p>
            <a:r>
              <a:rPr lang="en-US" dirty="0"/>
              <a:t>If a node is subscribed to a stream, information can be retrieved from that stream in a number of ways:</a:t>
            </a:r>
          </a:p>
          <a:p>
            <a:pPr lvl="1"/>
            <a:r>
              <a:rPr lang="en-US" dirty="0"/>
              <a:t>Retrieving items from the stream in order.</a:t>
            </a:r>
          </a:p>
          <a:p>
            <a:pPr lvl="1"/>
            <a:r>
              <a:rPr lang="en-US" dirty="0"/>
              <a:t>Retrieving items with a particular key.</a:t>
            </a:r>
          </a:p>
          <a:p>
            <a:pPr lvl="1"/>
            <a:r>
              <a:rPr lang="en-US" dirty="0"/>
              <a:t>Retrieving items signed by a particular publisher.</a:t>
            </a:r>
          </a:p>
          <a:p>
            <a:pPr lvl="1"/>
            <a:r>
              <a:rPr lang="en-US" dirty="0"/>
              <a:t>Listing the keys used in a stream, with item counts for each key.</a:t>
            </a:r>
          </a:p>
          <a:p>
            <a:pPr lvl="1"/>
            <a:r>
              <a:rPr lang="en-US" dirty="0"/>
              <a:t>Listing the publishers in a stream, with item counts.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about smart contracts?</a:t>
            </a:r>
          </a:p>
        </p:txBody>
      </p:sp>
      <p:sp>
        <p:nvSpPr>
          <p:cNvPr id="3" name="Content Placeholder 2"/>
          <p:cNvSpPr>
            <a:spLocks noGrp="1"/>
          </p:cNvSpPr>
          <p:nvPr>
            <p:ph idx="1"/>
          </p:nvPr>
        </p:nvSpPr>
        <p:spPr/>
        <p:txBody>
          <a:bodyPr>
            <a:noAutofit/>
          </a:bodyPr>
          <a:lstStyle/>
          <a:p>
            <a:r>
              <a:rPr lang="en-US" sz="2000" dirty="0"/>
              <a:t>In a general sense, MultiChain takes the approach in which </a:t>
            </a:r>
            <a:r>
              <a:rPr lang="en-US" sz="2000" i="1" dirty="0"/>
              <a:t>data</a:t>
            </a:r>
            <a:r>
              <a:rPr lang="en-US" sz="2000" dirty="0"/>
              <a:t> is embedded immutably in a blockchain, but the </a:t>
            </a:r>
            <a:r>
              <a:rPr lang="en-US" sz="2000" i="1" dirty="0" smtClean="0"/>
              <a:t>code </a:t>
            </a:r>
            <a:r>
              <a:rPr lang="en-US" sz="2000" dirty="0" smtClean="0"/>
              <a:t>for </a:t>
            </a:r>
            <a:r>
              <a:rPr lang="en-US" sz="2000" dirty="0"/>
              <a:t>interpreting that data is in the node or application layer. </a:t>
            </a:r>
            <a:endParaRPr lang="en-US" sz="2000" dirty="0" smtClean="0"/>
          </a:p>
          <a:p>
            <a:r>
              <a:rPr lang="en-US" sz="2000" dirty="0" smtClean="0"/>
              <a:t>This </a:t>
            </a:r>
            <a:r>
              <a:rPr lang="en-US" sz="2000" dirty="0"/>
              <a:t>is deliberately different from the “smart contracts” </a:t>
            </a:r>
            <a:r>
              <a:rPr lang="en-US" sz="2000" dirty="0" smtClean="0"/>
              <a:t>paradigm </a:t>
            </a:r>
            <a:r>
              <a:rPr lang="en-US" sz="2000" dirty="0"/>
              <a:t>as exemplified by </a:t>
            </a:r>
            <a:r>
              <a:rPr lang="en-US" sz="2000" dirty="0" smtClean="0"/>
              <a:t>Ethereum </a:t>
            </a:r>
            <a:r>
              <a:rPr lang="en-US" sz="2000" dirty="0"/>
              <a:t>in which code is embedded in the blockchain and runs in a virtual machine. </a:t>
            </a:r>
            <a:endParaRPr lang="en-US" sz="2000" dirty="0" smtClean="0"/>
          </a:p>
          <a:p>
            <a:r>
              <a:rPr lang="en-US" sz="2000" dirty="0" smtClean="0"/>
              <a:t>In </a:t>
            </a:r>
            <a:r>
              <a:rPr lang="en-US" sz="2000" dirty="0"/>
              <a:t>theory, because smart </a:t>
            </a:r>
            <a:r>
              <a:rPr lang="en-US" sz="2000" dirty="0" smtClean="0"/>
              <a:t>contract functionality is not limited (i.e. they are</a:t>
            </a:r>
            <a:r>
              <a:rPr lang="en-US" sz="2000" dirty="0"/>
              <a:t> Turing </a:t>
            </a:r>
            <a:r>
              <a:rPr lang="en-US" sz="2000" dirty="0" smtClean="0"/>
              <a:t>complete), </a:t>
            </a:r>
            <a:r>
              <a:rPr lang="en-US" sz="2000" dirty="0"/>
              <a:t>they can reproduce the behavior of MultiChain or any other blockchain platform</a:t>
            </a:r>
            <a:r>
              <a:rPr lang="en-US" sz="2000" dirty="0" smtClean="0"/>
              <a:t>.</a:t>
            </a:r>
          </a:p>
          <a:p>
            <a:endParaRPr lang="en-US" sz="2000" dirty="0" smtClean="0"/>
          </a:p>
          <a:p>
            <a:r>
              <a:rPr lang="en-US" sz="2000" dirty="0" smtClean="0"/>
              <a:t>In practice, however, Ethereum-style smart contracts have many painful shortcomings:</a:t>
            </a:r>
          </a:p>
          <a:p>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a:t>
            </a:r>
            <a:r>
              <a:rPr lang="en-US" dirty="0" smtClean="0"/>
              <a:t>mart Contracts Shortcomings</a:t>
            </a:r>
            <a:endParaRPr lang="en-US" dirty="0"/>
          </a:p>
        </p:txBody>
      </p:sp>
      <p:sp>
        <p:nvSpPr>
          <p:cNvPr id="3" name="Content Placeholder 2"/>
          <p:cNvSpPr>
            <a:spLocks noGrp="1"/>
          </p:cNvSpPr>
          <p:nvPr>
            <p:ph idx="1"/>
          </p:nvPr>
        </p:nvSpPr>
        <p:spPr/>
        <p:txBody>
          <a:bodyPr>
            <a:normAutofit/>
          </a:bodyPr>
          <a:lstStyle/>
          <a:p>
            <a:r>
              <a:rPr lang="en-US" sz="2000" dirty="0" smtClean="0"/>
              <a:t>Every </a:t>
            </a:r>
            <a:r>
              <a:rPr lang="en-US" sz="2000" dirty="0"/>
              <a:t>node has to perform every computation, whether it’s of interest or not. By contrast, in MultiChain each node decides which streams to subscribe to, and can ignore the data contained by others</a:t>
            </a:r>
            <a:r>
              <a:rPr lang="en-US" sz="2000" dirty="0" smtClean="0"/>
              <a:t>.</a:t>
            </a:r>
          </a:p>
          <a:p>
            <a:pPr lvl="1"/>
            <a:r>
              <a:rPr lang="en-US" sz="2000" dirty="0" smtClean="0"/>
              <a:t>Note: this is an area that developments such as Ethereum sharding and </a:t>
            </a:r>
            <a:r>
              <a:rPr lang="en-US" sz="2000" dirty="0" err="1" smtClean="0"/>
              <a:t>Raiden</a:t>
            </a:r>
            <a:r>
              <a:rPr lang="en-US" sz="2000" dirty="0" smtClean="0"/>
              <a:t>, as well as the Bitcoin Lightning network all address.</a:t>
            </a:r>
          </a:p>
          <a:p>
            <a:endParaRPr lang="en-US" sz="2000" dirty="0"/>
          </a:p>
          <a:p>
            <a:r>
              <a:rPr lang="en-US" sz="2000" dirty="0"/>
              <a:t>The virtual machine used for smart contracts has drastically worse performance than code which has been natively compiled for a given computer architecture</a:t>
            </a:r>
            <a:r>
              <a:rPr lang="en-US" sz="2000" dirty="0" smtClean="0"/>
              <a:t>.</a:t>
            </a:r>
          </a:p>
          <a:p>
            <a:endParaRPr lang="en-US" sz="2000" dirty="0"/>
          </a:p>
          <a:p>
            <a:r>
              <a:rPr lang="en-US" sz="2000" dirty="0"/>
              <a:t>Smart contract code is immutably embedded in a chain, preventing features from being added and bugs from being fixed. </a:t>
            </a:r>
            <a:endParaRPr lang="en-US" sz="2000" dirty="0" smtClean="0"/>
          </a:p>
          <a:p>
            <a:pPr lvl="1"/>
            <a:r>
              <a:rPr lang="en-US" sz="2000" dirty="0" smtClean="0"/>
              <a:t>This </a:t>
            </a:r>
            <a:r>
              <a:rPr lang="en-US" sz="2000" dirty="0"/>
              <a:t>was demonstrated forcefully in the demise of The DAO</a:t>
            </a:r>
            <a:r>
              <a:rPr lang="en-US" sz="2000" dirty="0" smtClean="0"/>
              <a: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a:t>
            </a:r>
            <a:r>
              <a:rPr lang="en-US" dirty="0" smtClean="0"/>
              <a:t>mart Contracts Shortcomings</a:t>
            </a:r>
            <a:endParaRPr lang="en-US" dirty="0"/>
          </a:p>
        </p:txBody>
      </p:sp>
      <p:sp>
        <p:nvSpPr>
          <p:cNvPr id="3" name="Content Placeholder 2"/>
          <p:cNvSpPr>
            <a:spLocks noGrp="1"/>
          </p:cNvSpPr>
          <p:nvPr>
            <p:ph idx="1"/>
          </p:nvPr>
        </p:nvSpPr>
        <p:spPr/>
        <p:txBody>
          <a:bodyPr>
            <a:normAutofit/>
          </a:bodyPr>
          <a:lstStyle/>
          <a:p>
            <a:r>
              <a:rPr lang="en-US" sz="2000" dirty="0" smtClean="0"/>
              <a:t>Transactions </a:t>
            </a:r>
            <a:r>
              <a:rPr lang="en-US" sz="2000" dirty="0"/>
              <a:t>sent to a smart contract cannot update a blockchain’s state until their final ordering is known, because of the nature of general purpose computation. </a:t>
            </a:r>
            <a:endParaRPr lang="en-US" sz="2000" dirty="0" smtClean="0"/>
          </a:p>
          <a:p>
            <a:r>
              <a:rPr lang="en-US" sz="2000" dirty="0" smtClean="0"/>
              <a:t>This </a:t>
            </a:r>
            <a:r>
              <a:rPr lang="en-US" sz="2000" dirty="0"/>
              <a:t>leads to delays (until a transaction is confirmed in a block) as well as possible reversals (in the event of a fork in the chain). </a:t>
            </a:r>
            <a:endParaRPr lang="en-US" sz="2000" dirty="0" smtClean="0"/>
          </a:p>
          <a:p>
            <a:r>
              <a:rPr lang="en-US" sz="2000" dirty="0" smtClean="0"/>
              <a:t>By </a:t>
            </a:r>
            <a:r>
              <a:rPr lang="en-US" sz="2000" dirty="0"/>
              <a:t>contrast, MultiChain can treat each type of unconfirmed transaction in the appropriate way: </a:t>
            </a:r>
            <a:endParaRPr lang="en-US" sz="2000" dirty="0" smtClean="0"/>
          </a:p>
          <a:p>
            <a:pPr lvl="1"/>
            <a:r>
              <a:rPr lang="en-US" sz="2000" dirty="0" smtClean="0"/>
              <a:t>(</a:t>
            </a:r>
            <a:r>
              <a:rPr lang="en-US" sz="2000" dirty="0"/>
              <a:t>a) incoming assets immediately update a node’s unconfirmed balance, </a:t>
            </a:r>
            <a:endParaRPr lang="en-US" sz="2000" dirty="0" smtClean="0"/>
          </a:p>
          <a:p>
            <a:pPr lvl="1"/>
            <a:r>
              <a:rPr lang="en-US" sz="2000" dirty="0" smtClean="0"/>
              <a:t>(</a:t>
            </a:r>
            <a:r>
              <a:rPr lang="en-US" sz="2000" dirty="0"/>
              <a:t>b) incoming stream items are instantly available, with their global ordering subsequently finalized, </a:t>
            </a:r>
            <a:endParaRPr lang="en-US" sz="2000" dirty="0" smtClean="0"/>
          </a:p>
          <a:p>
            <a:pPr lvl="1"/>
            <a:r>
              <a:rPr lang="en-US" sz="2000" dirty="0" smtClean="0"/>
              <a:t>(</a:t>
            </a:r>
            <a:r>
              <a:rPr lang="en-US" sz="2000" dirty="0"/>
              <a:t>c) permissions changes are applied immediately and then replayed in incoming blocks.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R3 and </a:t>
            </a:r>
            <a:r>
              <a:rPr lang="en-US" dirty="0" err="1" smtClean="0"/>
              <a:t>Corda</a:t>
            </a:r>
            <a:endParaRPr lang="en-US" dirty="0"/>
          </a:p>
        </p:txBody>
      </p:sp>
      <p:sp>
        <p:nvSpPr>
          <p:cNvPr id="3" name="Content Placeholder 2"/>
          <p:cNvSpPr>
            <a:spLocks noGrp="1"/>
          </p:cNvSpPr>
          <p:nvPr>
            <p:ph idx="1"/>
          </p:nvPr>
        </p:nvSpPr>
        <p:spPr/>
        <p:txBody>
          <a:bodyPr>
            <a:normAutofit fontScale="47500" lnSpcReduction="20000"/>
          </a:bodyPr>
          <a:lstStyle/>
          <a:p>
            <a:r>
              <a:rPr lang="en-US" dirty="0" smtClean="0"/>
              <a:t>R3 </a:t>
            </a:r>
            <a:r>
              <a:rPr lang="en-US" dirty="0"/>
              <a:t>is a consortium of over </a:t>
            </a:r>
            <a:r>
              <a:rPr lang="en-US" dirty="0" smtClean="0"/>
              <a:t>300 partners include many of the largest </a:t>
            </a:r>
            <a:r>
              <a:rPr lang="en-US" dirty="0"/>
              <a:t>global financial institutions, that seeks to leverage distributed ledger technologies to record, manage, and automate legal agreements between businesses through its software solution, called </a:t>
            </a:r>
            <a:r>
              <a:rPr lang="en-US" dirty="0" err="1"/>
              <a:t>Corda</a:t>
            </a:r>
            <a:r>
              <a:rPr lang="en-US" dirty="0" smtClean="0"/>
              <a:t>.</a:t>
            </a:r>
          </a:p>
          <a:p>
            <a:endParaRPr lang="en-US" dirty="0"/>
          </a:p>
          <a:p>
            <a:r>
              <a:rPr lang="en-US" dirty="0" err="1"/>
              <a:t>Corda</a:t>
            </a:r>
            <a:r>
              <a:rPr lang="en-US" dirty="0"/>
              <a:t> is a distributed ledger platform, which features a blockchain-style P2P network; however, it is not a blockchain platform. </a:t>
            </a:r>
            <a:endParaRPr lang="en-US" dirty="0" smtClean="0"/>
          </a:p>
          <a:p>
            <a:r>
              <a:rPr lang="en-US" b="1" dirty="0" smtClean="0"/>
              <a:t>Unlike </a:t>
            </a:r>
            <a:r>
              <a:rPr lang="en-US" b="1" dirty="0"/>
              <a:t>blockchains</a:t>
            </a:r>
            <a:r>
              <a:rPr lang="en-US" dirty="0"/>
              <a:t>, which involve global availability of data across the network and third party validators, </a:t>
            </a:r>
            <a:r>
              <a:rPr lang="en-US" dirty="0" err="1"/>
              <a:t>Corda</a:t>
            </a:r>
            <a:r>
              <a:rPr lang="en-US" dirty="0"/>
              <a:t> only allows information access and validation functions to parties actually involved in the transaction. </a:t>
            </a:r>
            <a:endParaRPr lang="en-US" dirty="0" smtClean="0"/>
          </a:p>
          <a:p>
            <a:r>
              <a:rPr lang="en-US" dirty="0" smtClean="0"/>
              <a:t>So by some definitions, </a:t>
            </a:r>
            <a:r>
              <a:rPr lang="en-US" dirty="0" err="1" smtClean="0"/>
              <a:t>Corda</a:t>
            </a:r>
            <a:r>
              <a:rPr lang="en-US" dirty="0" smtClean="0"/>
              <a:t> is not technically a blockchain, see:</a:t>
            </a:r>
          </a:p>
          <a:p>
            <a:pPr>
              <a:buNone/>
            </a:pPr>
            <a:r>
              <a:rPr lang="en-US" dirty="0" smtClean="0">
                <a:hlinkClick r:id="rId2"/>
              </a:rPr>
              <a:t>https://www.multichain.com/blog/2018/05/r3-corda-deep-dive-and-technical-review/</a:t>
            </a:r>
            <a:endParaRPr lang="en-US" dirty="0" smtClean="0"/>
          </a:p>
          <a:p>
            <a:endParaRPr lang="en-US" dirty="0" smtClean="0"/>
          </a:p>
          <a:p>
            <a:r>
              <a:rPr lang="en-US" dirty="0" smtClean="0"/>
              <a:t>Unlike many blockchains,</a:t>
            </a:r>
            <a:r>
              <a:rPr lang="en-US" dirty="0"/>
              <a:t> </a:t>
            </a:r>
            <a:r>
              <a:rPr lang="en-US" dirty="0" err="1" smtClean="0"/>
              <a:t>Corda</a:t>
            </a:r>
            <a:r>
              <a:rPr lang="en-US" dirty="0" smtClean="0"/>
              <a:t> </a:t>
            </a:r>
            <a:r>
              <a:rPr lang="en-US" dirty="0"/>
              <a:t>achieves consensus between firms at the level of individual deals, </a:t>
            </a:r>
            <a:r>
              <a:rPr lang="en-US" dirty="0" smtClean="0"/>
              <a:t>rather than at system level, </a:t>
            </a:r>
            <a:r>
              <a:rPr lang="en-US" dirty="0"/>
              <a:t>while supporting a variety of consensus mechanisms</a:t>
            </a:r>
            <a:r>
              <a:rPr lang="en-US" dirty="0" smtClean="0"/>
              <a:t>.</a:t>
            </a:r>
          </a:p>
          <a:p>
            <a:pPr>
              <a:buNone/>
            </a:pPr>
            <a:endParaRPr lang="en-US" dirty="0" smtClean="0">
              <a:hlinkClick r:id="rId3"/>
            </a:endParaRPr>
          </a:p>
          <a:p>
            <a:pPr>
              <a:buNone/>
            </a:pPr>
            <a:r>
              <a:rPr lang="en-US" dirty="0" smtClean="0">
                <a:hlinkClick r:id="rId3"/>
              </a:rPr>
              <a:t>https://www.r3.com/</a:t>
            </a:r>
          </a:p>
          <a:p>
            <a:pPr>
              <a:buNone/>
            </a:pPr>
            <a:r>
              <a:rPr lang="en-US" dirty="0" smtClean="0">
                <a:hlinkClick r:id="rId3"/>
              </a:rPr>
              <a:t>https</a:t>
            </a:r>
            <a:r>
              <a:rPr lang="en-US" dirty="0">
                <a:hlinkClick r:id="rId3"/>
              </a:rPr>
              <a:t>://www.corda.net/</a:t>
            </a:r>
            <a:r>
              <a:rPr lang="en-US" dirty="0"/>
              <a:t>.</a:t>
            </a:r>
          </a:p>
          <a:p>
            <a:r>
              <a:rPr lang="en-US" dirty="0" smtClean="0"/>
              <a:t>R3 and Ripple were involved in several lawsuits and countersuits that were settled in September 2018.</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Quorum</a:t>
            </a:r>
            <a:endParaRPr lang="en-US" dirty="0"/>
          </a:p>
        </p:txBody>
      </p:sp>
      <p:sp>
        <p:nvSpPr>
          <p:cNvPr id="3" name="Content Placeholder 2"/>
          <p:cNvSpPr>
            <a:spLocks noGrp="1"/>
          </p:cNvSpPr>
          <p:nvPr>
            <p:ph idx="1"/>
          </p:nvPr>
        </p:nvSpPr>
        <p:spPr>
          <a:xfrm>
            <a:off x="457200" y="1600200"/>
            <a:ext cx="8229600" cy="4953000"/>
          </a:xfrm>
        </p:spPr>
        <p:txBody>
          <a:bodyPr>
            <a:noAutofit/>
          </a:bodyPr>
          <a:lstStyle/>
          <a:p>
            <a:r>
              <a:rPr lang="en-US" sz="1800" dirty="0" smtClean="0"/>
              <a:t>Created and open-sourced </a:t>
            </a:r>
            <a:r>
              <a:rPr lang="en-US" sz="1800" dirty="0"/>
              <a:t>by JPMorgan, Quorum </a:t>
            </a:r>
            <a:r>
              <a:rPr lang="en-US" sz="1800" dirty="0" smtClean="0"/>
              <a:t>is </a:t>
            </a:r>
            <a:r>
              <a:rPr lang="en-US" sz="1800" dirty="0"/>
              <a:t>a fork of the Ethereum public blockchain, which uses a voting-based consensus algorithm to facilitate an </a:t>
            </a:r>
            <a:r>
              <a:rPr lang="en-US" sz="1800" dirty="0" smtClean="0"/>
              <a:t>enterprise-focused, </a:t>
            </a:r>
            <a:r>
              <a:rPr lang="en-US" sz="1800" dirty="0" err="1" smtClean="0"/>
              <a:t>permissioned</a:t>
            </a:r>
            <a:r>
              <a:rPr lang="en-US" sz="1800" dirty="0" smtClean="0"/>
              <a:t> </a:t>
            </a:r>
            <a:r>
              <a:rPr lang="en-US" sz="1800" dirty="0"/>
              <a:t>distributed ledger and smart contract platform. </a:t>
            </a:r>
            <a:endParaRPr lang="en-US" sz="1800" dirty="0" smtClean="0"/>
          </a:p>
          <a:p>
            <a:r>
              <a:rPr lang="en-US" sz="1800" dirty="0" smtClean="0"/>
              <a:t>Quorum </a:t>
            </a:r>
            <a:r>
              <a:rPr lang="en-US" sz="1800" dirty="0" smtClean="0"/>
              <a:t>achieves this data privacy through allowing data visibility </a:t>
            </a:r>
            <a:r>
              <a:rPr lang="en-US" sz="1800" dirty="0" smtClean="0"/>
              <a:t>on a </a:t>
            </a:r>
            <a:r>
              <a:rPr lang="en-US" sz="1800" dirty="0" smtClean="0"/>
              <a:t>need-to-know </a:t>
            </a:r>
            <a:r>
              <a:rPr lang="en-US" sz="1800" dirty="0" smtClean="0"/>
              <a:t>basis, </a:t>
            </a:r>
            <a:r>
              <a:rPr lang="en-US" sz="1800" dirty="0" err="1" smtClean="0"/>
              <a:t>usinga</a:t>
            </a:r>
            <a:r>
              <a:rPr lang="en-US" sz="1800" dirty="0" smtClean="0"/>
              <a:t> </a:t>
            </a:r>
            <a:r>
              <a:rPr lang="en-US" sz="1800" dirty="0" smtClean="0"/>
              <a:t>voting-based consensus algorithm.</a:t>
            </a:r>
          </a:p>
          <a:p>
            <a:r>
              <a:rPr lang="en-US" sz="1800" dirty="0" smtClean="0"/>
              <a:t>The </a:t>
            </a:r>
            <a:r>
              <a:rPr lang="en-US" sz="1800" dirty="0" smtClean="0"/>
              <a:t>network validates all smart contracts and overall system state through the involvement of all running nodes. </a:t>
            </a:r>
          </a:p>
          <a:p>
            <a:r>
              <a:rPr lang="en-US" sz="1800" dirty="0" smtClean="0"/>
              <a:t>The platform is designed to support both transaction-level privacy and network-wide transparency. </a:t>
            </a:r>
          </a:p>
          <a:p>
            <a:r>
              <a:rPr lang="en-US" sz="1800" dirty="0" smtClean="0"/>
              <a:t>Regulatory compliance is a primary focus in the Quorum platform.</a:t>
            </a:r>
          </a:p>
          <a:p>
            <a:pPr>
              <a:buNone/>
            </a:pPr>
            <a:r>
              <a:rPr lang="en-US" sz="1800" dirty="0" smtClean="0">
                <a:hlinkClick r:id="rId2"/>
              </a:rPr>
              <a:t>https</a:t>
            </a:r>
            <a:r>
              <a:rPr lang="en-US" sz="1800" dirty="0" smtClean="0">
                <a:hlinkClick r:id="rId2"/>
              </a:rPr>
              <a:t>://www.jpmorgan.com/global/Quorum</a:t>
            </a:r>
            <a:endParaRPr lang="en-US" sz="1800" dirty="0" smtClean="0"/>
          </a:p>
          <a:p>
            <a:r>
              <a:rPr lang="en-US" sz="1800" dirty="0" smtClean="0"/>
              <a:t>It is free and open source.</a:t>
            </a:r>
          </a:p>
          <a:p>
            <a:pPr>
              <a:buNone/>
            </a:pPr>
            <a:r>
              <a:rPr lang="en-US" sz="1800" dirty="0" smtClean="0">
                <a:hlinkClick r:id="rId3"/>
              </a:rPr>
              <a:t>https://github.com/jpmorganchase/quorum</a:t>
            </a:r>
            <a:endParaRPr lang="en-US" sz="1800" dirty="0" smtClean="0"/>
          </a:p>
          <a:p>
            <a:pPr>
              <a:buNone/>
            </a:pPr>
            <a:endParaRPr lang="en-US" sz="1800" dirty="0" smtClean="0"/>
          </a:p>
          <a:p>
            <a:r>
              <a:rPr lang="en-US" sz="1800" dirty="0" smtClean="0"/>
              <a:t>In February 2019, JP Morgan announced the creation and first tests of their own stable coin cryptocurrency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Chain Core</a:t>
            </a:r>
            <a:endParaRPr lang="en-US" dirty="0"/>
          </a:p>
        </p:txBody>
      </p:sp>
      <p:sp>
        <p:nvSpPr>
          <p:cNvPr id="3" name="Content Placeholder 2"/>
          <p:cNvSpPr>
            <a:spLocks noGrp="1"/>
          </p:cNvSpPr>
          <p:nvPr>
            <p:ph idx="1"/>
          </p:nvPr>
        </p:nvSpPr>
        <p:spPr/>
        <p:txBody>
          <a:bodyPr>
            <a:normAutofit fontScale="62500" lnSpcReduction="20000"/>
          </a:bodyPr>
          <a:lstStyle/>
          <a:p>
            <a:r>
              <a:rPr lang="en-US" dirty="0"/>
              <a:t>Chain Core </a:t>
            </a:r>
            <a:r>
              <a:rPr lang="en-US" dirty="0" smtClean="0"/>
              <a:t>was developed by Chain Co. as </a:t>
            </a:r>
            <a:r>
              <a:rPr lang="en-US" dirty="0"/>
              <a:t>an enterprise </a:t>
            </a:r>
            <a:r>
              <a:rPr lang="en-US" dirty="0" err="1"/>
              <a:t>permissioned</a:t>
            </a:r>
            <a:r>
              <a:rPr lang="en-US" dirty="0"/>
              <a:t> blockchain </a:t>
            </a:r>
            <a:r>
              <a:rPr lang="en-US" dirty="0" smtClean="0"/>
              <a:t>system </a:t>
            </a:r>
            <a:r>
              <a:rPr lang="en-US" dirty="0"/>
              <a:t>mostly focused on financial services, like currencies, securities, derivatives, gift cards, and loyalty </a:t>
            </a:r>
            <a:r>
              <a:rPr lang="en-US" dirty="0" smtClean="0"/>
              <a:t>points, with companies like Visa and </a:t>
            </a:r>
            <a:r>
              <a:rPr lang="en-US" dirty="0" err="1" smtClean="0"/>
              <a:t>Nasdaq</a:t>
            </a:r>
            <a:r>
              <a:rPr lang="en-US" dirty="0" smtClean="0"/>
              <a:t> as affiliates. </a:t>
            </a:r>
            <a:endParaRPr lang="en-US" dirty="0" smtClean="0"/>
          </a:p>
          <a:p>
            <a:endParaRPr lang="en-US" dirty="0" smtClean="0"/>
          </a:p>
          <a:p>
            <a:r>
              <a:rPr lang="en-US" dirty="0" smtClean="0"/>
              <a:t>Chain evolved Chain Core into their new product called Sequence.</a:t>
            </a:r>
          </a:p>
          <a:p>
            <a:r>
              <a:rPr lang="en-US" dirty="0" smtClean="0"/>
              <a:t>Sequence is a cloud-based ledger-as-a-service blockchain, that supports apps in Java, Ruby, or Node.</a:t>
            </a:r>
          </a:p>
          <a:p>
            <a:endParaRPr lang="en-US" dirty="0" smtClean="0"/>
          </a:p>
          <a:p>
            <a:r>
              <a:rPr lang="en-US" dirty="0" smtClean="0"/>
              <a:t>The </a:t>
            </a:r>
            <a:r>
              <a:rPr lang="en-US" dirty="0"/>
              <a:t>company partners with clients to launch and operate a network under the client's brand. </a:t>
            </a:r>
            <a:endParaRPr lang="en-US" dirty="0" smtClean="0"/>
          </a:p>
          <a:p>
            <a:endParaRPr lang="en-US" dirty="0"/>
          </a:p>
          <a:p>
            <a:r>
              <a:rPr lang="en-US" dirty="0" smtClean="0"/>
              <a:t>In September 2018, Chain was acquired by </a:t>
            </a:r>
            <a:r>
              <a:rPr lang="en-US" dirty="0" err="1" smtClean="0"/>
              <a:t>Lightyear</a:t>
            </a:r>
            <a:r>
              <a:rPr lang="en-US" dirty="0" smtClean="0"/>
              <a:t>, a Stellar company, and will be rebranded as </a:t>
            </a:r>
            <a:r>
              <a:rPr lang="en-US" dirty="0" err="1" smtClean="0"/>
              <a:t>InterStellar</a:t>
            </a:r>
            <a:endParaRPr lang="en-US" dirty="0" smtClean="0"/>
          </a:p>
          <a:p>
            <a:pPr>
              <a:buNone/>
            </a:pPr>
            <a:r>
              <a:rPr lang="en-US" dirty="0" smtClean="0">
                <a:hlinkClick r:id="rId2"/>
              </a:rPr>
              <a:t>https://blog.chain.com/chain-and-stellar-are-joining-forces-ecd44fb4c474</a:t>
            </a:r>
            <a:endParaRPr lang="en-US" dirty="0" smtClean="0"/>
          </a:p>
          <a:p>
            <a:endParaRPr lang="en-US" dirty="0" smtClean="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a:buNone/>
            </a:pPr>
            <a:r>
              <a:rPr lang="en-US" sz="1600" dirty="0" smtClean="0">
                <a:hlinkClick r:id="rId2"/>
              </a:rPr>
              <a:t>http://www.multichain.com</a:t>
            </a:r>
            <a:endParaRPr lang="en-US" sz="1600" dirty="0" smtClean="0"/>
          </a:p>
          <a:p>
            <a:pPr>
              <a:buNone/>
            </a:pPr>
            <a:endParaRPr lang="en-US" sz="1600" dirty="0" smtClean="0"/>
          </a:p>
          <a:p>
            <a:pPr>
              <a:buNone/>
            </a:pPr>
            <a:r>
              <a:rPr lang="en-US" sz="1600" dirty="0" smtClean="0">
                <a:hlinkClick r:id="rId3"/>
              </a:rPr>
              <a:t>https://www.r3.com/</a:t>
            </a:r>
          </a:p>
          <a:p>
            <a:pPr>
              <a:buNone/>
            </a:pPr>
            <a:r>
              <a:rPr lang="en-US" sz="1600" dirty="0" smtClean="0">
                <a:hlinkClick r:id="rId3"/>
              </a:rPr>
              <a:t>https://www.corda.net</a:t>
            </a:r>
            <a:r>
              <a:rPr lang="en-US" sz="1600" dirty="0" smtClean="0">
                <a:hlinkClick r:id="rId3"/>
              </a:rPr>
              <a:t>/</a:t>
            </a:r>
            <a:endParaRPr lang="en-US" sz="1600" dirty="0" smtClean="0"/>
          </a:p>
          <a:p>
            <a:pPr>
              <a:buNone/>
            </a:pPr>
            <a:endParaRPr lang="en-US" sz="1600" dirty="0" smtClean="0"/>
          </a:p>
          <a:p>
            <a:pPr>
              <a:buNone/>
            </a:pPr>
            <a:r>
              <a:rPr lang="en-US" sz="1600" dirty="0" smtClean="0">
                <a:hlinkClick r:id="rId4"/>
              </a:rPr>
              <a:t>https://www.jpmorgan.com/global/Quorum</a:t>
            </a:r>
            <a:endParaRPr lang="en-US" sz="1600" dirty="0" smtClean="0"/>
          </a:p>
          <a:p>
            <a:pPr>
              <a:buNone/>
            </a:pPr>
            <a:r>
              <a:rPr lang="en-US" sz="1600" dirty="0" smtClean="0">
                <a:hlinkClick r:id="rId5"/>
              </a:rPr>
              <a:t>https://github.com/jpmorganchase/quorum</a:t>
            </a:r>
            <a:endParaRPr lang="en-US" sz="1600" dirty="0" smtClean="0"/>
          </a:p>
          <a:p>
            <a:pPr>
              <a:buNone/>
            </a:pPr>
            <a:r>
              <a:rPr lang="en-US" sz="1600" dirty="0" smtClean="0">
                <a:hlinkClick r:id="rId6"/>
              </a:rPr>
              <a:t>https://consensys.net/quorum-2</a:t>
            </a:r>
            <a:r>
              <a:rPr lang="en-US" sz="1600" dirty="0" smtClean="0">
                <a:hlinkClick r:id="rId6"/>
              </a:rPr>
              <a:t>/</a:t>
            </a:r>
            <a:endParaRPr lang="en-US" sz="1600" dirty="0" smtClean="0"/>
          </a:p>
          <a:p>
            <a:pPr>
              <a:buNone/>
            </a:pPr>
            <a:endParaRPr lang="en-US" sz="1600" dirty="0" smtClean="0"/>
          </a:p>
          <a:p>
            <a:pPr>
              <a:buNone/>
            </a:pPr>
            <a:r>
              <a:rPr lang="en-US" sz="1600" dirty="0" smtClean="0">
                <a:hlinkClick r:id="rId7"/>
              </a:rPr>
              <a:t>https://chain.com</a:t>
            </a:r>
            <a:endParaRPr lang="en-US" sz="1600"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1846</TotalTime>
  <Words>1334</Words>
  <Application>Microsoft Office PowerPoint</Application>
  <PresentationFormat>On-screen Show (4:3)</PresentationFormat>
  <Paragraphs>163</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Multichain and other Permissioned Blockchains: Corda, Quorum, Chain</vt:lpstr>
      <vt:lpstr>Multichain</vt:lpstr>
      <vt:lpstr>Multichain</vt:lpstr>
      <vt:lpstr>Permissions</vt:lpstr>
      <vt:lpstr>Permissions</vt:lpstr>
      <vt:lpstr>Assets</vt:lpstr>
      <vt:lpstr>Streams</vt:lpstr>
      <vt:lpstr>Streams Basics</vt:lpstr>
      <vt:lpstr>Streams Basics</vt:lpstr>
      <vt:lpstr>Streams Basics</vt:lpstr>
      <vt:lpstr>Retrieving Data from Streams</vt:lpstr>
      <vt:lpstr>What about smart contracts?</vt:lpstr>
      <vt:lpstr>Smart Contracts Shortcomings</vt:lpstr>
      <vt:lpstr>Smart Contracts Shortcomings</vt:lpstr>
      <vt:lpstr>R3 and Corda</vt:lpstr>
      <vt:lpstr>Quorum</vt:lpstr>
      <vt:lpstr>Chain Core</vt:lpstr>
      <vt:lpstr>References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Multichain</dc:title>
  <dc:creator>BP - FL</dc:creator>
  <cp:lastModifiedBy>BP - FL</cp:lastModifiedBy>
  <cp:revision>19</cp:revision>
  <dcterms:created xsi:type="dcterms:W3CDTF">2018-02-03T14:53:38Z</dcterms:created>
  <dcterms:modified xsi:type="dcterms:W3CDTF">2019-05-19T12:30:47Z</dcterms:modified>
</cp:coreProperties>
</file>