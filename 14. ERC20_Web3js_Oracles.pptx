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68" r:id="rId5"/>
    <p:sldId id="257" r:id="rId6"/>
    <p:sldId id="259" r:id="rId7"/>
    <p:sldId id="271" r:id="rId8"/>
    <p:sldId id="269" r:id="rId9"/>
    <p:sldId id="260" r:id="rId10"/>
    <p:sldId id="261" r:id="rId11"/>
    <p:sldId id="262" r:id="rId12"/>
    <p:sldId id="263" r:id="rId13"/>
    <p:sldId id="270" r:id="rId14"/>
    <p:sldId id="264" r:id="rId15"/>
    <p:sldId id="272" r:id="rId16"/>
    <p:sldId id="273" r:id="rId17"/>
    <p:sldId id="274" r:id="rId18"/>
    <p:sldId id="275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0F4EB-A392-4882-81AA-D6C5DBDF47A3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09335-D395-4655-B8A4-C3B6895E09E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therscan.io/token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thereum/EIPs/blob/master/EIPS/eip-20.m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nsenSys/Tokens/blob/fdf687c69d998266a95f15216b1955a4965a0a6d/contracts/eip20/EIP20.so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lidity.readthedocs.io/en/develop/contracts.html" TargetMode="External"/><Relationship Id="rId2" Type="http://schemas.openxmlformats.org/officeDocument/2006/relationships/hyperlink" Target="https://github.com/OpenZeppelin/openzeppelin-solidity/blob/9b3710465583284b8c4c5d2245749246bb2e0094/contracts/token/ERC20/ERC20.so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erc721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3js.readthedocs.io/en/1.0/" TargetMode="External"/><Relationship Id="rId2" Type="http://schemas.openxmlformats.org/officeDocument/2006/relationships/hyperlink" Target="https://github.com/ethereum/web3.j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ppuniversity.com/articles/web3-js-intr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thereum.stackexchange.com/questions/11589/how-do-oracle-services-work-under-the-hoo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ize.it/" TargetMode="External"/><Relationship Id="rId2" Type="http://schemas.openxmlformats.org/officeDocument/2006/relationships/hyperlink" Target="http://www.oraclize.it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acliz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hain.link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it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ERC-20, Web3.js, Oracles</a:t>
            </a:r>
            <a:endParaRPr lang="en-US" dirty="0"/>
          </a:p>
        </p:txBody>
      </p:sp>
      <p:sp>
        <p:nvSpPr>
          <p:cNvPr id="4" name="Subtitle 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Bernard Parenteau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bparente@fit.edu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600" dirty="0" smtClean="0">
                <a:solidFill>
                  <a:schemeClr val="tx1">
                    <a:tint val="75000"/>
                  </a:schemeClr>
                </a:solidFill>
              </a:rPr>
              <a:t>February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2019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ERC-20 token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ERC-20 is a specification of an interface that tokens trading on the Ethereum network should implement</a:t>
            </a:r>
          </a:p>
          <a:p>
            <a:endParaRPr lang="en-US" sz="2400" dirty="0"/>
          </a:p>
          <a:p>
            <a:r>
              <a:rPr lang="en-US" sz="2400" dirty="0" smtClean="0"/>
              <a:t>Many tokens that now have, and trade on, their own networks began trading as ICOs implementing the ERC-20 spec on the Ethereum network</a:t>
            </a:r>
          </a:p>
          <a:p>
            <a:pPr lvl="1"/>
            <a:r>
              <a:rPr lang="en-US" sz="2000" dirty="0" smtClean="0"/>
              <a:t>EOS (until June 2018)</a:t>
            </a:r>
          </a:p>
          <a:p>
            <a:pPr lvl="1"/>
            <a:r>
              <a:rPr lang="en-US" sz="2000" dirty="0" smtClean="0"/>
              <a:t>TRON (until June 2018)</a:t>
            </a:r>
          </a:p>
          <a:p>
            <a:r>
              <a:rPr lang="en-US" sz="2400" dirty="0" smtClean="0"/>
              <a:t>Many tokens still trade as ERC20 tokens on Eth</a:t>
            </a:r>
          </a:p>
          <a:p>
            <a:r>
              <a:rPr lang="en-US" sz="2400" dirty="0" smtClean="0">
                <a:hlinkClick r:id="rId2"/>
              </a:rPr>
              <a:t>https://etherscan.io/tokens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ERC-20 token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As you may be able to see from the following link, it’s an EIP or Ethereum Improvement Proposal, and is actually very simple</a:t>
            </a:r>
            <a:endParaRPr lang="en-US" sz="2400" dirty="0"/>
          </a:p>
          <a:p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github.com/ethereum/EIPs/blob/master/EIPS/eip-20.md</a:t>
            </a:r>
            <a:endParaRPr lang="en-US" sz="2000" u="sng" dirty="0" smtClean="0"/>
          </a:p>
          <a:p>
            <a:endParaRPr lang="en-US" sz="2400" dirty="0" smtClean="0"/>
          </a:p>
          <a:p>
            <a:r>
              <a:rPr lang="en-US" sz="2400" dirty="0" smtClean="0"/>
              <a:t>It contains the following optional properties, as well as the interface on the following slide</a:t>
            </a:r>
          </a:p>
          <a:p>
            <a:pPr>
              <a:buNone/>
            </a:pPr>
            <a:r>
              <a:rPr lang="en-US" sz="2000" i="1" dirty="0" smtClean="0"/>
              <a:t>string </a:t>
            </a:r>
            <a:r>
              <a:rPr lang="en-US" sz="2000" b="1" i="1" dirty="0"/>
              <a:t>public</a:t>
            </a:r>
            <a:r>
              <a:rPr lang="en-US" sz="2000" i="1" dirty="0"/>
              <a:t> constant name = "Token Name";    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string </a:t>
            </a:r>
            <a:r>
              <a:rPr lang="en-US" sz="2000" b="1" i="1" dirty="0"/>
              <a:t>public</a:t>
            </a:r>
            <a:r>
              <a:rPr lang="en-US" sz="2000" i="1" dirty="0"/>
              <a:t> constant symbol = "SYM";    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uint8 </a:t>
            </a:r>
            <a:r>
              <a:rPr lang="en-US" sz="2000" b="1" i="1" dirty="0"/>
              <a:t>public</a:t>
            </a:r>
            <a:r>
              <a:rPr lang="en-US" sz="2000" i="1" dirty="0"/>
              <a:t> constant decimals = 18;  // 18 is the most common number of decimal places</a:t>
            </a:r>
            <a:endParaRPr lang="en-US" sz="2000" i="1" dirty="0" smtClean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ERC-20 token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i="1" dirty="0" smtClean="0"/>
              <a:t>// </a:t>
            </a:r>
            <a:r>
              <a:rPr lang="en-US" sz="1400" i="1" dirty="0"/>
              <a:t>----------------------------------------------------------------------------</a:t>
            </a:r>
            <a:endParaRPr lang="en-US" sz="1400" dirty="0"/>
          </a:p>
          <a:p>
            <a:r>
              <a:rPr lang="en-US" sz="1400" dirty="0"/>
              <a:t> 2 </a:t>
            </a:r>
            <a:r>
              <a:rPr lang="en-US" sz="1400" i="1" dirty="0"/>
              <a:t>// ERC Token Standard #20 Interface</a:t>
            </a:r>
            <a:endParaRPr lang="en-US" sz="1400" dirty="0"/>
          </a:p>
          <a:p>
            <a:r>
              <a:rPr lang="en-US" sz="1400" dirty="0"/>
              <a:t> 3 </a:t>
            </a:r>
            <a:r>
              <a:rPr lang="en-US" sz="1400" i="1" dirty="0"/>
              <a:t>// https://github.com/ethereum/EIPs/blob/master/EIPS/eip-20.md</a:t>
            </a:r>
            <a:endParaRPr lang="en-US" sz="1400" dirty="0"/>
          </a:p>
          <a:p>
            <a:r>
              <a:rPr lang="en-US" sz="1400" dirty="0"/>
              <a:t> 4 </a:t>
            </a:r>
            <a:r>
              <a:rPr lang="en-US" sz="1400" i="1" dirty="0"/>
              <a:t>// ----------------------------------------------------------------------------</a:t>
            </a:r>
            <a:endParaRPr lang="en-US" sz="1400" dirty="0"/>
          </a:p>
          <a:p>
            <a:r>
              <a:rPr lang="en-US" sz="1400" dirty="0"/>
              <a:t> 5 contract ERC20Interface {</a:t>
            </a:r>
          </a:p>
          <a:p>
            <a:r>
              <a:rPr lang="en-US" sz="1400" dirty="0"/>
              <a:t> 6     </a:t>
            </a:r>
            <a:r>
              <a:rPr lang="en-US" sz="1400" b="1" dirty="0"/>
              <a:t>function</a:t>
            </a:r>
            <a:r>
              <a:rPr lang="en-US" sz="1400" dirty="0"/>
              <a:t> </a:t>
            </a:r>
            <a:r>
              <a:rPr lang="en-US" sz="1400" dirty="0" err="1"/>
              <a:t>totalSupply</a:t>
            </a:r>
            <a:r>
              <a:rPr lang="en-US" sz="1400" dirty="0"/>
              <a:t>() </a:t>
            </a:r>
            <a:r>
              <a:rPr lang="en-US" sz="1400" b="1" dirty="0"/>
              <a:t>public</a:t>
            </a:r>
            <a:r>
              <a:rPr lang="en-US" sz="1400" dirty="0"/>
              <a:t> view returns (</a:t>
            </a:r>
            <a:r>
              <a:rPr lang="en-US" sz="1400" dirty="0" err="1"/>
              <a:t>uint</a:t>
            </a:r>
            <a:r>
              <a:rPr lang="en-US" sz="1400" dirty="0"/>
              <a:t>);</a:t>
            </a:r>
          </a:p>
          <a:p>
            <a:r>
              <a:rPr lang="en-US" sz="1400" dirty="0"/>
              <a:t> 7     </a:t>
            </a:r>
            <a:r>
              <a:rPr lang="en-US" sz="1400" b="1" dirty="0"/>
              <a:t>function</a:t>
            </a:r>
            <a:r>
              <a:rPr lang="en-US" sz="1400" dirty="0"/>
              <a:t> </a:t>
            </a:r>
            <a:r>
              <a:rPr lang="en-US" sz="1400" dirty="0" err="1"/>
              <a:t>balanceOf</a:t>
            </a:r>
            <a:r>
              <a:rPr lang="en-US" sz="1400" dirty="0"/>
              <a:t>(address </a:t>
            </a:r>
            <a:r>
              <a:rPr lang="en-US" sz="1400" dirty="0" err="1"/>
              <a:t>tokenOwner</a:t>
            </a:r>
            <a:r>
              <a:rPr lang="en-US" sz="1400" dirty="0"/>
              <a:t>) </a:t>
            </a:r>
            <a:r>
              <a:rPr lang="en-US" sz="1400" b="1" dirty="0"/>
              <a:t>public</a:t>
            </a:r>
            <a:r>
              <a:rPr lang="en-US" sz="1400" dirty="0"/>
              <a:t> view returns (</a:t>
            </a:r>
            <a:r>
              <a:rPr lang="en-US" sz="1400" dirty="0" err="1"/>
              <a:t>uint</a:t>
            </a:r>
            <a:r>
              <a:rPr lang="en-US" sz="1400" dirty="0"/>
              <a:t> balance);</a:t>
            </a:r>
          </a:p>
          <a:p>
            <a:r>
              <a:rPr lang="en-US" sz="1400" dirty="0"/>
              <a:t> 8     </a:t>
            </a:r>
            <a:r>
              <a:rPr lang="en-US" sz="1400" b="1" dirty="0"/>
              <a:t>function</a:t>
            </a:r>
            <a:r>
              <a:rPr lang="en-US" sz="1400" dirty="0"/>
              <a:t> allowance(address </a:t>
            </a:r>
            <a:r>
              <a:rPr lang="en-US" sz="1400" dirty="0" err="1"/>
              <a:t>tokenOwner</a:t>
            </a:r>
            <a:r>
              <a:rPr lang="en-US" sz="1400" dirty="0"/>
              <a:t>, address spender) </a:t>
            </a:r>
            <a:r>
              <a:rPr lang="en-US" sz="1400" b="1" dirty="0"/>
              <a:t>public</a:t>
            </a:r>
            <a:r>
              <a:rPr lang="en-US" sz="1400" dirty="0"/>
              <a:t> view returns (</a:t>
            </a:r>
            <a:r>
              <a:rPr lang="en-US" sz="1400" dirty="0" err="1"/>
              <a:t>uint</a:t>
            </a:r>
            <a:r>
              <a:rPr lang="en-US" sz="1400" dirty="0"/>
              <a:t> remaining);</a:t>
            </a:r>
          </a:p>
          <a:p>
            <a:r>
              <a:rPr lang="en-US" sz="1400" dirty="0"/>
              <a:t> 9     </a:t>
            </a:r>
            <a:r>
              <a:rPr lang="en-US" sz="1400" b="1" dirty="0"/>
              <a:t>function</a:t>
            </a:r>
            <a:r>
              <a:rPr lang="en-US" sz="1400" dirty="0"/>
              <a:t> transfer(address to, </a:t>
            </a:r>
            <a:r>
              <a:rPr lang="en-US" sz="1400" dirty="0" err="1"/>
              <a:t>uint</a:t>
            </a:r>
            <a:r>
              <a:rPr lang="en-US" sz="1400" dirty="0"/>
              <a:t> tokens) </a:t>
            </a:r>
            <a:r>
              <a:rPr lang="en-US" sz="1400" b="1" dirty="0"/>
              <a:t>public</a:t>
            </a:r>
            <a:r>
              <a:rPr lang="en-US" sz="1400" dirty="0"/>
              <a:t> returns (</a:t>
            </a:r>
            <a:r>
              <a:rPr lang="en-US" sz="1400" dirty="0" err="1"/>
              <a:t>bool</a:t>
            </a:r>
            <a:r>
              <a:rPr lang="en-US" sz="1400" dirty="0"/>
              <a:t> success);</a:t>
            </a:r>
          </a:p>
          <a:p>
            <a:r>
              <a:rPr lang="en-US" sz="1400" dirty="0"/>
              <a:t>10     </a:t>
            </a:r>
            <a:r>
              <a:rPr lang="en-US" sz="1400" b="1" dirty="0"/>
              <a:t>function</a:t>
            </a:r>
            <a:r>
              <a:rPr lang="en-US" sz="1400" dirty="0"/>
              <a:t> approve(address spender, </a:t>
            </a:r>
            <a:r>
              <a:rPr lang="en-US" sz="1400" dirty="0" err="1"/>
              <a:t>uint</a:t>
            </a:r>
            <a:r>
              <a:rPr lang="en-US" sz="1400" dirty="0"/>
              <a:t> tokens) </a:t>
            </a:r>
            <a:r>
              <a:rPr lang="en-US" sz="1400" b="1" dirty="0"/>
              <a:t>public</a:t>
            </a:r>
            <a:r>
              <a:rPr lang="en-US" sz="1400" dirty="0"/>
              <a:t> returns (</a:t>
            </a:r>
            <a:r>
              <a:rPr lang="en-US" sz="1400" dirty="0" err="1"/>
              <a:t>bool</a:t>
            </a:r>
            <a:r>
              <a:rPr lang="en-US" sz="1400" dirty="0"/>
              <a:t> success);</a:t>
            </a:r>
          </a:p>
          <a:p>
            <a:r>
              <a:rPr lang="en-US" sz="1400" dirty="0"/>
              <a:t>11     </a:t>
            </a:r>
            <a:r>
              <a:rPr lang="en-US" sz="1400" b="1" dirty="0"/>
              <a:t>function</a:t>
            </a:r>
            <a:r>
              <a:rPr lang="en-US" sz="1400" dirty="0"/>
              <a:t> </a:t>
            </a:r>
            <a:r>
              <a:rPr lang="en-US" sz="1400" dirty="0" err="1"/>
              <a:t>transferFrom</a:t>
            </a:r>
            <a:r>
              <a:rPr lang="en-US" sz="1400" dirty="0"/>
              <a:t>(address from, address to, </a:t>
            </a:r>
            <a:r>
              <a:rPr lang="en-US" sz="1400" dirty="0" err="1"/>
              <a:t>uint</a:t>
            </a:r>
            <a:r>
              <a:rPr lang="en-US" sz="1400" dirty="0"/>
              <a:t> tokens) </a:t>
            </a:r>
            <a:r>
              <a:rPr lang="en-US" sz="1400" b="1" dirty="0"/>
              <a:t>public</a:t>
            </a:r>
            <a:r>
              <a:rPr lang="en-US" sz="1400" dirty="0"/>
              <a:t> returns (</a:t>
            </a:r>
            <a:r>
              <a:rPr lang="en-US" sz="1400" dirty="0" err="1"/>
              <a:t>bool</a:t>
            </a:r>
            <a:r>
              <a:rPr lang="en-US" sz="1400" dirty="0"/>
              <a:t> success);</a:t>
            </a:r>
          </a:p>
          <a:p>
            <a:r>
              <a:rPr lang="en-US" sz="1400" dirty="0"/>
              <a:t>12 </a:t>
            </a:r>
          </a:p>
          <a:p>
            <a:r>
              <a:rPr lang="en-US" sz="1400" dirty="0"/>
              <a:t>13     event Transfer(address indexed from, address indexed to, </a:t>
            </a:r>
            <a:r>
              <a:rPr lang="en-US" sz="1400" dirty="0" err="1"/>
              <a:t>uint</a:t>
            </a:r>
            <a:r>
              <a:rPr lang="en-US" sz="1400" dirty="0"/>
              <a:t> tokens);</a:t>
            </a:r>
          </a:p>
          <a:p>
            <a:r>
              <a:rPr lang="en-US" sz="1400" dirty="0"/>
              <a:t>14     event Approval(address indexed </a:t>
            </a:r>
            <a:r>
              <a:rPr lang="en-US" sz="1400" dirty="0" err="1"/>
              <a:t>tokenOwner</a:t>
            </a:r>
            <a:r>
              <a:rPr lang="en-US" sz="1400" dirty="0"/>
              <a:t>, address indexed spender, </a:t>
            </a:r>
            <a:r>
              <a:rPr lang="en-US" sz="1400" dirty="0" err="1"/>
              <a:t>uint</a:t>
            </a:r>
            <a:r>
              <a:rPr lang="en-US" sz="1400" dirty="0"/>
              <a:t> tokens);</a:t>
            </a:r>
          </a:p>
          <a:p>
            <a:r>
              <a:rPr lang="en-US" sz="1400" dirty="0"/>
              <a:t>15 }</a:t>
            </a:r>
          </a:p>
          <a:p>
            <a:pPr>
              <a:buNone/>
            </a:pPr>
            <a:r>
              <a:rPr lang="en-US" sz="2000" dirty="0"/>
              <a:t> </a:t>
            </a:r>
          </a:p>
          <a:p>
            <a:endParaRPr lang="en-US" sz="20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ConsenSys</a:t>
            </a:r>
            <a:r>
              <a:rPr lang="en-US" dirty="0" smtClean="0"/>
              <a:t> ERC-20 Contract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u="sng" dirty="0" smtClean="0">
                <a:hlinkClick r:id="rId2"/>
              </a:rPr>
              <a:t>https</a:t>
            </a:r>
            <a:r>
              <a:rPr lang="en-US" sz="2000" u="sng" dirty="0">
                <a:hlinkClick r:id="rId2"/>
              </a:rPr>
              <a:t>://</a:t>
            </a:r>
            <a:r>
              <a:rPr lang="en-US" sz="2000" u="sng" dirty="0" smtClean="0">
                <a:hlinkClick r:id="rId2"/>
              </a:rPr>
              <a:t>github.com/ConsenSys/Tokens/blob/fdf687c69d998266a95f15216b1955a4965a0a6d/contracts/eip20/EIP20.sol</a:t>
            </a:r>
            <a:endParaRPr lang="en-US" sz="2000" u="sng" dirty="0" smtClean="0"/>
          </a:p>
          <a:p>
            <a:pPr>
              <a:buNone/>
            </a:pPr>
            <a:r>
              <a:rPr lang="en-US" sz="2000" dirty="0" smtClean="0"/>
              <a:t>Notes:</a:t>
            </a:r>
          </a:p>
          <a:p>
            <a:pPr>
              <a:buFontTx/>
              <a:buChar char="-"/>
            </a:pPr>
            <a:r>
              <a:rPr lang="en-US" sz="2000" dirty="0" err="1" smtClean="0"/>
              <a:t>pragma</a:t>
            </a:r>
            <a:r>
              <a:rPr lang="en-US" sz="2000" dirty="0" smtClean="0"/>
              <a:t> 0.4.21 so constructor is a function using the contact name</a:t>
            </a:r>
          </a:p>
          <a:p>
            <a:pPr>
              <a:buFontTx/>
              <a:buChar char="-"/>
            </a:pPr>
            <a:r>
              <a:rPr lang="en-US" sz="2000" dirty="0" smtClean="0"/>
              <a:t>Imports (same directory) and derives from EIP20Interface.sol</a:t>
            </a:r>
          </a:p>
          <a:p>
            <a:pPr>
              <a:buFontTx/>
              <a:buChar char="-"/>
            </a:pPr>
            <a:r>
              <a:rPr lang="en-US" sz="2000" dirty="0" smtClean="0"/>
              <a:t>Definition of MAX_UINT </a:t>
            </a:r>
          </a:p>
          <a:p>
            <a:pPr>
              <a:buFontTx/>
              <a:buChar char="-"/>
            </a:pPr>
            <a:r>
              <a:rPr lang="en-US" sz="2000" dirty="0" err="1" smtClean="0"/>
              <a:t>totalSupply</a:t>
            </a:r>
            <a:r>
              <a:rPr lang="en-US" sz="2000" dirty="0" smtClean="0"/>
              <a:t> is part of base contract</a:t>
            </a:r>
          </a:p>
          <a:p>
            <a:pPr>
              <a:buFontTx/>
              <a:buChar char="-"/>
            </a:pPr>
            <a:r>
              <a:rPr lang="en-US" sz="2000" dirty="0" smtClean="0"/>
              <a:t>transfer </a:t>
            </a:r>
            <a:r>
              <a:rPr lang="en-US" sz="2000" dirty="0" err="1" smtClean="0"/>
              <a:t>vs</a:t>
            </a:r>
            <a:r>
              <a:rPr lang="en-US" sz="2000" dirty="0" smtClean="0"/>
              <a:t> </a:t>
            </a:r>
            <a:r>
              <a:rPr lang="en-US" sz="2000" dirty="0" err="1" smtClean="0"/>
              <a:t>transferFrom</a:t>
            </a: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OpenZeppelin</a:t>
            </a:r>
            <a:r>
              <a:rPr lang="en-US" dirty="0" smtClean="0"/>
              <a:t> ERC-20 Contract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u="sng" dirty="0" smtClean="0">
                <a:hlinkClick r:id="rId2"/>
              </a:rPr>
              <a:t>https</a:t>
            </a:r>
            <a:r>
              <a:rPr lang="en-US" sz="2000" u="sng" dirty="0">
                <a:hlinkClick r:id="rId2"/>
              </a:rPr>
              <a:t>://</a:t>
            </a:r>
            <a:r>
              <a:rPr lang="en-US" sz="2000" u="sng" dirty="0" smtClean="0">
                <a:hlinkClick r:id="rId2"/>
              </a:rPr>
              <a:t>github.com/OpenZeppelin/openzeppelin-solidity/blob/9b3710465583284b8c4c5d2245749246bb2e0094/contracts/token/ERC20/ERC20.sol</a:t>
            </a:r>
            <a:endParaRPr lang="en-US" sz="2000" u="sng" dirty="0" smtClean="0"/>
          </a:p>
          <a:p>
            <a:pPr>
              <a:buFontTx/>
              <a:buChar char="-"/>
            </a:pPr>
            <a:r>
              <a:rPr lang="en-US" sz="2000" dirty="0" smtClean="0"/>
              <a:t>Also inherits from base interface</a:t>
            </a:r>
          </a:p>
          <a:p>
            <a:pPr>
              <a:buFontTx/>
              <a:buChar char="-"/>
            </a:pPr>
            <a:r>
              <a:rPr lang="en-US" sz="2000" dirty="0" smtClean="0"/>
              <a:t>Uses </a:t>
            </a:r>
            <a:r>
              <a:rPr lang="en-US" sz="2000" dirty="0" err="1" smtClean="0"/>
              <a:t>safeMath</a:t>
            </a:r>
            <a:r>
              <a:rPr lang="en-US" sz="2000" dirty="0" smtClean="0"/>
              <a:t> for </a:t>
            </a:r>
            <a:r>
              <a:rPr lang="en-US" sz="2000" dirty="0" err="1" smtClean="0"/>
              <a:t>uint</a:t>
            </a:r>
            <a:r>
              <a:rPr lang="en-US" sz="2000" dirty="0" smtClean="0"/>
              <a:t> arithmetic functions</a:t>
            </a:r>
          </a:p>
          <a:p>
            <a:pPr>
              <a:buNone/>
            </a:pPr>
            <a:r>
              <a:rPr lang="en-US" sz="2000" dirty="0" smtClean="0">
                <a:hlinkClick r:id="rId3"/>
              </a:rPr>
              <a:t>https://solidity.readthedocs.io/en/develop/contracts.html#using-for</a:t>
            </a:r>
            <a:endParaRPr lang="en-US" sz="2000" dirty="0" smtClean="0"/>
          </a:p>
          <a:p>
            <a:pPr>
              <a:buFontTx/>
              <a:buChar char="-"/>
            </a:pPr>
            <a:r>
              <a:rPr lang="en-US" sz="2000" dirty="0" smtClean="0"/>
              <a:t>Includes a number of additional functions:</a:t>
            </a:r>
          </a:p>
          <a:p>
            <a:pPr lvl="1">
              <a:buFontTx/>
              <a:buChar char="-"/>
            </a:pPr>
            <a:r>
              <a:rPr lang="en-US" sz="1800" dirty="0" err="1" smtClean="0"/>
              <a:t>increaseAllowance</a:t>
            </a:r>
            <a:r>
              <a:rPr lang="en-US" sz="1800" dirty="0" smtClean="0"/>
              <a:t>, </a:t>
            </a:r>
            <a:r>
              <a:rPr lang="en-US" sz="1800" dirty="0" err="1" smtClean="0"/>
              <a:t>decreaseAllowance</a:t>
            </a:r>
            <a:endParaRPr lang="en-US" sz="1800" dirty="0" smtClean="0"/>
          </a:p>
          <a:p>
            <a:pPr lvl="1">
              <a:buFontTx/>
              <a:buChar char="-"/>
            </a:pPr>
            <a:r>
              <a:rPr lang="en-US" sz="1800" dirty="0" smtClean="0"/>
              <a:t>_mint, _burn are internal; only callable from within the contract:</a:t>
            </a:r>
          </a:p>
          <a:p>
            <a:pPr lvl="1">
              <a:buFontTx/>
              <a:buChar char="-"/>
            </a:pPr>
            <a:r>
              <a:rPr lang="en-US" sz="1800" dirty="0" smtClean="0"/>
              <a:t>Specialized types of ERC20, deriving from ERC20.sol are in the same directory, and some of those use the _mint or _burn functions</a:t>
            </a:r>
          </a:p>
          <a:p>
            <a:pPr lvl="1">
              <a:buFontTx/>
              <a:buChar char="-"/>
            </a:pPr>
            <a:endParaRPr lang="en-US" sz="1600" dirty="0" smtClean="0"/>
          </a:p>
          <a:p>
            <a:pPr>
              <a:buFontTx/>
              <a:buChar char="-"/>
            </a:pP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ERC-20, ERC-721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ERC-20 tokens are fungible; one token is exactly equivalent and indistinguishable from another, like most currency: If you have $100 in an account and pay a merchant $50,  you do not have to specify exactly which 50 of the 100 dollars you are paying; they are all the same.</a:t>
            </a:r>
          </a:p>
          <a:p>
            <a:endParaRPr lang="en-US" sz="2000" dirty="0" smtClean="0"/>
          </a:p>
          <a:p>
            <a:r>
              <a:rPr lang="en-US" sz="2000" dirty="0" smtClean="0"/>
              <a:t>ERC-721 is for non-fungible tokens.</a:t>
            </a:r>
          </a:p>
          <a:p>
            <a:r>
              <a:rPr lang="en-US" sz="2000" dirty="0" smtClean="0"/>
              <a:t>So the tokens represent a “class” of tokens comprising any number of unique tokens.</a:t>
            </a:r>
          </a:p>
          <a:p>
            <a:r>
              <a:rPr lang="en-US" sz="2000" dirty="0" smtClean="0">
                <a:hlinkClick r:id="rId2"/>
              </a:rPr>
              <a:t>http://erc721.org/</a:t>
            </a:r>
            <a:endParaRPr lang="en-US" sz="2000" dirty="0"/>
          </a:p>
          <a:p>
            <a:r>
              <a:rPr lang="en-US" sz="2000" dirty="0" err="1" smtClean="0"/>
              <a:t>OpenZeppelin</a:t>
            </a:r>
            <a:r>
              <a:rPr lang="en-US" sz="2000" dirty="0" smtClean="0"/>
              <a:t> has an implementation of this spec</a:t>
            </a:r>
          </a:p>
          <a:p>
            <a:r>
              <a:rPr lang="en-US" sz="2000" dirty="0" err="1" smtClean="0"/>
              <a:t>OpenZeppelin</a:t>
            </a:r>
            <a:r>
              <a:rPr lang="en-US" sz="2000" dirty="0" smtClean="0"/>
              <a:t> also has contracts for a number of other use cases.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Web3.js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web3.js is a collection of libraries which allow you </a:t>
            </a:r>
            <a:r>
              <a:rPr lang="en-US" sz="2000" dirty="0" smtClean="0"/>
              <a:t>to use javascript to query and send commands to an ethereum network (</a:t>
            </a:r>
            <a:r>
              <a:rPr lang="en-US" sz="2000" dirty="0" err="1" smtClean="0"/>
              <a:t>mainnet</a:t>
            </a:r>
            <a:r>
              <a:rPr lang="en-US" sz="2000" dirty="0" smtClean="0"/>
              <a:t>, a </a:t>
            </a:r>
            <a:r>
              <a:rPr lang="en-US" sz="2000" dirty="0" err="1" smtClean="0"/>
              <a:t>testnet</a:t>
            </a:r>
            <a:r>
              <a:rPr lang="en-US" sz="2000" dirty="0" smtClean="0"/>
              <a:t>, or a local test network) via </a:t>
            </a:r>
            <a:r>
              <a:rPr lang="en-US" sz="2000" dirty="0"/>
              <a:t>a local or remote ethereum node, using </a:t>
            </a:r>
            <a:r>
              <a:rPr lang="en-US" sz="2000" dirty="0" smtClean="0"/>
              <a:t>an </a:t>
            </a:r>
            <a:r>
              <a:rPr lang="en-US" sz="2000" dirty="0"/>
              <a:t>HTTP or IPC connection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dirty="0" smtClean="0"/>
              <a:t>It can be found at</a:t>
            </a:r>
          </a:p>
          <a:p>
            <a:pPr>
              <a:buNone/>
            </a:pPr>
            <a:r>
              <a:rPr lang="en-US" sz="2000" dirty="0" smtClean="0">
                <a:hlinkClick r:id="rId2"/>
              </a:rPr>
              <a:t>https://github.com/ethereum/web3.js/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Which also contains info on installation, usage, as well as similar libraries for other languages like python and </a:t>
            </a:r>
            <a:r>
              <a:rPr lang="en-US" sz="2000" dirty="0" err="1" smtClean="0"/>
              <a:t>php</a:t>
            </a:r>
            <a:r>
              <a:rPr lang="en-US" sz="2000" dirty="0" smtClean="0"/>
              <a:t> (see the bottom of that page)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 smtClean="0"/>
              <a:t>Documentation can be found at</a:t>
            </a:r>
          </a:p>
          <a:p>
            <a:pPr>
              <a:buNone/>
            </a:pPr>
            <a:r>
              <a:rPr lang="en-US" sz="2000" dirty="0" smtClean="0">
                <a:hlinkClick r:id="rId3"/>
              </a:rPr>
              <a:t>https://web3js.readthedocs.io/en/1.0/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web3.js tutorial: part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 smtClean="0"/>
              <a:t>There are several web3.js tutorials online, and the following is the example that we’ll use the first part of. Note; if you’re looking for another tutorial, be sure to refer only to recent ones, as specs change fairly rapidly in this space</a:t>
            </a:r>
          </a:p>
          <a:p>
            <a:pPr>
              <a:buNone/>
            </a:pPr>
            <a:r>
              <a:rPr lang="en-US" sz="2400" dirty="0" smtClean="0">
                <a:hlinkClick r:id="rId2"/>
              </a:rPr>
              <a:t>http://www.dappuniversity.com/articles/web3-js-intro</a:t>
            </a:r>
            <a:endParaRPr lang="en-US" sz="2400" dirty="0" smtClean="0"/>
          </a:p>
          <a:p>
            <a:pPr>
              <a:buNone/>
            </a:pPr>
            <a:r>
              <a:rPr lang="en-US" sz="2000" dirty="0" smtClean="0"/>
              <a:t>From the first section (see the text below the video)</a:t>
            </a:r>
          </a:p>
          <a:p>
            <a:r>
              <a:rPr lang="en-US" sz="2000" dirty="0" err="1" smtClean="0"/>
              <a:t>npm</a:t>
            </a:r>
            <a:r>
              <a:rPr lang="en-US" sz="2000" dirty="0" smtClean="0"/>
              <a:t> </a:t>
            </a:r>
            <a:r>
              <a:rPr lang="en-US" sz="2000" dirty="0"/>
              <a:t>install web3</a:t>
            </a:r>
          </a:p>
          <a:p>
            <a:r>
              <a:rPr lang="en-US" sz="2000" dirty="0"/>
              <a:t>get infura.io account – use </a:t>
            </a:r>
            <a:r>
              <a:rPr lang="en-US" sz="2000" dirty="0" err="1"/>
              <a:t>Ropsten</a:t>
            </a:r>
            <a:endParaRPr lang="en-US" sz="2000" dirty="0"/>
          </a:p>
          <a:p>
            <a:r>
              <a:rPr lang="en-US" sz="2000" dirty="0"/>
              <a:t>check </a:t>
            </a:r>
            <a:r>
              <a:rPr lang="en-US" sz="2000" dirty="0" err="1"/>
              <a:t>metamask</a:t>
            </a:r>
            <a:r>
              <a:rPr lang="en-US" sz="2000" dirty="0"/>
              <a:t> to get address</a:t>
            </a:r>
          </a:p>
          <a:p>
            <a:r>
              <a:rPr lang="en-US" sz="2000" dirty="0"/>
              <a:t>put funds </a:t>
            </a:r>
            <a:r>
              <a:rPr lang="en-US" sz="2000" dirty="0" smtClean="0"/>
              <a:t>in the </a:t>
            </a:r>
            <a:r>
              <a:rPr lang="en-US" sz="2000" dirty="0" err="1" smtClean="0"/>
              <a:t>accout</a:t>
            </a:r>
            <a:r>
              <a:rPr lang="en-US" sz="2000" dirty="0" smtClean="0"/>
              <a:t> </a:t>
            </a:r>
            <a:r>
              <a:rPr lang="en-US" sz="2000" dirty="0"/>
              <a:t>via </a:t>
            </a:r>
            <a:r>
              <a:rPr lang="en-US" sz="2000" dirty="0" err="1"/>
              <a:t>testfaucet</a:t>
            </a:r>
            <a:endParaRPr lang="en-US" sz="2000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web3.js tutorial: part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/>
              <a:t>Note</a:t>
            </a:r>
            <a:r>
              <a:rPr lang="en-US" sz="1600" dirty="0"/>
              <a:t>: </a:t>
            </a:r>
            <a:r>
              <a:rPr lang="en-US" sz="1600" dirty="0" smtClean="0"/>
              <a:t>there are a </a:t>
            </a:r>
            <a:r>
              <a:rPr lang="en-US" sz="1600" dirty="0"/>
              <a:t>few issues with the tutorial </a:t>
            </a:r>
            <a:r>
              <a:rPr lang="en-US" sz="1600" dirty="0" smtClean="0"/>
              <a:t>text:</a:t>
            </a:r>
            <a:endParaRPr lang="en-US" sz="1600" dirty="0"/>
          </a:p>
          <a:p>
            <a:r>
              <a:rPr lang="en-US" sz="1600" dirty="0" smtClean="0"/>
              <a:t>Use </a:t>
            </a:r>
            <a:r>
              <a:rPr lang="en-US" sz="1600" dirty="0"/>
              <a:t>either </a:t>
            </a:r>
            <a:r>
              <a:rPr lang="en-US" sz="1600" dirty="0" err="1"/>
              <a:t>var</a:t>
            </a:r>
            <a:r>
              <a:rPr lang="en-US" sz="1600" dirty="0"/>
              <a:t> address or </a:t>
            </a:r>
            <a:r>
              <a:rPr lang="en-US" sz="1600" dirty="0" err="1"/>
              <a:t>var</a:t>
            </a:r>
            <a:r>
              <a:rPr lang="en-US" sz="1600" dirty="0"/>
              <a:t> account; the tutorial text mixes </a:t>
            </a:r>
            <a:r>
              <a:rPr lang="en-US" sz="1600" dirty="0" smtClean="0"/>
              <a:t>them.</a:t>
            </a:r>
            <a:endParaRPr lang="en-US" sz="1600" dirty="0"/>
          </a:p>
          <a:p>
            <a:r>
              <a:rPr lang="en-US" sz="1600" dirty="0"/>
              <a:t> A</a:t>
            </a:r>
            <a:r>
              <a:rPr lang="en-US" sz="1600" dirty="0" smtClean="0"/>
              <a:t>nd  </a:t>
            </a:r>
            <a:r>
              <a:rPr lang="en-US" sz="1600" dirty="0"/>
              <a:t>if you just do as the tutorial says, with</a:t>
            </a:r>
          </a:p>
          <a:p>
            <a:pPr lvl="2"/>
            <a:r>
              <a:rPr lang="en-US" sz="1800" i="1" dirty="0"/>
              <a:t>web3.eth.getBalance(address, (err, </a:t>
            </a:r>
            <a:r>
              <a:rPr lang="en-US" sz="1800" i="1" dirty="0" err="1"/>
              <a:t>wei</a:t>
            </a:r>
            <a:r>
              <a:rPr lang="en-US" sz="1800" i="1" dirty="0"/>
              <a:t>) =&gt; {</a:t>
            </a:r>
          </a:p>
          <a:p>
            <a:pPr lvl="2"/>
            <a:r>
              <a:rPr lang="en-US" sz="1800" i="1" dirty="0"/>
              <a:t>  balance = web3.utils.fromWei(</a:t>
            </a:r>
            <a:r>
              <a:rPr lang="en-US" sz="1800" i="1" dirty="0" err="1"/>
              <a:t>wei</a:t>
            </a:r>
            <a:r>
              <a:rPr lang="en-US" sz="1800" i="1" dirty="0"/>
              <a:t>, 'ether')</a:t>
            </a:r>
          </a:p>
          <a:p>
            <a:pPr lvl="2"/>
            <a:r>
              <a:rPr lang="en-US" sz="1800" i="1" dirty="0"/>
              <a:t>})</a:t>
            </a:r>
          </a:p>
          <a:p>
            <a:r>
              <a:rPr lang="en-US" sz="1600" dirty="0"/>
              <a:t> </a:t>
            </a:r>
            <a:r>
              <a:rPr lang="en-US" sz="1600" dirty="0" smtClean="0"/>
              <a:t>you </a:t>
            </a:r>
            <a:r>
              <a:rPr lang="en-US" sz="1600" dirty="0"/>
              <a:t>won’t see the result; you’ll get something like</a:t>
            </a:r>
          </a:p>
          <a:p>
            <a:pPr lvl="2"/>
            <a:r>
              <a:rPr lang="en-US" sz="1800" i="1" dirty="0"/>
              <a:t>Promise {</a:t>
            </a:r>
          </a:p>
          <a:p>
            <a:pPr lvl="2"/>
            <a:r>
              <a:rPr lang="en-US" sz="1800" i="1" dirty="0"/>
              <a:t>  &lt;pending&gt;,</a:t>
            </a:r>
          </a:p>
          <a:p>
            <a:pPr lvl="2"/>
            <a:r>
              <a:rPr lang="en-US" sz="1800" i="1" dirty="0"/>
              <a:t>  domain:</a:t>
            </a:r>
          </a:p>
          <a:p>
            <a:pPr lvl="2"/>
            <a:r>
              <a:rPr lang="en-US" sz="1800" i="1" dirty="0"/>
              <a:t>   Domain {</a:t>
            </a:r>
          </a:p>
          <a:p>
            <a:pPr lvl="2"/>
            <a:r>
              <a:rPr lang="en-US" sz="1800" i="1" dirty="0"/>
              <a:t>     domain: null,</a:t>
            </a:r>
          </a:p>
          <a:p>
            <a:pPr lvl="2"/>
            <a:r>
              <a:rPr lang="en-US" sz="1800" i="1" dirty="0"/>
              <a:t>     _events: { error: [Function: </a:t>
            </a:r>
            <a:r>
              <a:rPr lang="en-US" sz="1800" i="1" dirty="0" err="1"/>
              <a:t>debugDomainError</a:t>
            </a:r>
            <a:r>
              <a:rPr lang="en-US" sz="1800" i="1" dirty="0"/>
              <a:t>] },</a:t>
            </a:r>
          </a:p>
          <a:p>
            <a:pPr lvl="2"/>
            <a:r>
              <a:rPr lang="en-US" sz="1800" i="1" dirty="0"/>
              <a:t>     _</a:t>
            </a:r>
            <a:r>
              <a:rPr lang="en-US" sz="1800" i="1" dirty="0" err="1"/>
              <a:t>eventsCount</a:t>
            </a:r>
            <a:r>
              <a:rPr lang="en-US" sz="1800" i="1" dirty="0"/>
              <a:t>: 1,</a:t>
            </a:r>
          </a:p>
          <a:p>
            <a:pPr lvl="2"/>
            <a:r>
              <a:rPr lang="en-US" sz="1800" i="1" dirty="0"/>
              <a:t>     _</a:t>
            </a:r>
            <a:r>
              <a:rPr lang="en-US" sz="1800" i="1" dirty="0" err="1"/>
              <a:t>maxListeners</a:t>
            </a:r>
            <a:r>
              <a:rPr lang="en-US" sz="1800" i="1" dirty="0"/>
              <a:t>: undefined,</a:t>
            </a:r>
          </a:p>
          <a:p>
            <a:pPr lvl="2"/>
            <a:r>
              <a:rPr lang="en-US" sz="1800" i="1" dirty="0"/>
              <a:t>     members: [] } </a:t>
            </a:r>
            <a:r>
              <a:rPr lang="en-US" sz="1800" i="1" dirty="0" smtClean="0"/>
              <a:t>}</a:t>
            </a:r>
            <a:endParaRPr lang="en-US" sz="18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web3.js tutorial: part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The </a:t>
            </a:r>
            <a:r>
              <a:rPr lang="en-US" sz="1600" dirty="0"/>
              <a:t>reason is that it’s calling an </a:t>
            </a:r>
            <a:r>
              <a:rPr lang="en-US" sz="1600" dirty="0" err="1"/>
              <a:t>async</a:t>
            </a:r>
            <a:r>
              <a:rPr lang="en-US" sz="1600" dirty="0"/>
              <a:t> function without waiting for a call back</a:t>
            </a:r>
          </a:p>
          <a:p>
            <a:pPr>
              <a:buNone/>
            </a:pPr>
            <a:r>
              <a:rPr lang="en-US" sz="1600" dirty="0"/>
              <a:t> </a:t>
            </a:r>
          </a:p>
          <a:p>
            <a:r>
              <a:rPr lang="en-US" sz="1600" dirty="0"/>
              <a:t>You have to define the variables as </a:t>
            </a:r>
            <a:r>
              <a:rPr lang="en-US" sz="1600" dirty="0" smtClean="0"/>
              <a:t>follows (in node, after defining Web3, </a:t>
            </a:r>
            <a:r>
              <a:rPr lang="en-US" sz="1600" dirty="0" err="1" smtClean="0"/>
              <a:t>rpcURL</a:t>
            </a:r>
            <a:r>
              <a:rPr lang="en-US" sz="1600" dirty="0" smtClean="0"/>
              <a:t>, web3 and the address as per the demo); </a:t>
            </a:r>
            <a:endParaRPr lang="en-US" sz="1600" dirty="0"/>
          </a:p>
          <a:p>
            <a:r>
              <a:rPr lang="en-US" sz="1600" dirty="0"/>
              <a:t>first define a function that calls web3 to get the balance at the address</a:t>
            </a:r>
          </a:p>
          <a:p>
            <a:pPr lvl="2"/>
            <a:r>
              <a:rPr lang="en-US" sz="1800" i="1" dirty="0" err="1"/>
              <a:t>var</a:t>
            </a:r>
            <a:r>
              <a:rPr lang="en-US" sz="1800" i="1" dirty="0"/>
              <a:t> get = () =&gt; web3.eth.getBalance(address, (err, </a:t>
            </a:r>
            <a:r>
              <a:rPr lang="en-US" sz="1800" i="1" dirty="0" err="1"/>
              <a:t>wei</a:t>
            </a:r>
            <a:r>
              <a:rPr lang="en-US" sz="1800" i="1" dirty="0"/>
              <a:t>) =&gt; {balance = </a:t>
            </a:r>
            <a:r>
              <a:rPr lang="en-US" sz="1800" i="1" dirty="0" smtClean="0"/>
              <a:t>web3.utils.fromWei(</a:t>
            </a:r>
            <a:r>
              <a:rPr lang="en-US" sz="1800" i="1" dirty="0" err="1" smtClean="0"/>
              <a:t>wei</a:t>
            </a:r>
            <a:r>
              <a:rPr lang="en-US" sz="1800" i="1" dirty="0"/>
              <a:t>, 'ether')} )</a:t>
            </a:r>
          </a:p>
          <a:p>
            <a:pPr>
              <a:buNone/>
            </a:pPr>
            <a:endParaRPr lang="en-US" sz="1600" dirty="0"/>
          </a:p>
          <a:p>
            <a:r>
              <a:rPr lang="en-US" sz="1600" dirty="0"/>
              <a:t>then define an </a:t>
            </a:r>
            <a:r>
              <a:rPr lang="en-US" sz="1600" dirty="0" err="1"/>
              <a:t>async</a:t>
            </a:r>
            <a:r>
              <a:rPr lang="en-US" sz="1600" dirty="0"/>
              <a:t> function that will wait for the result of the first function:</a:t>
            </a:r>
          </a:p>
          <a:p>
            <a:pPr lvl="2"/>
            <a:r>
              <a:rPr lang="en-US" sz="1800" i="1" dirty="0" err="1"/>
              <a:t>var</a:t>
            </a:r>
            <a:r>
              <a:rPr lang="en-US" sz="1800" i="1" dirty="0"/>
              <a:t> </a:t>
            </a:r>
            <a:r>
              <a:rPr lang="en-US" sz="1800" i="1" dirty="0" err="1"/>
              <a:t>disp</a:t>
            </a:r>
            <a:r>
              <a:rPr lang="en-US" sz="1800" i="1" dirty="0"/>
              <a:t> = </a:t>
            </a:r>
            <a:r>
              <a:rPr lang="en-US" sz="1800" i="1" dirty="0" err="1"/>
              <a:t>async</a:t>
            </a:r>
            <a:r>
              <a:rPr lang="en-US" sz="1800" i="1" dirty="0"/>
              <a:t>() =&gt; {</a:t>
            </a:r>
            <a:r>
              <a:rPr lang="en-US" sz="1800" i="1" dirty="0" err="1"/>
              <a:t>var</a:t>
            </a:r>
            <a:r>
              <a:rPr lang="en-US" sz="1800" i="1" dirty="0"/>
              <a:t> result = await get();console.log(result);}</a:t>
            </a:r>
          </a:p>
          <a:p>
            <a:pPr>
              <a:buNone/>
            </a:pPr>
            <a:r>
              <a:rPr lang="en-US" sz="1600" dirty="0"/>
              <a:t> </a:t>
            </a:r>
          </a:p>
          <a:p>
            <a:r>
              <a:rPr lang="en-US" sz="1600" dirty="0"/>
              <a:t>then call that </a:t>
            </a:r>
            <a:r>
              <a:rPr lang="en-US" sz="1600" dirty="0" err="1"/>
              <a:t>async</a:t>
            </a:r>
            <a:r>
              <a:rPr lang="en-US" sz="1600" dirty="0"/>
              <a:t> function:</a:t>
            </a:r>
          </a:p>
          <a:p>
            <a:pPr lvl="2"/>
            <a:r>
              <a:rPr lang="en-US" sz="1800" dirty="0" err="1"/>
              <a:t>disp</a:t>
            </a:r>
            <a:r>
              <a:rPr lang="en-US" sz="1800" dirty="0"/>
              <a:t>()</a:t>
            </a:r>
          </a:p>
          <a:p>
            <a:r>
              <a:rPr lang="en-US" sz="1600" dirty="0"/>
              <a:t>and you should see your balance (in </a:t>
            </a:r>
            <a:r>
              <a:rPr lang="en-US" sz="1600" dirty="0" err="1"/>
              <a:t>wei</a:t>
            </a:r>
            <a:r>
              <a:rPr lang="en-US" sz="1600" dirty="0"/>
              <a:t>, which is eth X 10</a:t>
            </a:r>
            <a:r>
              <a:rPr lang="en-US" sz="1600" baseline="30000" dirty="0"/>
              <a:t>18</a:t>
            </a:r>
            <a:r>
              <a:rPr lang="en-US" sz="1600" dirty="0"/>
              <a:t>)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Oracles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sz="2000" dirty="0"/>
              <a:t>H</a:t>
            </a:r>
            <a:r>
              <a:rPr lang="en-US" sz="2000" dirty="0" smtClean="0"/>
              <a:t>ow </a:t>
            </a:r>
            <a:r>
              <a:rPr lang="en-US" sz="2000" dirty="0"/>
              <a:t>they work in general</a:t>
            </a:r>
          </a:p>
          <a:p>
            <a:r>
              <a:rPr lang="en-US" sz="2000" u="sng" dirty="0">
                <a:hlinkClick r:id="rId2"/>
              </a:rPr>
              <a:t>https://ethereum.stackexchange.com/questions/11589/how-do-oracle-services-work-under-the-hood</a:t>
            </a:r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Blockchains cannot access data outside their blockchain network. </a:t>
            </a:r>
          </a:p>
          <a:p>
            <a:endParaRPr lang="en-US" sz="2000" dirty="0" smtClean="0"/>
          </a:p>
          <a:p>
            <a:r>
              <a:rPr lang="en-US" sz="2000" dirty="0" smtClean="0"/>
              <a:t>An </a:t>
            </a:r>
            <a:r>
              <a:rPr lang="en-US" sz="2000" dirty="0"/>
              <a:t>oracle, in the context of blockchains and smart contracts, is an </a:t>
            </a:r>
            <a:r>
              <a:rPr lang="en-US" sz="2000" dirty="0" smtClean="0"/>
              <a:t>agent that finds and verifies real-world occurrences and submits this information </a:t>
            </a:r>
            <a:r>
              <a:rPr lang="en-US" sz="2000" dirty="0"/>
              <a:t>to a </a:t>
            </a:r>
            <a:r>
              <a:rPr lang="en-US" sz="2000" dirty="0" smtClean="0"/>
              <a:t>blockchain.</a:t>
            </a:r>
          </a:p>
          <a:p>
            <a:endParaRPr lang="en-US" sz="2000" dirty="0" smtClean="0"/>
          </a:p>
          <a:p>
            <a:r>
              <a:rPr lang="en-US" sz="2000" dirty="0" smtClean="0"/>
              <a:t>It is usually a data feed provided and signed by a trusted third party service that provides real-world data to smart contracts on the blockchain.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Oracles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sz="2000" dirty="0" smtClean="0"/>
              <a:t>Oracles </a:t>
            </a:r>
            <a:r>
              <a:rPr lang="en-US" sz="2000" dirty="0"/>
              <a:t>provide external </a:t>
            </a:r>
            <a:r>
              <a:rPr lang="en-US" sz="2000" dirty="0" smtClean="0"/>
              <a:t>data by invoking a smart contract function which may in turn </a:t>
            </a:r>
            <a:r>
              <a:rPr lang="en-US" sz="2000" dirty="0"/>
              <a:t>trigger </a:t>
            </a:r>
            <a:r>
              <a:rPr lang="en-US" sz="2000" dirty="0" smtClean="0"/>
              <a:t>other smart contract functions. </a:t>
            </a:r>
          </a:p>
          <a:p>
            <a:r>
              <a:rPr lang="en-US" sz="2000" dirty="0" smtClean="0"/>
              <a:t>Examples of provided data </a:t>
            </a:r>
            <a:r>
              <a:rPr lang="en-US" sz="2000" dirty="0"/>
              <a:t>could be </a:t>
            </a:r>
            <a:r>
              <a:rPr lang="en-US" sz="2000" dirty="0" smtClean="0"/>
              <a:t>financial market prices, payment verifications, results of events like games or elections, weather, or any other real-world data.</a:t>
            </a:r>
          </a:p>
          <a:p>
            <a:r>
              <a:rPr lang="en-US" sz="2000" dirty="0" smtClean="0"/>
              <a:t>Even hardware devices can be the source of oracle information, particularly in </a:t>
            </a:r>
            <a:r>
              <a:rPr lang="en-US" sz="2000" dirty="0" err="1" smtClean="0"/>
              <a:t>IoT</a:t>
            </a:r>
            <a:r>
              <a:rPr lang="en-US" sz="2000" dirty="0" smtClean="0"/>
              <a:t> use cases.</a:t>
            </a:r>
          </a:p>
          <a:p>
            <a:endParaRPr lang="en-US" sz="2000" dirty="0"/>
          </a:p>
          <a:p>
            <a:r>
              <a:rPr lang="en-US" sz="2000" dirty="0" smtClean="0"/>
              <a:t>Prediction markets like Augur and Gnosis may use an oracle or a consensus of oracles to confirm the outcomes of events on which users have placed bets.</a:t>
            </a:r>
          </a:p>
          <a:p>
            <a:r>
              <a:rPr lang="en-US" sz="2000" dirty="0" smtClean="0"/>
              <a:t>Or they may use users who have earned trust via a rating system and/or have effectively staked tokens. 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Oracles: </a:t>
            </a:r>
            <a:r>
              <a:rPr lang="en-US" dirty="0" err="1" smtClean="0"/>
              <a:t>Oraclize</a:t>
            </a:r>
            <a:r>
              <a:rPr lang="en-US" dirty="0" smtClean="0"/>
              <a:t>/Provable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Oraclize</a:t>
            </a:r>
            <a:r>
              <a:rPr lang="en-US" sz="2400" dirty="0" smtClean="0"/>
              <a:t>, which recently rebranded as “Provable” or “Provable Things” is one of the best known Oracle providers.</a:t>
            </a:r>
            <a:endParaRPr lang="en-US" sz="2400" dirty="0"/>
          </a:p>
          <a:p>
            <a:r>
              <a:rPr lang="en-US" sz="2400" dirty="0" smtClean="0">
                <a:hlinkClick r:id="rId2"/>
              </a:rPr>
              <a:t>http://www.oraclize.it/</a:t>
            </a:r>
            <a:endParaRPr lang="en-US" sz="2400" dirty="0" smtClean="0"/>
          </a:p>
          <a:p>
            <a:r>
              <a:rPr lang="en-US" sz="2400" u="sng" dirty="0" smtClean="0">
                <a:hlinkClick r:id="rId3"/>
              </a:rPr>
              <a:t>https</a:t>
            </a:r>
            <a:r>
              <a:rPr lang="en-US" sz="2400" u="sng" dirty="0">
                <a:hlinkClick r:id="rId3"/>
              </a:rPr>
              <a:t>://docs.oraclize.it/#ethereum-quick-start</a:t>
            </a:r>
            <a:endParaRPr lang="en-US" sz="2400" dirty="0"/>
          </a:p>
          <a:p>
            <a:r>
              <a:rPr lang="en-US" sz="2400" dirty="0"/>
              <a:t> </a:t>
            </a:r>
            <a:r>
              <a:rPr lang="en-US" sz="2400" dirty="0" smtClean="0"/>
              <a:t>Note that </a:t>
            </a:r>
            <a:r>
              <a:rPr lang="en-US" sz="2400" dirty="0" err="1" smtClean="0"/>
              <a:t>oraclize</a:t>
            </a:r>
            <a:r>
              <a:rPr lang="en-US" sz="2400" dirty="0" smtClean="0"/>
              <a:t> has predefined functions that can be called by a smart contract function, and these functions can include calls to URLs, the Wolfram Alpha knowledge engine, IPFS to get a file, a couple ways to get a random number, or a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virtual machine on AWS.</a:t>
            </a:r>
          </a:p>
          <a:p>
            <a:r>
              <a:rPr lang="en-US" sz="2400" dirty="0" err="1" smtClean="0"/>
              <a:t>Oraclize</a:t>
            </a:r>
            <a:r>
              <a:rPr lang="en-US" sz="2400" dirty="0" smtClean="0"/>
              <a:t> has implementations for Ethereum, EOS, R3 </a:t>
            </a:r>
            <a:r>
              <a:rPr lang="en-US" sz="2400" dirty="0" err="1" smtClean="0"/>
              <a:t>Corda</a:t>
            </a:r>
            <a:r>
              <a:rPr lang="en-US" sz="2400" dirty="0" smtClean="0"/>
              <a:t>, </a:t>
            </a:r>
            <a:r>
              <a:rPr lang="en-US" sz="2400" dirty="0" err="1" smtClean="0"/>
              <a:t>Hyperledger</a:t>
            </a:r>
            <a:r>
              <a:rPr lang="en-US" sz="2400" dirty="0" smtClean="0"/>
              <a:t>, and Rootstock.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Oracles: </a:t>
            </a:r>
            <a:r>
              <a:rPr lang="en-US" dirty="0" err="1" smtClean="0"/>
              <a:t>Oraclize</a:t>
            </a:r>
            <a:r>
              <a:rPr lang="en-US" dirty="0" smtClean="0"/>
              <a:t>/Provable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https://github.com/oraclize</a:t>
            </a:r>
            <a:endParaRPr lang="en-US" sz="2400" dirty="0" smtClean="0"/>
          </a:p>
          <a:p>
            <a:r>
              <a:rPr lang="en-US" sz="2400" dirty="0" smtClean="0"/>
              <a:t>The page above has links to quite a lot of implementations and examples, including Ethereum, EOS, R3 </a:t>
            </a:r>
            <a:r>
              <a:rPr lang="en-US" sz="2400" dirty="0" err="1" smtClean="0"/>
              <a:t>Corda</a:t>
            </a:r>
            <a:r>
              <a:rPr lang="en-US" sz="2400" dirty="0" smtClean="0"/>
              <a:t>, </a:t>
            </a:r>
            <a:r>
              <a:rPr lang="en-US" sz="2400" dirty="0" err="1" smtClean="0"/>
              <a:t>Hyperledger</a:t>
            </a:r>
            <a:r>
              <a:rPr lang="en-US" sz="2400" dirty="0" smtClean="0"/>
              <a:t> Fabric, and various tools such as a data proof and an implementation for Truffle.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Oracles: </a:t>
            </a:r>
            <a:r>
              <a:rPr lang="en-US" dirty="0" err="1" smtClean="0"/>
              <a:t>ChainLink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www.chain.link</a:t>
            </a:r>
            <a:endParaRPr lang="en-US" sz="2400" dirty="0" smtClean="0"/>
          </a:p>
          <a:p>
            <a:r>
              <a:rPr lang="en-US" sz="2400" dirty="0" err="1" smtClean="0"/>
              <a:t>ChainLink</a:t>
            </a:r>
            <a:r>
              <a:rPr lang="en-US" sz="2400" dirty="0" smtClean="0"/>
              <a:t> is another Oracle framework that will work with Ethereum and other networks (e.g. Bitcoin, </a:t>
            </a:r>
            <a:r>
              <a:rPr lang="en-US" sz="2400" dirty="0" err="1" smtClean="0"/>
              <a:t>HyperLedger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It is designed to be a decentralized Oracle network, free from a single point of failure</a:t>
            </a:r>
          </a:p>
          <a:p>
            <a:r>
              <a:rPr lang="en-US" sz="2400" dirty="0" smtClean="0"/>
              <a:t>It provides the frameworks for getting information for smart contracts from Oracles, as well as pushing blockchain data to off-chain </a:t>
            </a:r>
            <a:r>
              <a:rPr lang="en-US" sz="2400" dirty="0" err="1" smtClean="0"/>
              <a:t>servic</a:t>
            </a:r>
            <a:endParaRPr lang="en-US" sz="2400" dirty="0" smtClean="0"/>
          </a:p>
          <a:p>
            <a:r>
              <a:rPr lang="en-US" sz="2400" dirty="0" smtClean="0"/>
              <a:t>As an oracle service, </a:t>
            </a:r>
            <a:r>
              <a:rPr lang="en-US" sz="2400" dirty="0" err="1" smtClean="0"/>
              <a:t>ChainLink</a:t>
            </a:r>
            <a:r>
              <a:rPr lang="en-US" sz="2400" dirty="0" smtClean="0"/>
              <a:t> nodes return replies to data requests or queries made by or on behalf of a user </a:t>
            </a:r>
            <a:r>
              <a:rPr lang="en-US" sz="2400" dirty="0" err="1" smtClean="0"/>
              <a:t>contractes</a:t>
            </a:r>
            <a:r>
              <a:rPr lang="en-US" sz="2400" dirty="0" smtClean="0"/>
              <a:t> such as payment services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Oracles: </a:t>
            </a:r>
            <a:r>
              <a:rPr lang="en-US" dirty="0" err="1" smtClean="0"/>
              <a:t>ChainLink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ChainLink</a:t>
            </a:r>
            <a:r>
              <a:rPr lang="en-US" sz="2400" dirty="0" smtClean="0"/>
              <a:t> runs a number of nodes on the network, such as the Ethereum network. (</a:t>
            </a:r>
            <a:r>
              <a:rPr lang="en-US" sz="2400" dirty="0" err="1" smtClean="0"/>
              <a:t>ChainlLink</a:t>
            </a:r>
            <a:r>
              <a:rPr lang="en-US" sz="2400" dirty="0" smtClean="0"/>
              <a:t> core)</a:t>
            </a:r>
          </a:p>
          <a:p>
            <a:r>
              <a:rPr lang="en-US" sz="2400" dirty="0" smtClean="0"/>
              <a:t>They describe their Oracle process as (SC is Smart Contract):</a:t>
            </a:r>
          </a:p>
          <a:p>
            <a:pPr lvl="1"/>
            <a:r>
              <a:rPr lang="en-US" sz="2000" dirty="0" smtClean="0"/>
              <a:t>1) USER-SC makes an on-chain request; </a:t>
            </a:r>
          </a:p>
          <a:p>
            <a:pPr lvl="1"/>
            <a:r>
              <a:rPr lang="en-US" sz="2000" dirty="0" smtClean="0"/>
              <a:t>2) CHAINLINK-SC logs an event for the oracles; </a:t>
            </a:r>
          </a:p>
          <a:p>
            <a:pPr lvl="1"/>
            <a:r>
              <a:rPr lang="en-US" sz="2000" dirty="0" smtClean="0"/>
              <a:t>3) </a:t>
            </a:r>
            <a:r>
              <a:rPr lang="en-US" sz="2000" dirty="0" err="1" smtClean="0"/>
              <a:t>ChainLink</a:t>
            </a:r>
            <a:r>
              <a:rPr lang="en-US" sz="2000" dirty="0" smtClean="0"/>
              <a:t> core picks up the event and routes the assignment to an adapter; </a:t>
            </a:r>
          </a:p>
          <a:p>
            <a:pPr lvl="1"/>
            <a:r>
              <a:rPr lang="en-US" sz="2000" dirty="0" smtClean="0"/>
              <a:t>4) </a:t>
            </a:r>
            <a:r>
              <a:rPr lang="en-US" sz="2000" dirty="0" err="1" smtClean="0"/>
              <a:t>ChainLink</a:t>
            </a:r>
            <a:r>
              <a:rPr lang="en-US" sz="2000" dirty="0" smtClean="0"/>
              <a:t> adapter performs a request to an external API; </a:t>
            </a:r>
          </a:p>
          <a:p>
            <a:pPr lvl="1"/>
            <a:r>
              <a:rPr lang="en-US" sz="2000" dirty="0" smtClean="0"/>
              <a:t>5) </a:t>
            </a:r>
            <a:r>
              <a:rPr lang="en-US" sz="2000" dirty="0" err="1" smtClean="0"/>
              <a:t>ChainLink</a:t>
            </a:r>
            <a:r>
              <a:rPr lang="en-US" sz="2000" dirty="0" smtClean="0"/>
              <a:t> adapter processes the response and passes it back to the core; </a:t>
            </a:r>
          </a:p>
          <a:p>
            <a:pPr lvl="1"/>
            <a:r>
              <a:rPr lang="en-US" sz="2000" dirty="0" smtClean="0"/>
              <a:t>6) </a:t>
            </a:r>
            <a:r>
              <a:rPr lang="en-US" sz="2000" dirty="0" err="1" smtClean="0"/>
              <a:t>ChainLink</a:t>
            </a:r>
            <a:r>
              <a:rPr lang="en-US" sz="2000" dirty="0" smtClean="0"/>
              <a:t> core reports the data to CHAINLINK-SC; </a:t>
            </a:r>
          </a:p>
          <a:p>
            <a:pPr lvl="1"/>
            <a:r>
              <a:rPr lang="en-US" sz="2000" dirty="0" smtClean="0"/>
              <a:t>7) CHAINLINK-SC aggregates responses and passes them back as a single response to USER-SC. 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Oracles: </a:t>
            </a:r>
            <a:r>
              <a:rPr lang="en-US" dirty="0" err="1" smtClean="0"/>
              <a:t>ChainLink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external APIs that </a:t>
            </a:r>
            <a:r>
              <a:rPr lang="en-US" sz="2400" dirty="0" err="1" smtClean="0"/>
              <a:t>ChainLink</a:t>
            </a:r>
            <a:r>
              <a:rPr lang="en-US" sz="2400" dirty="0" smtClean="0"/>
              <a:t> gets data from are ideally disparate data sources.</a:t>
            </a:r>
          </a:p>
          <a:p>
            <a:endParaRPr lang="en-US" sz="2400" dirty="0" smtClean="0"/>
          </a:p>
          <a:p>
            <a:r>
              <a:rPr lang="en-US" sz="2400" dirty="0" smtClean="0"/>
              <a:t>The main idea is that every logical component is decentralized, from the sources, to the </a:t>
            </a:r>
            <a:r>
              <a:rPr lang="en-US" sz="2400" dirty="0" err="1" smtClean="0"/>
              <a:t>ChainLink</a:t>
            </a:r>
            <a:r>
              <a:rPr lang="en-US" sz="2400" dirty="0" smtClean="0"/>
              <a:t> oracles.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Oracles: Reality Keys / </a:t>
            </a:r>
            <a:r>
              <a:rPr lang="en-US" dirty="0" err="1" smtClean="0"/>
              <a:t>Realito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Realito</a:t>
            </a:r>
            <a:endParaRPr lang="en-US" sz="2400" dirty="0"/>
          </a:p>
          <a:p>
            <a:r>
              <a:rPr lang="en-US" sz="2400" u="sng" dirty="0">
                <a:hlinkClick r:id="rId2"/>
              </a:rPr>
              <a:t>https://realit.io</a:t>
            </a:r>
            <a:r>
              <a:rPr lang="en-US" sz="2400" u="sng" dirty="0" smtClean="0">
                <a:hlinkClick r:id="rId2"/>
              </a:rPr>
              <a:t>/</a:t>
            </a:r>
            <a:endParaRPr lang="en-US" sz="2400" u="sng" dirty="0" smtClean="0"/>
          </a:p>
          <a:p>
            <a:r>
              <a:rPr lang="en-US" sz="2400" dirty="0" smtClean="0"/>
              <a:t>Reality keys is a framework for crowd-sourced oracles.</a:t>
            </a:r>
          </a:p>
          <a:p>
            <a:r>
              <a:rPr lang="en-US" sz="2400" dirty="0" smtClean="0"/>
              <a:t>It is designed to reward correct answers and penalize users that submit incorrect answers</a:t>
            </a:r>
          </a:p>
          <a:p>
            <a:r>
              <a:rPr lang="en-US" sz="2400" dirty="0" smtClean="0"/>
              <a:t>Answers that are contested can be ultimately sent to an off-chain arbiter of choice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2499</TotalTime>
  <Words>1317</Words>
  <Application>Microsoft Office PowerPoint</Application>
  <PresentationFormat>On-screen Show (4:3)</PresentationFormat>
  <Paragraphs>162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ERC-20, Web3.js, Oracles</vt:lpstr>
      <vt:lpstr>ERC-20 token</vt:lpstr>
      <vt:lpstr>ERC-20 token</vt:lpstr>
      <vt:lpstr>ERC-20 token interface</vt:lpstr>
      <vt:lpstr>ConsenSys ERC-20 Contract</vt:lpstr>
      <vt:lpstr>OpenZeppelin ERC-20 Contract</vt:lpstr>
      <vt:lpstr>ERC-20, ERC-721</vt:lpstr>
      <vt:lpstr>Web3.js</vt:lpstr>
      <vt:lpstr>web3.js tutorial: part I</vt:lpstr>
      <vt:lpstr>web3.js tutorial: part I</vt:lpstr>
      <vt:lpstr>web3.js tutorial: part I</vt:lpstr>
      <vt:lpstr>Oracles</vt:lpstr>
      <vt:lpstr>Oracles</vt:lpstr>
      <vt:lpstr>Oracles: Oraclize/Provable</vt:lpstr>
      <vt:lpstr>Oracles: Oraclize/Provable</vt:lpstr>
      <vt:lpstr>Oracles: ChainLink</vt:lpstr>
      <vt:lpstr>Oracles: ChainLink</vt:lpstr>
      <vt:lpstr>Oracles: ChainLink</vt:lpstr>
      <vt:lpstr>Oracles: Reality Keys / Realito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BP - FL</dc:creator>
  <cp:lastModifiedBy>BP - FL</cp:lastModifiedBy>
  <cp:revision>17</cp:revision>
  <dcterms:created xsi:type="dcterms:W3CDTF">2019-04-01T17:52:04Z</dcterms:created>
  <dcterms:modified xsi:type="dcterms:W3CDTF">2019-05-19T15:08:23Z</dcterms:modified>
</cp:coreProperties>
</file>