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60" r:id="rId4"/>
    <p:sldId id="257" r:id="rId5"/>
    <p:sldId id="267" r:id="rId6"/>
    <p:sldId id="266" r:id="rId7"/>
    <p:sldId id="274" r:id="rId8"/>
    <p:sldId id="301" r:id="rId9"/>
    <p:sldId id="302" r:id="rId10"/>
    <p:sldId id="269" r:id="rId11"/>
    <p:sldId id="272" r:id="rId12"/>
    <p:sldId id="304" r:id="rId13"/>
    <p:sldId id="270" r:id="rId14"/>
    <p:sldId id="271" r:id="rId15"/>
    <p:sldId id="273" r:id="rId16"/>
    <p:sldId id="305" r:id="rId17"/>
    <p:sldId id="293" r:id="rId18"/>
    <p:sldId id="291" r:id="rId19"/>
    <p:sldId id="306" r:id="rId20"/>
    <p:sldId id="292" r:id="rId21"/>
    <p:sldId id="275" r:id="rId22"/>
    <p:sldId id="276" r:id="rId23"/>
    <p:sldId id="290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7" r:id="rId34"/>
    <p:sldId id="289" r:id="rId35"/>
    <p:sldId id="307" r:id="rId36"/>
    <p:sldId id="294" r:id="rId37"/>
    <p:sldId id="295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6" autoAdjust="0"/>
    <p:restoredTop sz="94853" autoAdjust="0"/>
  </p:normalViewPr>
  <p:slideViewPr>
    <p:cSldViewPr>
      <p:cViewPr varScale="1">
        <p:scale>
          <a:sx n="86" d="100"/>
          <a:sy n="86" d="100"/>
        </p:scale>
        <p:origin x="-15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0C04B-5F01-4189-9A46-5FB762BB57D2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11902-1CB7-4349-BBFC-D32724FF269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ware.intel.com/en-us/sgx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Permissioned</a:t>
            </a:r>
            <a:r>
              <a:rPr lang="en-US" dirty="0" smtClean="0"/>
              <a:t> Blockchains</a:t>
            </a:r>
            <a:r>
              <a:rPr lang="en-US" dirty="0" smtClean="0"/>
              <a:t>: Hyperledger</a:t>
            </a:r>
            <a:endParaRPr lang="en-US" dirty="0"/>
          </a:p>
        </p:txBody>
      </p:sp>
      <p:sp>
        <p:nvSpPr>
          <p:cNvPr id="5" name="Subtitle 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Bernard Parenteau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bparente@fit.edu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600" dirty="0" smtClean="0">
                <a:solidFill>
                  <a:schemeClr val="tx1">
                    <a:tint val="75000"/>
                  </a:schemeClr>
                </a:solidFill>
              </a:rPr>
              <a:t>February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2019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52800" y="5943600"/>
            <a:ext cx="259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Based on Hyperledger.org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Blockchain: Use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In typical business networks each </a:t>
            </a:r>
            <a:r>
              <a:rPr lang="en-US" dirty="0"/>
              <a:t>participant in the network keeps </a:t>
            </a:r>
            <a:r>
              <a:rPr lang="en-US" dirty="0" smtClean="0"/>
              <a:t>their own records of </a:t>
            </a:r>
            <a:r>
              <a:rPr lang="en-US" dirty="0"/>
              <a:t>all transactions between all the parties that the business interacts with. </a:t>
            </a:r>
            <a:endParaRPr lang="en-US" dirty="0" smtClean="0"/>
          </a:p>
          <a:p>
            <a:r>
              <a:rPr lang="en-US" dirty="0" smtClean="0"/>
              <a:t>Keeping and reconciling records</a:t>
            </a:r>
            <a:r>
              <a:rPr lang="en-US" dirty="0" smtClean="0"/>
              <a:t> </a:t>
            </a:r>
            <a:r>
              <a:rPr lang="en-US" dirty="0"/>
              <a:t>is expensive because of duplication of effort and intermediaries adding costs for their services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One solution </a:t>
            </a:r>
            <a:r>
              <a:rPr lang="en-US" dirty="0" smtClean="0"/>
              <a:t>that can increase efficiency </a:t>
            </a:r>
            <a:r>
              <a:rPr lang="en-US" dirty="0"/>
              <a:t>is blockchain, </a:t>
            </a:r>
            <a:r>
              <a:rPr lang="en-US" dirty="0" smtClean="0"/>
              <a:t>shared </a:t>
            </a:r>
            <a:r>
              <a:rPr lang="en-US" dirty="0"/>
              <a:t>ledger </a:t>
            </a:r>
            <a:r>
              <a:rPr lang="en-US" dirty="0" smtClean="0"/>
              <a:t>technology, </a:t>
            </a:r>
            <a:r>
              <a:rPr lang="en-US" dirty="0"/>
              <a:t>that allows any participant in the network to see </a:t>
            </a:r>
            <a:r>
              <a:rPr lang="en-US" dirty="0" smtClean="0"/>
              <a:t>the</a:t>
            </a:r>
            <a:r>
              <a:rPr lang="en-US" dirty="0"/>
              <a:t> </a:t>
            </a:r>
            <a:r>
              <a:rPr lang="en-US" dirty="0" smtClean="0"/>
              <a:t>one single agreed-upon</a:t>
            </a:r>
            <a:r>
              <a:rPr lang="en-US" dirty="0"/>
              <a:t> </a:t>
            </a:r>
            <a:r>
              <a:rPr lang="en-US" dirty="0" smtClean="0"/>
              <a:t>transaction history</a:t>
            </a:r>
            <a:r>
              <a:rPr lang="en-US" dirty="0" smtClean="0"/>
              <a:t>.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Permissionless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Permissioned</a:t>
            </a:r>
            <a:r>
              <a:rPr lang="en-US" dirty="0" smtClean="0"/>
              <a:t> Blockchains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With </a:t>
            </a:r>
            <a:r>
              <a:rPr lang="en-US" dirty="0" err="1" smtClean="0"/>
              <a:t>permissionless</a:t>
            </a:r>
            <a:r>
              <a:rPr lang="en-US" dirty="0" smtClean="0"/>
              <a:t> blockchains </a:t>
            </a:r>
            <a:r>
              <a:rPr lang="en-US" dirty="0"/>
              <a:t>like the Bitcoin blockchain or the </a:t>
            </a:r>
            <a:r>
              <a:rPr lang="en-US" dirty="0" err="1"/>
              <a:t>Ethereum</a:t>
            </a:r>
            <a:r>
              <a:rPr lang="en-US" dirty="0"/>
              <a:t> blockchain, anyone can join the network, as well as write and read transactions.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actors in the system are not known, which means there could be some malicious actors within the network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err="1" smtClean="0"/>
              <a:t>Permissioned</a:t>
            </a:r>
            <a:r>
              <a:rPr lang="en-US" dirty="0" smtClean="0"/>
              <a:t> blockchains restrict membership to only approved entities and thereby reduce these security risks.  </a:t>
            </a:r>
          </a:p>
          <a:p>
            <a:r>
              <a:rPr lang="en-US" dirty="0" smtClean="0"/>
              <a:t>They can also limit visibility of transactions to only to the parties involved or other defined subsets of the membership population. </a:t>
            </a:r>
          </a:p>
          <a:p>
            <a:endParaRPr lang="en-US" dirty="0"/>
          </a:p>
          <a:p>
            <a:r>
              <a:rPr lang="en-US" dirty="0" smtClean="0"/>
              <a:t>Both </a:t>
            </a:r>
            <a:r>
              <a:rPr lang="en-US" dirty="0" err="1" smtClean="0"/>
              <a:t>permissioned</a:t>
            </a:r>
            <a:r>
              <a:rPr lang="en-US" dirty="0" smtClean="0"/>
              <a:t> and </a:t>
            </a:r>
            <a:r>
              <a:rPr lang="en-US" dirty="0" err="1" smtClean="0"/>
              <a:t>permissionless</a:t>
            </a:r>
            <a:r>
              <a:rPr lang="en-US" dirty="0" smtClean="0"/>
              <a:t> may have smart </a:t>
            </a:r>
            <a:r>
              <a:rPr lang="en-US" dirty="0" err="1" smtClean="0"/>
              <a:t>conract</a:t>
            </a:r>
            <a:r>
              <a:rPr lang="en-US" dirty="0" smtClean="0"/>
              <a:t> capabilities.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Hyperledger is one of the more high-profile blockchain technologies.</a:t>
            </a:r>
          </a:p>
          <a:p>
            <a:r>
              <a:rPr lang="en-US" sz="2800" dirty="0" smtClean="0"/>
              <a:t>It uses a </a:t>
            </a:r>
            <a:r>
              <a:rPr lang="en-US" sz="2800" dirty="0" err="1" smtClean="0"/>
              <a:t>permissioned</a:t>
            </a:r>
            <a:r>
              <a:rPr lang="en-US" sz="2800" dirty="0" smtClean="0"/>
              <a:t> blockchain by default.</a:t>
            </a:r>
          </a:p>
          <a:p>
            <a:endParaRPr lang="en-US" sz="2800" dirty="0" smtClean="0"/>
          </a:p>
          <a:p>
            <a:r>
              <a:rPr lang="en-US" sz="2800" dirty="0" smtClean="0"/>
              <a:t>The Hyperledger Project began when a set of companies who were starting to pay attention to the Bitcoin, cryptocurrency, and blockchain space</a:t>
            </a:r>
            <a:r>
              <a:rPr lang="en-US" sz="2800" b="1" dirty="0" smtClean="0"/>
              <a:t> </a:t>
            </a:r>
            <a:r>
              <a:rPr lang="en-US" sz="2800" dirty="0" smtClean="0"/>
              <a:t>approached The Linux Foundation and planned a joint project within the Foundation.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In </a:t>
            </a:r>
            <a:r>
              <a:rPr lang="en-US" dirty="0"/>
              <a:t>December of 2015, The Linux Foundation, in conjunction with a</a:t>
            </a:r>
            <a:r>
              <a:rPr lang="en-US" dirty="0" smtClean="0"/>
              <a:t>bout </a:t>
            </a:r>
            <a:r>
              <a:rPr lang="en-US" dirty="0"/>
              <a:t>30 </a:t>
            </a:r>
            <a:r>
              <a:rPr lang="en-US" dirty="0" smtClean="0"/>
              <a:t>companies including IBM, Intel, and JP Morgan, </a:t>
            </a:r>
            <a:r>
              <a:rPr lang="en-US" dirty="0"/>
              <a:t>announced the launch of the Hyperledger </a:t>
            </a:r>
            <a:r>
              <a:rPr lang="en-US" dirty="0" smtClean="0"/>
              <a:t>project.</a:t>
            </a:r>
          </a:p>
          <a:p>
            <a:endParaRPr lang="en-US" dirty="0" smtClean="0"/>
          </a:p>
          <a:p>
            <a:r>
              <a:rPr lang="en-US" dirty="0" smtClean="0"/>
              <a:t>Its first </a:t>
            </a:r>
            <a:r>
              <a:rPr lang="en-US" dirty="0"/>
              <a:t>release of </a:t>
            </a:r>
            <a:r>
              <a:rPr lang="en-US" dirty="0" smtClean="0"/>
              <a:t>software was </a:t>
            </a:r>
            <a:r>
              <a:rPr lang="en-US" dirty="0"/>
              <a:t>in February of </a:t>
            </a:r>
            <a:r>
              <a:rPr lang="en-US" dirty="0" smtClean="0"/>
              <a:t>2016 with </a:t>
            </a:r>
            <a:r>
              <a:rPr lang="en-US" dirty="0"/>
              <a:t>the Fabric </a:t>
            </a:r>
            <a:r>
              <a:rPr lang="en-US" dirty="0" smtClean="0"/>
              <a:t>codebase.</a:t>
            </a:r>
            <a:endParaRPr lang="en-US" dirty="0"/>
          </a:p>
          <a:p>
            <a:r>
              <a:rPr lang="en-US" dirty="0" smtClean="0"/>
              <a:t>Initially </a:t>
            </a:r>
            <a:r>
              <a:rPr lang="en-US" dirty="0"/>
              <a:t>it had been built inside of IBM, </a:t>
            </a:r>
            <a:r>
              <a:rPr lang="en-US" dirty="0" smtClean="0"/>
              <a:t>but was contributed to be part of the open-source Hyperledger project.  </a:t>
            </a:r>
          </a:p>
          <a:p>
            <a:endParaRPr lang="en-US" dirty="0" smtClean="0"/>
          </a:p>
          <a:p>
            <a:r>
              <a:rPr lang="en-US" dirty="0" smtClean="0"/>
              <a:t>It was </a:t>
            </a:r>
            <a:r>
              <a:rPr lang="en-US" dirty="0"/>
              <a:t>followed soon after by </a:t>
            </a:r>
            <a:r>
              <a:rPr lang="en-US" dirty="0" err="1"/>
              <a:t>Sawtooth</a:t>
            </a:r>
            <a:r>
              <a:rPr lang="en-US" dirty="0"/>
              <a:t> </a:t>
            </a:r>
            <a:r>
              <a:rPr lang="en-US" dirty="0" smtClean="0"/>
              <a:t>Lake from Intel.</a:t>
            </a:r>
          </a:p>
          <a:p>
            <a:endParaRPr lang="en-US" dirty="0" smtClean="0"/>
          </a:p>
          <a:p>
            <a:r>
              <a:rPr lang="en-US" dirty="0" smtClean="0"/>
              <a:t>As of early 2019, over 250 organizations support Hyperledger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Hyperledger </a:t>
            </a:r>
            <a:r>
              <a:rPr lang="en-US" dirty="0"/>
              <a:t>is a group of open source projects </a:t>
            </a:r>
            <a:r>
              <a:rPr lang="en-US" dirty="0" smtClean="0"/>
              <a:t>facilitating cross-industry </a:t>
            </a:r>
            <a:r>
              <a:rPr lang="en-US" dirty="0"/>
              <a:t>distributed ledger technologies. </a:t>
            </a:r>
            <a:r>
              <a:rPr lang="en-US" dirty="0" smtClean="0"/>
              <a:t>Its focus is to support collaborative blockchain development.</a:t>
            </a:r>
          </a:p>
          <a:p>
            <a:endParaRPr lang="en-US" dirty="0" smtClean="0"/>
          </a:p>
          <a:p>
            <a:r>
              <a:rPr lang="en-US" dirty="0" smtClean="0"/>
              <a:t>It is hosted </a:t>
            </a:r>
            <a:r>
              <a:rPr lang="en-US" dirty="0"/>
              <a:t>by The Linux </a:t>
            </a:r>
            <a:r>
              <a:rPr lang="en-US" dirty="0" smtClean="0"/>
              <a:t>Foundation and includes </a:t>
            </a:r>
            <a:r>
              <a:rPr lang="en-US" dirty="0"/>
              <a:t>collaborators </a:t>
            </a:r>
            <a:r>
              <a:rPr lang="en-US" dirty="0" smtClean="0"/>
              <a:t>from </a:t>
            </a:r>
            <a:r>
              <a:rPr lang="en-US" dirty="0"/>
              <a:t>technology, finance, banking, supply chain management, manufacturing</a:t>
            </a:r>
            <a:r>
              <a:rPr lang="en-US" dirty="0" smtClean="0"/>
              <a:t>, </a:t>
            </a:r>
            <a:r>
              <a:rPr lang="en-US" dirty="0" err="1" smtClean="0"/>
              <a:t>IoT</a:t>
            </a:r>
            <a:r>
              <a:rPr lang="en-US" dirty="0" smtClean="0"/>
              <a:t>, and other industries.</a:t>
            </a:r>
          </a:p>
          <a:p>
            <a:endParaRPr lang="en-US" dirty="0"/>
          </a:p>
          <a:p>
            <a:r>
              <a:rPr lang="en-US" dirty="0" smtClean="0"/>
              <a:t>With the addition of the </a:t>
            </a:r>
            <a:r>
              <a:rPr lang="en-US" dirty="0" err="1" smtClean="0"/>
              <a:t>Ursa</a:t>
            </a:r>
            <a:r>
              <a:rPr lang="en-US" dirty="0" smtClean="0"/>
              <a:t> cryptographic library, and the recently announced Grid project, Hyperledger now consists </a:t>
            </a:r>
            <a:r>
              <a:rPr lang="en-US" dirty="0"/>
              <a:t>of </a:t>
            </a:r>
            <a:r>
              <a:rPr lang="en-US" dirty="0" smtClean="0"/>
              <a:t>12 projects (plus the 10 on the following slide)</a:t>
            </a:r>
          </a:p>
          <a:p>
            <a:r>
              <a:rPr lang="en-US" dirty="0" smtClean="0"/>
              <a:t>Grid is the sixth </a:t>
            </a:r>
            <a:r>
              <a:rPr lang="en-US" dirty="0"/>
              <a:t>distributed ledger </a:t>
            </a:r>
            <a:r>
              <a:rPr lang="en-US" dirty="0" smtClean="0"/>
              <a:t>framework and is specifically targeted to support supply-chain applications. </a:t>
            </a:r>
          </a:p>
          <a:p>
            <a:r>
              <a:rPr lang="en-US" dirty="0" smtClean="0"/>
              <a:t>The other projects </a:t>
            </a:r>
            <a:r>
              <a:rPr lang="en-US" dirty="0"/>
              <a:t>are modules that support these frameworks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HYPERLEDGER MODULAR UMBRELLA APPROACH</a:t>
            </a:r>
          </a:p>
        </p:txBody>
      </p:sp>
      <p:pic>
        <p:nvPicPr>
          <p:cNvPr id="7" name="Content Placeholder 6" descr="HyperledgerFeb201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447800"/>
            <a:ext cx="8229600" cy="48006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Hyperledger provides </a:t>
            </a:r>
            <a:r>
              <a:rPr lang="en-US" sz="2400" dirty="0"/>
              <a:t>an alternative to the cryptocurrency-based blockchain model, and focuses on developing blockchain frameworks and modules to support global enterprise solutions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Many of the features are geared towards </a:t>
            </a:r>
            <a:r>
              <a:rPr lang="en-US" sz="2400" dirty="0" err="1" smtClean="0"/>
              <a:t>permissioned</a:t>
            </a:r>
            <a:r>
              <a:rPr lang="en-US" sz="2400" dirty="0" smtClean="0"/>
              <a:t> blockchain applications that involve partial trust. </a:t>
            </a:r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 Frameworks</a:t>
            </a:r>
            <a:endParaRPr lang="en-US" dirty="0"/>
          </a:p>
        </p:txBody>
      </p:sp>
      <p:pic>
        <p:nvPicPr>
          <p:cNvPr id="4" name="Content Placeholder 3" descr="HyperledgerFrameworks1Feb201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600200"/>
            <a:ext cx="8229600" cy="4495800"/>
          </a:xfrm>
        </p:spPr>
      </p:pic>
      <p:sp>
        <p:nvSpPr>
          <p:cNvPr id="5" name="TextBox 4"/>
          <p:cNvSpPr txBox="1"/>
          <p:nvPr/>
        </p:nvSpPr>
        <p:spPr>
          <a:xfrm>
            <a:off x="762000" y="6096000"/>
            <a:ext cx="377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https://www.hyperledger.org/projects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Fabric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Fabric </a:t>
            </a:r>
            <a:r>
              <a:rPr lang="en-US" dirty="0"/>
              <a:t>is </a:t>
            </a:r>
            <a:r>
              <a:rPr lang="en-US" dirty="0" err="1"/>
              <a:t>Hyperledger’s</a:t>
            </a:r>
            <a:r>
              <a:rPr lang="en-US" dirty="0"/>
              <a:t> most active project to date. </a:t>
            </a:r>
            <a:r>
              <a:rPr lang="en-US" dirty="0" smtClean="0"/>
              <a:t>The Fabric 1.0 release</a:t>
            </a:r>
            <a:r>
              <a:rPr lang="en-US" dirty="0"/>
              <a:t> was issued in </a:t>
            </a:r>
            <a:r>
              <a:rPr lang="en-US" dirty="0" smtClean="0"/>
              <a:t>July 2017, and the latest release (as of February 2019) was 1.4.0 in January 2019.</a:t>
            </a:r>
          </a:p>
          <a:p>
            <a:r>
              <a:rPr lang="en-US" dirty="0" smtClean="0"/>
              <a:t>IBM initiated </a:t>
            </a:r>
            <a:r>
              <a:rPr lang="en-US" dirty="0"/>
              <a:t>the Fabric project. It’s intended as a foundation for developing blockchain distributed ledger applications with a modular architecture. It allows components, such as consensus and membership services, to be plug-and-play.</a:t>
            </a:r>
          </a:p>
          <a:p>
            <a:r>
              <a:rPr lang="en-US" dirty="0" smtClean="0"/>
              <a:t>The </a:t>
            </a:r>
            <a:r>
              <a:rPr lang="en-US" dirty="0"/>
              <a:t>core of the platform is written in the Go programming </a:t>
            </a:r>
            <a:r>
              <a:rPr lang="en-US" dirty="0" smtClean="0"/>
              <a:t>language, as are the applications that run on it.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unique characteristic of Fabric is that its distributed ledger and smart contract platform allows for private channels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you </a:t>
            </a:r>
            <a:r>
              <a:rPr lang="en-US" dirty="0"/>
              <a:t>want to share data with only </a:t>
            </a:r>
            <a:r>
              <a:rPr lang="en-US" dirty="0" smtClean="0"/>
              <a:t>certain blockchain participants, </a:t>
            </a:r>
            <a:r>
              <a:rPr lang="en-US" dirty="0"/>
              <a:t>you can create a private channel with just those </a:t>
            </a:r>
            <a:r>
              <a:rPr lang="en-US" dirty="0" smtClean="0"/>
              <a:t>participants.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Burrow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Burrow project includes a </a:t>
            </a:r>
            <a:r>
              <a:rPr lang="en-US" dirty="0" err="1"/>
              <a:t>permissioned</a:t>
            </a:r>
            <a:r>
              <a:rPr lang="en-US" dirty="0"/>
              <a:t>, smart-contract interpreter built in part to the specification of the </a:t>
            </a:r>
            <a:r>
              <a:rPr lang="en-US" dirty="0" err="1"/>
              <a:t>Ethereum</a:t>
            </a:r>
            <a:r>
              <a:rPr lang="en-US" dirty="0"/>
              <a:t> Virtual Machine (EVM).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/>
              <a:t>Ethereum</a:t>
            </a:r>
            <a:r>
              <a:rPr lang="en-US" dirty="0"/>
              <a:t> platform is used both for </a:t>
            </a:r>
            <a:r>
              <a:rPr lang="en-US" dirty="0" err="1"/>
              <a:t>cryptocurrency</a:t>
            </a:r>
            <a:r>
              <a:rPr lang="en-US" dirty="0"/>
              <a:t> as well as for smart </a:t>
            </a:r>
            <a:r>
              <a:rPr lang="en-US" dirty="0" smtClean="0"/>
              <a:t>contracts</a:t>
            </a:r>
            <a:r>
              <a:rPr lang="en-US" dirty="0"/>
              <a:t> </a:t>
            </a:r>
            <a:r>
              <a:rPr lang="en-US" dirty="0" smtClean="0"/>
              <a:t>and is </a:t>
            </a:r>
            <a:r>
              <a:rPr lang="en-US" dirty="0"/>
              <a:t>written with </a:t>
            </a:r>
            <a:r>
              <a:rPr lang="en-US" dirty="0" smtClean="0"/>
              <a:t>the Solidity programming language. </a:t>
            </a:r>
          </a:p>
          <a:p>
            <a:endParaRPr lang="en-US" dirty="0" smtClean="0"/>
          </a:p>
          <a:p>
            <a:r>
              <a:rPr lang="en-US" dirty="0" smtClean="0"/>
              <a:t>Within </a:t>
            </a:r>
            <a:r>
              <a:rPr lang="en-US" dirty="0"/>
              <a:t>the Burrow Project, the EVM is the interpreter for smart contracts (not related to </a:t>
            </a:r>
            <a:r>
              <a:rPr lang="en-US" dirty="0" err="1"/>
              <a:t>cryptocurrency</a:t>
            </a:r>
            <a:r>
              <a:rPr lang="en-US" dirty="0"/>
              <a:t>) that run across the </a:t>
            </a:r>
            <a:r>
              <a:rPr lang="en-US" dirty="0" err="1"/>
              <a:t>Ethereum</a:t>
            </a:r>
            <a:r>
              <a:rPr lang="en-US" dirty="0"/>
              <a:t> network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relationship with the Ethereum community is considered important to Hyperledger, and Burrow </a:t>
            </a:r>
            <a:r>
              <a:rPr lang="en-US" dirty="0"/>
              <a:t>is the only Apache-licensed Ethereum VM </a:t>
            </a:r>
            <a:r>
              <a:rPr lang="en-US" dirty="0" smtClean="0"/>
              <a:t>implementation.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 Frameworks (cont’d)</a:t>
            </a:r>
            <a:endParaRPr lang="en-US" dirty="0"/>
          </a:p>
        </p:txBody>
      </p:sp>
      <p:pic>
        <p:nvPicPr>
          <p:cNvPr id="4" name="Content Placeholder 3" descr="HyperledgerFrameworks2Feb201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447800"/>
            <a:ext cx="8229600" cy="4648200"/>
          </a:xfrm>
        </p:spPr>
      </p:pic>
      <p:sp>
        <p:nvSpPr>
          <p:cNvPr id="5" name="TextBox 4"/>
          <p:cNvSpPr txBox="1"/>
          <p:nvPr/>
        </p:nvSpPr>
        <p:spPr>
          <a:xfrm>
            <a:off x="762000" y="6096000"/>
            <a:ext cx="377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https://www.hyperledger.org/projects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Sawtooth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dirty="0" err="1"/>
              <a:t>Sawtooth</a:t>
            </a:r>
            <a:r>
              <a:rPr lang="en-US" dirty="0"/>
              <a:t> project originally came </a:t>
            </a:r>
            <a:r>
              <a:rPr lang="en-US" dirty="0" smtClean="0"/>
              <a:t>from Intel. </a:t>
            </a:r>
            <a:r>
              <a:rPr lang="en-US" dirty="0"/>
              <a:t>It includes a novel consensus algorithm called Proof of Elapsed </a:t>
            </a:r>
            <a:r>
              <a:rPr lang="en-US" dirty="0" smtClean="0"/>
              <a:t>Time (</a:t>
            </a:r>
            <a:r>
              <a:rPr lang="en-US" dirty="0" err="1" smtClean="0"/>
              <a:t>PoET</a:t>
            </a:r>
            <a:r>
              <a:rPr lang="en-US" dirty="0" smtClean="0"/>
              <a:t>).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/>
              <a:t>Sawtooth</a:t>
            </a:r>
            <a:r>
              <a:rPr lang="en-US" dirty="0"/>
              <a:t> consensus software targets large distributed validator populations with minimal resource consumption.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 is designed to work with very </a:t>
            </a:r>
            <a:r>
              <a:rPr lang="en-US" dirty="0"/>
              <a:t>broad and flat networks of hundreds to thousands of </a:t>
            </a:r>
            <a:r>
              <a:rPr lang="en-US" dirty="0" smtClean="0"/>
              <a:t>nodes without </a:t>
            </a:r>
            <a:r>
              <a:rPr lang="en-US" dirty="0"/>
              <a:t>having the CPU burden of </a:t>
            </a:r>
            <a:r>
              <a:rPr lang="en-US" dirty="0" smtClean="0"/>
              <a:t>cryptocurrencies’ validation methods like Proof of Work.</a:t>
            </a:r>
          </a:p>
          <a:p>
            <a:endParaRPr lang="en-US" dirty="0" smtClean="0"/>
          </a:p>
          <a:p>
            <a:r>
              <a:rPr lang="en-US" dirty="0"/>
              <a:t>Hyperledger </a:t>
            </a:r>
            <a:r>
              <a:rPr lang="en-US" dirty="0" err="1"/>
              <a:t>Sawtooth</a:t>
            </a:r>
            <a:r>
              <a:rPr lang="en-US" dirty="0"/>
              <a:t> offers an SDK to abstract away many of the complicated aspects of blockchain technology. </a:t>
            </a:r>
            <a:endParaRPr lang="en-US" dirty="0" smtClean="0"/>
          </a:p>
          <a:p>
            <a:r>
              <a:rPr lang="en-US" dirty="0" smtClean="0"/>
              <a:t>SDKs </a:t>
            </a:r>
            <a:r>
              <a:rPr lang="en-US" dirty="0"/>
              <a:t>are available in multiple languages, including Java, Python, and Javascript</a:t>
            </a:r>
            <a:r>
              <a:rPr lang="en-US" dirty="0" smtClean="0"/>
              <a:t>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Indy project was originally the brainchild of the nonprofit group </a:t>
            </a:r>
            <a:r>
              <a:rPr lang="en-US" dirty="0" smtClean="0"/>
              <a:t>the </a:t>
            </a:r>
            <a:r>
              <a:rPr lang="en-US" dirty="0" err="1" smtClean="0"/>
              <a:t>Sorvin</a:t>
            </a:r>
            <a:r>
              <a:rPr lang="en-US" dirty="0" smtClean="0"/>
              <a:t> Foundation.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idea is to provide digital identities for individuals and give them the power to share their identity with whom they chose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Not only does it give the individual control over that information, it benefits companies in that they </a:t>
            </a:r>
            <a:r>
              <a:rPr lang="en-US" dirty="0"/>
              <a:t>don’t have to store so much personal </a:t>
            </a:r>
            <a:r>
              <a:rPr lang="en-US" dirty="0" smtClean="0"/>
              <a:t>data, which is a potential liability (e.g. Experian and other hacks).</a:t>
            </a:r>
          </a:p>
          <a:p>
            <a:r>
              <a:rPr lang="en-US" dirty="0" smtClean="0"/>
              <a:t>Instead, they </a:t>
            </a:r>
            <a:r>
              <a:rPr lang="en-US" dirty="0"/>
              <a:t>can store a pointer to the identity</a:t>
            </a:r>
            <a:r>
              <a:rPr lang="en-US" dirty="0" smtClean="0"/>
              <a:t>.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Iroha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Hyperledger </a:t>
            </a:r>
            <a:r>
              <a:rPr lang="en-US" dirty="0" err="1" smtClean="0"/>
              <a:t>Iroha</a:t>
            </a:r>
            <a:r>
              <a:rPr lang="en-US" dirty="0" smtClean="0"/>
              <a:t> is </a:t>
            </a:r>
            <a:r>
              <a:rPr lang="en-US" dirty="0"/>
              <a:t>a blockchain framework contributed by </a:t>
            </a:r>
            <a:r>
              <a:rPr lang="en-US" dirty="0" err="1"/>
              <a:t>Soramitsu</a:t>
            </a:r>
            <a:r>
              <a:rPr lang="en-US" dirty="0"/>
              <a:t>, Hitachi, NTT Data, and </a:t>
            </a:r>
            <a:r>
              <a:rPr lang="en-US" dirty="0" err="1"/>
              <a:t>Colu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is </a:t>
            </a:r>
            <a:r>
              <a:rPr lang="en-US" dirty="0"/>
              <a:t>designed to be simple and easy to incorporate into infrastructure projects requiring distributed ledger technology.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 emphasizes </a:t>
            </a:r>
            <a:r>
              <a:rPr lang="en-US" dirty="0"/>
              <a:t>mobile application development with client libraries for Android and </a:t>
            </a:r>
            <a:r>
              <a:rPr lang="en-US" dirty="0" err="1"/>
              <a:t>iOS</a:t>
            </a:r>
            <a:r>
              <a:rPr lang="en-US" dirty="0"/>
              <a:t>, making it distinct from other Hyperledger frameworks.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Inspired </a:t>
            </a:r>
            <a:r>
              <a:rPr lang="en-US" dirty="0"/>
              <a:t>by </a:t>
            </a:r>
            <a:r>
              <a:rPr lang="en-US" dirty="0" smtClean="0"/>
              <a:t>Hyperledger </a:t>
            </a:r>
            <a:r>
              <a:rPr lang="en-US" dirty="0"/>
              <a:t>Fabric, Hyperledger </a:t>
            </a:r>
            <a:r>
              <a:rPr lang="en-US" dirty="0" err="1"/>
              <a:t>Iroha</a:t>
            </a:r>
            <a:r>
              <a:rPr lang="en-US" dirty="0"/>
              <a:t> seeks to complement Hyperledger Fabric and Hyperledger </a:t>
            </a:r>
            <a:r>
              <a:rPr lang="en-US" dirty="0" err="1"/>
              <a:t>Sawtooth</a:t>
            </a:r>
            <a:r>
              <a:rPr lang="en-US" dirty="0"/>
              <a:t>, while providing a development environment for C++ developers to contribute to Hyperledger.</a:t>
            </a:r>
          </a:p>
          <a:p>
            <a:r>
              <a:rPr lang="en-US" dirty="0" err="1" smtClean="0"/>
              <a:t>Iroha</a:t>
            </a:r>
            <a:r>
              <a:rPr lang="en-US" dirty="0" smtClean="0"/>
              <a:t> </a:t>
            </a:r>
            <a:r>
              <a:rPr lang="en-US" dirty="0"/>
              <a:t>features a simple construction, modern, domain-driven C++ design, along with the consensus </a:t>
            </a:r>
            <a:r>
              <a:rPr lang="en-US" dirty="0" smtClean="0"/>
              <a:t>algorithm YAC (Yet Another Consensus algorithm).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 Tools</a:t>
            </a:r>
            <a:endParaRPr lang="en-US" dirty="0"/>
          </a:p>
        </p:txBody>
      </p:sp>
      <p:pic>
        <p:nvPicPr>
          <p:cNvPr id="4" name="Content Placeholder 3" descr="HyperledgerTools1Feb201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447800"/>
            <a:ext cx="8229600" cy="4495800"/>
          </a:xfrm>
        </p:spPr>
      </p:pic>
      <p:sp>
        <p:nvSpPr>
          <p:cNvPr id="5" name="TextBox 4"/>
          <p:cNvSpPr txBox="1"/>
          <p:nvPr/>
        </p:nvSpPr>
        <p:spPr>
          <a:xfrm>
            <a:off x="533400" y="6172200"/>
            <a:ext cx="377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https://www.hyperledger.org/projects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Hyperledger Composer provides a suite of tools for building blockchain business </a:t>
            </a:r>
            <a:r>
              <a:rPr lang="en-US" dirty="0" smtClean="0"/>
              <a:t>networks on Fabric. </a:t>
            </a:r>
            <a:r>
              <a:rPr lang="en-US" dirty="0"/>
              <a:t>These tools allow you to:</a:t>
            </a:r>
          </a:p>
          <a:p>
            <a:pPr lvl="1"/>
            <a:r>
              <a:rPr lang="en-US" dirty="0"/>
              <a:t>Model your business blockchain network</a:t>
            </a:r>
          </a:p>
          <a:p>
            <a:pPr lvl="1"/>
            <a:r>
              <a:rPr lang="en-US" dirty="0"/>
              <a:t>Generate REST APIs for interacting with your blockchain network</a:t>
            </a:r>
          </a:p>
          <a:p>
            <a:pPr lvl="1"/>
            <a:r>
              <a:rPr lang="en-US" dirty="0"/>
              <a:t>Generate a skeleton Angular application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Built in Javascript, Hyperledger Composer provides an easy-to-use set of components that developers can quickly learn and implement. </a:t>
            </a:r>
            <a:r>
              <a:rPr lang="en-US" dirty="0" smtClean="0"/>
              <a:t>  It abstracts some of the complexity of the Go chain code required for Fabric.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project was contributed by </a:t>
            </a:r>
            <a:r>
              <a:rPr lang="en-US" dirty="0" err="1"/>
              <a:t>Oxchains</a:t>
            </a:r>
            <a:r>
              <a:rPr lang="en-US" dirty="0"/>
              <a:t> and IBM.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Cello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Hyperledger Cello</a:t>
            </a:r>
            <a:r>
              <a:rPr lang="en-US" dirty="0"/>
              <a:t> </a:t>
            </a:r>
            <a:r>
              <a:rPr lang="en-US" dirty="0" smtClean="0"/>
              <a:t>provides </a:t>
            </a:r>
            <a:r>
              <a:rPr lang="en-US" dirty="0"/>
              <a:t>a toolkit that </a:t>
            </a:r>
            <a:r>
              <a:rPr lang="en-US" dirty="0" smtClean="0"/>
              <a:t>enables Blockchain-as-a-Service. </a:t>
            </a:r>
          </a:p>
          <a:p>
            <a:r>
              <a:rPr lang="en-US" dirty="0" smtClean="0"/>
              <a:t>The target market is </a:t>
            </a:r>
            <a:r>
              <a:rPr lang="en-US" dirty="0"/>
              <a:t>for lean businesses and small enterprises, who want to reduce or eliminate the effort required in creating, managing, and terminating </a:t>
            </a:r>
            <a:r>
              <a:rPr lang="en-US" dirty="0" smtClean="0"/>
              <a:t>blockchains.  To accomplish this, </a:t>
            </a:r>
            <a:r>
              <a:rPr lang="en-US" dirty="0"/>
              <a:t>Hyperledger Cello allows blockchains deployment to the cloud. </a:t>
            </a:r>
            <a:endParaRPr lang="en-US" dirty="0" smtClean="0"/>
          </a:p>
          <a:p>
            <a:r>
              <a:rPr lang="en-US" dirty="0" smtClean="0"/>
              <a:t>Operators </a:t>
            </a:r>
            <a:r>
              <a:rPr lang="en-US" dirty="0"/>
              <a:t>can create and manage such blockchains through a dashboard, and users </a:t>
            </a:r>
            <a:r>
              <a:rPr lang="en-US" dirty="0" smtClean="0"/>
              <a:t>(e.g. </a:t>
            </a:r>
            <a:r>
              <a:rPr lang="en-US" dirty="0" err="1" smtClean="0"/>
              <a:t>chaincode</a:t>
            </a:r>
            <a:r>
              <a:rPr lang="en-US" dirty="0" smtClean="0"/>
              <a:t> </a:t>
            </a:r>
            <a:r>
              <a:rPr lang="en-US" dirty="0"/>
              <a:t>developers) can obtain a blockchain instance immediately.</a:t>
            </a:r>
          </a:p>
          <a:p>
            <a:r>
              <a:rPr lang="en-US" dirty="0" smtClean="0"/>
              <a:t>Developers </a:t>
            </a:r>
            <a:r>
              <a:rPr lang="en-US" dirty="0"/>
              <a:t>and </a:t>
            </a:r>
            <a:r>
              <a:rPr lang="en-US" dirty="0" smtClean="0"/>
              <a:t>system administrators </a:t>
            </a:r>
            <a:r>
              <a:rPr lang="en-US" dirty="0"/>
              <a:t>using Cello can provision and maintain Hyperledger </a:t>
            </a:r>
            <a:r>
              <a:rPr lang="en-US" dirty="0" smtClean="0"/>
              <a:t>networks in </a:t>
            </a:r>
            <a:r>
              <a:rPr lang="en-US" dirty="0"/>
              <a:t>virtual clouds known as 'container clusters', and then, manage and monitor those networks with a configurable dashboard. </a:t>
            </a:r>
            <a:endParaRPr lang="en-US" dirty="0" smtClean="0"/>
          </a:p>
          <a:p>
            <a:r>
              <a:rPr lang="en-US" dirty="0" smtClean="0"/>
              <a:t>Cello can also be used to build </a:t>
            </a:r>
            <a:r>
              <a:rPr lang="en-US" dirty="0"/>
              <a:t>a Blockchain-as-a-Service (</a:t>
            </a:r>
            <a:r>
              <a:rPr lang="en-US" dirty="0" err="1"/>
              <a:t>BaaS</a:t>
            </a:r>
            <a:r>
              <a:rPr lang="en-US" dirty="0"/>
              <a:t>) platform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Hyperledger Cello was initially contributed by IBM, with sponsors from </a:t>
            </a:r>
            <a:r>
              <a:rPr lang="en-US" dirty="0" err="1" smtClean="0"/>
              <a:t>Soramitsu</a:t>
            </a:r>
            <a:r>
              <a:rPr lang="en-US" dirty="0" smtClean="0"/>
              <a:t>, </a:t>
            </a:r>
            <a:r>
              <a:rPr lang="en-US" dirty="0" err="1" smtClean="0"/>
              <a:t>Huawei</a:t>
            </a:r>
            <a:r>
              <a:rPr lang="en-US" dirty="0" smtClean="0"/>
              <a:t>, and Intel.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 Tools (cont’d)</a:t>
            </a:r>
            <a:endParaRPr lang="en-US" dirty="0"/>
          </a:p>
        </p:txBody>
      </p:sp>
      <p:pic>
        <p:nvPicPr>
          <p:cNvPr id="4" name="Content Placeholder 3" descr="HyperledgerTools2Feb201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524000"/>
            <a:ext cx="8229600" cy="4267200"/>
          </a:xfrm>
        </p:spPr>
      </p:pic>
      <p:sp>
        <p:nvSpPr>
          <p:cNvPr id="5" name="TextBox 4"/>
          <p:cNvSpPr txBox="1"/>
          <p:nvPr/>
        </p:nvSpPr>
        <p:spPr>
          <a:xfrm>
            <a:off x="762000" y="6096000"/>
            <a:ext cx="377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https://www.hyperledger.org/projects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40000" lnSpcReduction="20000"/>
          </a:bodyPr>
          <a:lstStyle/>
          <a:p>
            <a:r>
              <a:rPr lang="en-US" sz="5000" dirty="0"/>
              <a:t>Hyperledger </a:t>
            </a:r>
            <a:r>
              <a:rPr lang="en-US" sz="5000" dirty="0" smtClean="0"/>
              <a:t>Explorer</a:t>
            </a:r>
            <a:r>
              <a:rPr lang="en-US" sz="5000" dirty="0"/>
              <a:t> </a:t>
            </a:r>
            <a:r>
              <a:rPr lang="en-US" sz="5000" dirty="0" smtClean="0"/>
              <a:t>is </a:t>
            </a:r>
            <a:r>
              <a:rPr lang="en-US" sz="5000" dirty="0"/>
              <a:t>a tool for visualizing blockchain operations. It is the first ever blockchain explorer for </a:t>
            </a:r>
            <a:r>
              <a:rPr lang="en-US" sz="5000" dirty="0" err="1"/>
              <a:t>permissioned</a:t>
            </a:r>
            <a:r>
              <a:rPr lang="en-US" sz="5000" dirty="0"/>
              <a:t> ledgers, allowing anyone to explore the distributed ledger projects being created by </a:t>
            </a:r>
            <a:r>
              <a:rPr lang="en-US" sz="5000" dirty="0" err="1"/>
              <a:t>Hyperledger's</a:t>
            </a:r>
            <a:r>
              <a:rPr lang="en-US" sz="5000" dirty="0"/>
              <a:t> members from the inside, without compromising their privacy. </a:t>
            </a:r>
          </a:p>
          <a:p>
            <a:r>
              <a:rPr lang="en-US" sz="5000" dirty="0"/>
              <a:t>Designed to create a user-friendly web application, Hyperledger Explorer can view, invoke, deploy, or query:</a:t>
            </a:r>
          </a:p>
          <a:p>
            <a:pPr lvl="1"/>
            <a:r>
              <a:rPr lang="en-US" sz="5000" dirty="0" smtClean="0"/>
              <a:t>Blocks, Transactions </a:t>
            </a:r>
            <a:r>
              <a:rPr lang="en-US" sz="5000" dirty="0"/>
              <a:t>and associated data</a:t>
            </a:r>
          </a:p>
          <a:p>
            <a:pPr lvl="1"/>
            <a:r>
              <a:rPr lang="en-US" sz="5000" dirty="0"/>
              <a:t>Network information (name, status, list of nodes)</a:t>
            </a:r>
          </a:p>
          <a:p>
            <a:pPr lvl="1"/>
            <a:r>
              <a:rPr lang="en-US" sz="5000" dirty="0"/>
              <a:t>Smart contracts (chain codes and transaction families)</a:t>
            </a:r>
          </a:p>
          <a:p>
            <a:pPr lvl="1"/>
            <a:r>
              <a:rPr lang="en-US" sz="5000" dirty="0"/>
              <a:t>Other relevant information stored in the ledger.</a:t>
            </a:r>
          </a:p>
          <a:p>
            <a:r>
              <a:rPr lang="en-US" sz="5000" dirty="0"/>
              <a:t>The ability to visualize data is of critical importance, in order to extract business value from it. Hyperledger Explorer provides this much needed functionality. Key components include a web server, a web UI, web sockets, a database, a security repository, and a blockchain implementation</a:t>
            </a:r>
            <a:r>
              <a:rPr lang="en-US" sz="5000" dirty="0" smtClean="0"/>
              <a:t>.</a:t>
            </a:r>
          </a:p>
          <a:p>
            <a:r>
              <a:rPr lang="en-US" sz="5000" dirty="0" smtClean="0"/>
              <a:t>The project was contributed by DTCC, Intel, and IBM.</a:t>
            </a:r>
            <a:endParaRPr lang="en-US" sz="5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Hyperledger Modularity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Business blockchain requirements vary. </a:t>
            </a:r>
            <a:endParaRPr lang="en-US" dirty="0" smtClean="0"/>
          </a:p>
          <a:p>
            <a:r>
              <a:rPr lang="en-US" dirty="0" smtClean="0"/>
              <a:t>Speed, scalability</a:t>
            </a:r>
            <a:r>
              <a:rPr lang="en-US" dirty="0"/>
              <a:t>, confidentiality, compliance, workflow complexity, and even </a:t>
            </a:r>
            <a:r>
              <a:rPr lang="en-US" dirty="0" smtClean="0"/>
              <a:t>security requirements </a:t>
            </a:r>
            <a:r>
              <a:rPr lang="en-US" dirty="0"/>
              <a:t>differ drastically across industries and uses.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these reasons, Hyperledger incubates and promotes a range of business </a:t>
            </a:r>
            <a:r>
              <a:rPr lang="en-US" dirty="0" smtClean="0"/>
              <a:t>blockchain technologies </a:t>
            </a:r>
            <a:r>
              <a:rPr lang="en-US" dirty="0"/>
              <a:t>including distributed ledgers, smart contract engines, client libraries, </a:t>
            </a:r>
            <a:r>
              <a:rPr lang="en-US" dirty="0" smtClean="0"/>
              <a:t>graphical interfaces</a:t>
            </a:r>
            <a:r>
              <a:rPr lang="en-US" dirty="0"/>
              <a:t>, utility libraries, and sample applications.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Hyperledger’s</a:t>
            </a:r>
            <a:r>
              <a:rPr lang="en-US" dirty="0" smtClean="0"/>
              <a:t> </a:t>
            </a:r>
            <a:r>
              <a:rPr lang="en-US" dirty="0"/>
              <a:t>umbrella </a:t>
            </a:r>
            <a:r>
              <a:rPr lang="en-US" dirty="0" smtClean="0"/>
              <a:t>strategy encourages </a:t>
            </a:r>
            <a:r>
              <a:rPr lang="en-US" dirty="0"/>
              <a:t>the re-use of common building blocks via a modular architectural framework.</a:t>
            </a:r>
          </a:p>
          <a:p>
            <a:r>
              <a:rPr lang="en-US" dirty="0"/>
              <a:t>This enables rapid innovation of distributed ledger technology (DLT), common </a:t>
            </a:r>
            <a:r>
              <a:rPr lang="en-US" dirty="0" smtClean="0"/>
              <a:t>functional modules</a:t>
            </a:r>
            <a:r>
              <a:rPr lang="en-US" dirty="0"/>
              <a:t>, and the interfaces between them.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benefits of this modular approach </a:t>
            </a:r>
            <a:r>
              <a:rPr lang="en-US" dirty="0" smtClean="0"/>
              <a:t>include extensibility</a:t>
            </a:r>
            <a:r>
              <a:rPr lang="en-US" dirty="0"/>
              <a:t>, flexibility, and the ability for any component to be modified </a:t>
            </a:r>
            <a:r>
              <a:rPr lang="en-US" dirty="0" smtClean="0"/>
              <a:t>independently without </a:t>
            </a:r>
            <a:r>
              <a:rPr lang="en-US" dirty="0"/>
              <a:t>affecting the rest of the system.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All Hyperledger projects follow a design philosophy that includes a modular </a:t>
            </a:r>
            <a:r>
              <a:rPr lang="en-US" sz="1800" dirty="0" smtClean="0"/>
              <a:t>extensible approach</a:t>
            </a:r>
            <a:r>
              <a:rPr lang="en-US" sz="1800" dirty="0"/>
              <a:t>, interoperability, an emphasis on highly secure solutions, a </a:t>
            </a:r>
            <a:r>
              <a:rPr lang="en-US" sz="1800" dirty="0" smtClean="0"/>
              <a:t>token-agnostic approach </a:t>
            </a:r>
            <a:r>
              <a:rPr lang="en-US" sz="1800" dirty="0"/>
              <a:t>with no native cryptocurrency, and the development of a rich and </a:t>
            </a:r>
            <a:r>
              <a:rPr lang="en-US" sz="1800" dirty="0" smtClean="0"/>
              <a:t>easy-to-use Application </a:t>
            </a:r>
            <a:r>
              <a:rPr lang="en-US" sz="1800" dirty="0"/>
              <a:t>Programming Interface (API). </a:t>
            </a:r>
            <a:endParaRPr lang="en-US" sz="1800" dirty="0" smtClean="0"/>
          </a:p>
          <a:p>
            <a:r>
              <a:rPr lang="en-US" sz="1800" dirty="0" smtClean="0"/>
              <a:t>The </a:t>
            </a:r>
            <a:r>
              <a:rPr lang="en-US" sz="1800" dirty="0"/>
              <a:t>Hyperledger Architecture WG </a:t>
            </a:r>
            <a:r>
              <a:rPr lang="en-US" sz="1800" dirty="0" smtClean="0"/>
              <a:t>has distinguished </a:t>
            </a:r>
            <a:r>
              <a:rPr lang="en-US" sz="1800" dirty="0"/>
              <a:t>the following business blockchain </a:t>
            </a:r>
            <a:r>
              <a:rPr lang="en-US" sz="1800" dirty="0" smtClean="0"/>
              <a:t>components:</a:t>
            </a:r>
          </a:p>
          <a:p>
            <a:pPr lvl="1"/>
            <a:r>
              <a:rPr lang="en-US" sz="1800" dirty="0" smtClean="0"/>
              <a:t>Consensus </a:t>
            </a:r>
            <a:r>
              <a:rPr lang="en-US" sz="1800" dirty="0"/>
              <a:t>Layer - Responsible for generating an agreement on the order </a:t>
            </a:r>
            <a:r>
              <a:rPr lang="en-US" sz="1800" dirty="0" smtClean="0"/>
              <a:t>and confirming </a:t>
            </a:r>
            <a:r>
              <a:rPr lang="en-US" sz="1800" dirty="0"/>
              <a:t>the correctness of the set of transactions that constitute a </a:t>
            </a:r>
            <a:r>
              <a:rPr lang="en-US" sz="1800" dirty="0" smtClean="0"/>
              <a:t>block.</a:t>
            </a:r>
          </a:p>
          <a:p>
            <a:pPr lvl="1"/>
            <a:r>
              <a:rPr lang="en-US" sz="1800" dirty="0" smtClean="0"/>
              <a:t>Smart </a:t>
            </a:r>
            <a:r>
              <a:rPr lang="en-US" sz="1800" dirty="0"/>
              <a:t>Contract Layer - Responsible for processing transaction requests </a:t>
            </a:r>
            <a:r>
              <a:rPr lang="en-US" sz="1800" dirty="0" smtClean="0"/>
              <a:t>and determining </a:t>
            </a:r>
            <a:r>
              <a:rPr lang="en-US" sz="1800" dirty="0"/>
              <a:t>if transactions are valid by executing business </a:t>
            </a:r>
            <a:r>
              <a:rPr lang="en-US" sz="1800" dirty="0" smtClean="0"/>
              <a:t>logic.</a:t>
            </a:r>
          </a:p>
          <a:p>
            <a:pPr lvl="1"/>
            <a:r>
              <a:rPr lang="en-US" sz="1800" dirty="0" smtClean="0"/>
              <a:t>Communication </a:t>
            </a:r>
            <a:r>
              <a:rPr lang="en-US" sz="1800" dirty="0"/>
              <a:t>Layer - Responsible for peer-to-peer message transport </a:t>
            </a:r>
            <a:r>
              <a:rPr lang="en-US" sz="1800" dirty="0" smtClean="0"/>
              <a:t>between the </a:t>
            </a:r>
            <a:r>
              <a:rPr lang="en-US" sz="1800" dirty="0"/>
              <a:t>nodes that participate in a shared ledger </a:t>
            </a:r>
            <a:r>
              <a:rPr lang="en-US" sz="1800" dirty="0" smtClean="0"/>
              <a:t>instance.</a:t>
            </a:r>
          </a:p>
          <a:p>
            <a:pPr lvl="1"/>
            <a:r>
              <a:rPr lang="en-US" sz="1800" dirty="0" smtClean="0"/>
              <a:t>Data </a:t>
            </a:r>
            <a:r>
              <a:rPr lang="en-US" sz="1800" dirty="0"/>
              <a:t>Store Abstraction - Allows different data-stores to be used by other </a:t>
            </a:r>
            <a:r>
              <a:rPr lang="en-US" sz="1800" dirty="0" smtClean="0"/>
              <a:t>modules.  </a:t>
            </a:r>
            <a:r>
              <a:rPr lang="en-US" sz="1800" dirty="0" err="1" smtClean="0"/>
              <a:t>LevelDB</a:t>
            </a:r>
            <a:r>
              <a:rPr lang="en-US" sz="1800" dirty="0" smtClean="0"/>
              <a:t> is the default, and </a:t>
            </a:r>
            <a:r>
              <a:rPr lang="en-US" sz="1800" dirty="0" err="1" smtClean="0"/>
              <a:t>CouchDB</a:t>
            </a:r>
            <a:r>
              <a:rPr lang="en-US" sz="1800" dirty="0" smtClean="0"/>
              <a:t> is another built-in option.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</a:t>
            </a:r>
            <a:r>
              <a:rPr lang="en-US" dirty="0" smtClean="0"/>
              <a:t>Overview</a:t>
            </a:r>
            <a:br>
              <a:rPr lang="en-US" dirty="0" smtClean="0"/>
            </a:br>
            <a:r>
              <a:rPr lang="en-US" dirty="0" smtClean="0"/>
              <a:t>Blockchain components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1800" dirty="0" smtClean="0"/>
              <a:t>Crypto </a:t>
            </a:r>
            <a:r>
              <a:rPr lang="en-US" sz="1800" dirty="0"/>
              <a:t>Abstraction - Allows different crypto algorithms or modules to be </a:t>
            </a:r>
            <a:r>
              <a:rPr lang="en-US" sz="1800" dirty="0" smtClean="0"/>
              <a:t>swapped out </a:t>
            </a:r>
            <a:r>
              <a:rPr lang="en-US" sz="1800" dirty="0"/>
              <a:t>without affecting other </a:t>
            </a:r>
            <a:r>
              <a:rPr lang="en-US" sz="1800" dirty="0" smtClean="0"/>
              <a:t>modules.</a:t>
            </a:r>
          </a:p>
          <a:p>
            <a:pPr lvl="1"/>
            <a:r>
              <a:rPr lang="en-US" sz="1800" dirty="0" smtClean="0"/>
              <a:t>Identity </a:t>
            </a:r>
            <a:r>
              <a:rPr lang="en-US" sz="1800" dirty="0"/>
              <a:t>Services - Enables the establishment of a root of trust during setup of </a:t>
            </a:r>
            <a:r>
              <a:rPr lang="en-US" sz="1800" dirty="0" smtClean="0"/>
              <a:t>a blockchain </a:t>
            </a:r>
            <a:r>
              <a:rPr lang="en-US" sz="1800" dirty="0"/>
              <a:t>instance, the enrollment and registration of identities or system </a:t>
            </a:r>
            <a:r>
              <a:rPr lang="en-US" sz="1800" dirty="0" smtClean="0"/>
              <a:t>entities during </a:t>
            </a:r>
            <a:r>
              <a:rPr lang="en-US" sz="1800" dirty="0"/>
              <a:t>network operation, and the management of changes like drops, adds, </a:t>
            </a:r>
            <a:r>
              <a:rPr lang="en-US" sz="1800" dirty="0" smtClean="0"/>
              <a:t>and revocations</a:t>
            </a:r>
            <a:r>
              <a:rPr lang="en-US" sz="1800" dirty="0"/>
              <a:t>. Also, provides authentication and </a:t>
            </a:r>
            <a:r>
              <a:rPr lang="en-US" sz="1800" dirty="0" smtClean="0"/>
              <a:t>authorization.</a:t>
            </a:r>
          </a:p>
          <a:p>
            <a:pPr lvl="1"/>
            <a:r>
              <a:rPr lang="en-US" sz="1800" dirty="0" smtClean="0"/>
              <a:t>Policy </a:t>
            </a:r>
            <a:r>
              <a:rPr lang="en-US" sz="1800" dirty="0"/>
              <a:t>Services - Responsible for policy management of various policies </a:t>
            </a:r>
            <a:r>
              <a:rPr lang="en-US" sz="1800" dirty="0" smtClean="0"/>
              <a:t>specified in </a:t>
            </a:r>
            <a:r>
              <a:rPr lang="en-US" sz="1800" dirty="0"/>
              <a:t>the system, such as the endorsement policy, consensus policy, or </a:t>
            </a:r>
            <a:r>
              <a:rPr lang="en-US" sz="1800" dirty="0" smtClean="0"/>
              <a:t>group management </a:t>
            </a:r>
            <a:r>
              <a:rPr lang="en-US" sz="1800" dirty="0"/>
              <a:t>policy. It interfaces and depends on other modules to enforce </a:t>
            </a:r>
            <a:r>
              <a:rPr lang="en-US" sz="1800" dirty="0" smtClean="0"/>
              <a:t>the various policies.</a:t>
            </a:r>
          </a:p>
          <a:p>
            <a:pPr lvl="1"/>
            <a:r>
              <a:rPr lang="en-US" sz="1800" dirty="0" smtClean="0"/>
              <a:t>APIs </a:t>
            </a:r>
            <a:r>
              <a:rPr lang="en-US" sz="1800" dirty="0"/>
              <a:t>- Enables clients and applications to interface to </a:t>
            </a:r>
            <a:r>
              <a:rPr lang="en-US" sz="1800" dirty="0" smtClean="0"/>
              <a:t>blockchains.</a:t>
            </a:r>
          </a:p>
          <a:p>
            <a:pPr lvl="1"/>
            <a:r>
              <a:rPr lang="en-US" sz="1800" dirty="0" smtClean="0"/>
              <a:t>Interoperation </a:t>
            </a:r>
            <a:r>
              <a:rPr lang="en-US" sz="1800" dirty="0"/>
              <a:t>- Supports the interoperation between different blockchain instances.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Consensus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600" dirty="0" smtClean="0"/>
              <a:t>Consensus </a:t>
            </a:r>
            <a:r>
              <a:rPr lang="en-US" sz="2600" dirty="0"/>
              <a:t>must provide </a:t>
            </a:r>
            <a:r>
              <a:rPr lang="en-US" sz="2600" dirty="0" smtClean="0"/>
              <a:t>the following </a:t>
            </a:r>
            <a:r>
              <a:rPr lang="en-US" sz="2600" dirty="0"/>
              <a:t>core </a:t>
            </a:r>
            <a:r>
              <a:rPr lang="en-US" sz="2600" dirty="0" smtClean="0"/>
              <a:t>functionality:</a:t>
            </a:r>
          </a:p>
          <a:p>
            <a:pPr lvl="1"/>
            <a:r>
              <a:rPr lang="en-US" sz="2600" dirty="0" smtClean="0"/>
              <a:t>Confirms </a:t>
            </a:r>
            <a:r>
              <a:rPr lang="en-US" sz="2600" dirty="0"/>
              <a:t>the correctness of all transactions in a proposed block, according </a:t>
            </a:r>
            <a:r>
              <a:rPr lang="en-US" sz="2600" dirty="0" smtClean="0"/>
              <a:t>to endorsement </a:t>
            </a:r>
            <a:r>
              <a:rPr lang="en-US" sz="2600" dirty="0"/>
              <a:t>and consensus </a:t>
            </a:r>
            <a:r>
              <a:rPr lang="en-US" sz="2600" dirty="0" smtClean="0"/>
              <a:t>policies.</a:t>
            </a:r>
          </a:p>
          <a:p>
            <a:pPr lvl="1"/>
            <a:r>
              <a:rPr lang="en-US" sz="2600" dirty="0" smtClean="0"/>
              <a:t>Agrees </a:t>
            </a:r>
            <a:r>
              <a:rPr lang="en-US" sz="2600" dirty="0"/>
              <a:t>on order and correctness and hence on results of execution (</a:t>
            </a:r>
            <a:r>
              <a:rPr lang="en-US" sz="2600" dirty="0" smtClean="0"/>
              <a:t>implies agreement </a:t>
            </a:r>
            <a:r>
              <a:rPr lang="en-US" sz="2600" dirty="0"/>
              <a:t>on global state</a:t>
            </a:r>
            <a:r>
              <a:rPr lang="en-US" sz="2600" dirty="0" smtClean="0"/>
              <a:t>).</a:t>
            </a:r>
          </a:p>
          <a:p>
            <a:pPr lvl="1"/>
            <a:r>
              <a:rPr lang="en-US" sz="2600" dirty="0" smtClean="0"/>
              <a:t>Interfaces </a:t>
            </a:r>
            <a:r>
              <a:rPr lang="en-US" sz="2600" dirty="0"/>
              <a:t>and depends on smart-contract </a:t>
            </a:r>
            <a:r>
              <a:rPr lang="en-US" sz="2600" dirty="0" smtClean="0"/>
              <a:t>layer, if applicable, </a:t>
            </a:r>
            <a:r>
              <a:rPr lang="en-US" sz="2600" dirty="0"/>
              <a:t>to verify correctness of an </a:t>
            </a:r>
            <a:r>
              <a:rPr lang="en-US" sz="2600" dirty="0" smtClean="0"/>
              <a:t>ordered set </a:t>
            </a:r>
            <a:r>
              <a:rPr lang="en-US" sz="2600" dirty="0"/>
              <a:t>of transactions in a block</a:t>
            </a:r>
            <a:r>
              <a:rPr lang="en-US" sz="2600" dirty="0" smtClean="0"/>
              <a:t>.</a:t>
            </a:r>
          </a:p>
          <a:p>
            <a:pPr lvl="1"/>
            <a:endParaRPr lang="en-US" sz="2600" dirty="0" smtClean="0"/>
          </a:p>
          <a:p>
            <a:r>
              <a:rPr lang="en-US" sz="2600" dirty="0" smtClean="0"/>
              <a:t>The operating assumption for Hyperledger developers is that business blockchain networks will operate in an environment of partial trust. </a:t>
            </a:r>
          </a:p>
          <a:p>
            <a:endParaRPr lang="en-US" sz="2600" dirty="0" smtClean="0"/>
          </a:p>
          <a:p>
            <a:r>
              <a:rPr lang="en-US" sz="2600" dirty="0" smtClean="0"/>
              <a:t>Given this, standard </a:t>
            </a:r>
            <a:r>
              <a:rPr lang="en-US" sz="2600" dirty="0" err="1" smtClean="0"/>
              <a:t>PoW</a:t>
            </a:r>
            <a:r>
              <a:rPr lang="en-US" sz="2600" dirty="0" smtClean="0"/>
              <a:t> consensus approaches with anonymous miners are purposely not included, as these approaches impose too great a cost in terms of resources and time to be optimal for business blockchain networks.</a:t>
            </a:r>
          </a:p>
          <a:p>
            <a:r>
              <a:rPr lang="en-US" sz="2600" dirty="0" smtClean="0"/>
              <a:t>Many </a:t>
            </a:r>
            <a:r>
              <a:rPr lang="en-US" sz="2600" dirty="0" err="1" smtClean="0"/>
              <a:t>PoS</a:t>
            </a:r>
            <a:r>
              <a:rPr lang="en-US" sz="2600" dirty="0" smtClean="0"/>
              <a:t> methods are also not applicable given partial trust.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Comparison of Consensus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Alternatives to </a:t>
            </a:r>
            <a:r>
              <a:rPr lang="en-US" dirty="0" err="1" smtClean="0"/>
              <a:t>PoW</a:t>
            </a:r>
            <a:r>
              <a:rPr lang="en-US" dirty="0" smtClean="0"/>
              <a:t> and </a:t>
            </a:r>
            <a:r>
              <a:rPr lang="en-US" dirty="0" err="1" smtClean="0"/>
              <a:t>PoS</a:t>
            </a:r>
            <a:r>
              <a:rPr lang="en-US" dirty="0" smtClean="0"/>
              <a:t> algorithms that may be more applicable to partial trust blockchains such as Hyperledger include  lottery and voting-based methods.</a:t>
            </a:r>
          </a:p>
          <a:p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of these approaches targets different network requirements </a:t>
            </a:r>
            <a:r>
              <a:rPr lang="en-US" dirty="0" smtClean="0"/>
              <a:t>and fault </a:t>
            </a:r>
            <a:r>
              <a:rPr lang="en-US" dirty="0"/>
              <a:t>tolerance models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lottery-based algorithms are advantageous in that they can scale to a large </a:t>
            </a:r>
            <a:r>
              <a:rPr lang="en-US" dirty="0" smtClean="0"/>
              <a:t>number of </a:t>
            </a:r>
            <a:r>
              <a:rPr lang="en-US" dirty="0"/>
              <a:t>nodes since the winner of the lottery proposes a block and transmits it to the </a:t>
            </a:r>
            <a:r>
              <a:rPr lang="en-US" dirty="0" smtClean="0"/>
              <a:t>rest of </a:t>
            </a:r>
            <a:r>
              <a:rPr lang="en-US" dirty="0"/>
              <a:t>the network for validation. </a:t>
            </a:r>
            <a:endParaRPr lang="en-US" dirty="0" smtClean="0"/>
          </a:p>
          <a:p>
            <a:r>
              <a:rPr lang="en-US" dirty="0" smtClean="0"/>
              <a:t>On </a:t>
            </a:r>
            <a:r>
              <a:rPr lang="en-US" dirty="0"/>
              <a:t>the other hand, these algorithms may lead to </a:t>
            </a:r>
            <a:r>
              <a:rPr lang="en-US" dirty="0" smtClean="0"/>
              <a:t>forking when </a:t>
            </a:r>
            <a:r>
              <a:rPr lang="en-US" dirty="0"/>
              <a:t>two “winners” propose a block.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fork must be resolved, which results in </a:t>
            </a:r>
            <a:r>
              <a:rPr lang="en-US" dirty="0" smtClean="0"/>
              <a:t>a longer </a:t>
            </a:r>
            <a:r>
              <a:rPr lang="en-US" dirty="0"/>
              <a:t>time to finality.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Consensus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The voting-based algorithms are advantageous in that they provide low-latency </a:t>
            </a:r>
            <a:r>
              <a:rPr lang="en-US" sz="2600" dirty="0" smtClean="0"/>
              <a:t>finality; no potential forking to be resolved.</a:t>
            </a:r>
          </a:p>
          <a:p>
            <a:endParaRPr lang="en-US" sz="2600" dirty="0"/>
          </a:p>
          <a:p>
            <a:r>
              <a:rPr lang="en-US" sz="2600" dirty="0"/>
              <a:t>When a majority of nodes validates a transaction or block, consensus exists and </a:t>
            </a:r>
            <a:r>
              <a:rPr lang="en-US" sz="2600" dirty="0" smtClean="0"/>
              <a:t>finality occurs</a:t>
            </a:r>
            <a:r>
              <a:rPr lang="en-US" sz="2600" dirty="0"/>
              <a:t>. </a:t>
            </a:r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Because </a:t>
            </a:r>
            <a:r>
              <a:rPr lang="en-US" sz="2600" dirty="0"/>
              <a:t>voting-based algorithms typically require nodes to transfer </a:t>
            </a:r>
            <a:r>
              <a:rPr lang="en-US" sz="2600" dirty="0" smtClean="0"/>
              <a:t>messages to </a:t>
            </a:r>
            <a:r>
              <a:rPr lang="en-US" sz="2600" dirty="0"/>
              <a:t>each of the other nodes on the network, the more nodes that exist on the network</a:t>
            </a:r>
            <a:r>
              <a:rPr lang="en-US" sz="2600" dirty="0" smtClean="0"/>
              <a:t>, the </a:t>
            </a:r>
            <a:r>
              <a:rPr lang="en-US" sz="2600" dirty="0"/>
              <a:t>more time it takes to reach consensus. </a:t>
            </a:r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This </a:t>
            </a:r>
            <a:r>
              <a:rPr lang="en-US" sz="2600" dirty="0"/>
              <a:t>results in a trade-off between </a:t>
            </a:r>
            <a:r>
              <a:rPr lang="en-US" sz="2600" dirty="0" smtClean="0"/>
              <a:t>scalability and </a:t>
            </a:r>
            <a:r>
              <a:rPr lang="en-US" sz="2600" dirty="0"/>
              <a:t>speed</a:t>
            </a:r>
            <a:r>
              <a:rPr lang="en-US" sz="26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GENERALIZED HYPERLEDGER CONSENSUS PROCESS FLOW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195" y="1600200"/>
            <a:ext cx="81276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6248400"/>
            <a:ext cx="8168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https://www.hyperledger.org/wp-content/uploads/2017/08/Hyperledger_Arch_WG_Paper_1_Consensus.pdf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05800" cy="1143000"/>
          </a:xfrm>
        </p:spPr>
        <p:txBody>
          <a:bodyPr>
            <a:noAutofit/>
          </a:bodyPr>
          <a:lstStyle/>
          <a:p>
            <a:r>
              <a:rPr lang="en-US" sz="3200" dirty="0"/>
              <a:t>ONE POSSIBLE TRANSACTION FLOW (</a:t>
            </a:r>
            <a:r>
              <a:rPr lang="en-US" sz="3200" dirty="0" smtClean="0"/>
              <a:t>COMMON-CASE PATH</a:t>
            </a:r>
            <a:r>
              <a:rPr lang="en-US" sz="3200" dirty="0"/>
              <a:t>) IN HYPERLEDGER FABRIC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01376"/>
            <a:ext cx="8229600" cy="432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6248400"/>
            <a:ext cx="81681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https://www.hyperledger.org/wp-content/uploads/2017/08/Hyperledger_Arch_WG_Paper_1_Consensus.pdf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Consensus in Hyperledger </a:t>
            </a:r>
            <a:r>
              <a:rPr lang="en-US" dirty="0" err="1"/>
              <a:t>Sawtooth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Hyperledger </a:t>
            </a:r>
            <a:r>
              <a:rPr lang="en-US" sz="1800" dirty="0" err="1"/>
              <a:t>Sawtooth</a:t>
            </a:r>
            <a:r>
              <a:rPr lang="en-US" sz="1800" dirty="0"/>
              <a:t> facilitates pluggable consensus for both lottery and </a:t>
            </a:r>
            <a:r>
              <a:rPr lang="en-US" sz="1800" dirty="0" smtClean="0"/>
              <a:t>voting algorithms</a:t>
            </a:r>
            <a:r>
              <a:rPr lang="en-US" sz="1800" dirty="0"/>
              <a:t>. </a:t>
            </a:r>
            <a:endParaRPr lang="en-US" sz="1800" dirty="0" smtClean="0"/>
          </a:p>
          <a:p>
            <a:r>
              <a:rPr lang="en-US" sz="1800" dirty="0" smtClean="0"/>
              <a:t>By </a:t>
            </a:r>
            <a:r>
              <a:rPr lang="en-US" sz="1800" dirty="0"/>
              <a:t>default, Hyperledger </a:t>
            </a:r>
            <a:r>
              <a:rPr lang="en-US" sz="1800" dirty="0" err="1"/>
              <a:t>Sawtooth</a:t>
            </a:r>
            <a:r>
              <a:rPr lang="en-US" sz="1800" dirty="0"/>
              <a:t> uses a </a:t>
            </a:r>
            <a:r>
              <a:rPr lang="en-US" sz="1800" dirty="0" smtClean="0"/>
              <a:t>lottery-based consensus algorithm </a:t>
            </a:r>
            <a:r>
              <a:rPr lang="en-US" sz="1800" dirty="0"/>
              <a:t>called </a:t>
            </a:r>
            <a:r>
              <a:rPr lang="en-US" sz="1800" dirty="0" err="1"/>
              <a:t>PoET</a:t>
            </a:r>
            <a:r>
              <a:rPr lang="en-US" sz="1800" dirty="0"/>
              <a:t>. </a:t>
            </a:r>
            <a:endParaRPr lang="en-US" sz="1800" dirty="0" smtClean="0"/>
          </a:p>
          <a:p>
            <a:r>
              <a:rPr lang="en-US" sz="1800" dirty="0" err="1" smtClean="0"/>
              <a:t>PoET</a:t>
            </a:r>
            <a:r>
              <a:rPr lang="en-US" sz="1800" dirty="0" smtClean="0"/>
              <a:t> </a:t>
            </a:r>
            <a:r>
              <a:rPr lang="en-US" sz="1800" dirty="0"/>
              <a:t>uses a lottery for leader </a:t>
            </a:r>
            <a:r>
              <a:rPr lang="en-US" sz="1800" dirty="0" smtClean="0"/>
              <a:t>election based </a:t>
            </a:r>
            <a:r>
              <a:rPr lang="en-US" sz="1800" dirty="0"/>
              <a:t>on a guaranteed wait time provided through a Trusted Execution Environment (TEE</a:t>
            </a:r>
            <a:r>
              <a:rPr lang="en-US" sz="1800" dirty="0" smtClean="0"/>
              <a:t>)</a:t>
            </a:r>
          </a:p>
          <a:p>
            <a:r>
              <a:rPr lang="en-US" sz="1800" dirty="0" smtClean="0"/>
              <a:t>The </a:t>
            </a:r>
            <a:r>
              <a:rPr lang="en-US" sz="1800" dirty="0"/>
              <a:t>current implementation of Hyperledger </a:t>
            </a:r>
            <a:r>
              <a:rPr lang="en-US" sz="1800" dirty="0" err="1"/>
              <a:t>Sawtooth</a:t>
            </a:r>
            <a:r>
              <a:rPr lang="en-US" sz="1800" dirty="0"/>
              <a:t> builds on a TEE provided by </a:t>
            </a:r>
            <a:r>
              <a:rPr lang="en-US" sz="1800" dirty="0" smtClean="0"/>
              <a:t>Intel’s Software </a:t>
            </a:r>
            <a:r>
              <a:rPr lang="en-US" sz="1800" dirty="0"/>
              <a:t>Guard Extensions (SGX). </a:t>
            </a:r>
            <a:r>
              <a:rPr lang="en-US" sz="1800" dirty="0" smtClean="0"/>
              <a:t>(</a:t>
            </a:r>
            <a:r>
              <a:rPr lang="en-US" sz="1800" dirty="0" smtClean="0">
                <a:hlinkClick r:id="rId2"/>
              </a:rPr>
              <a:t>https://software.intel.com/en-us/sgx</a:t>
            </a:r>
            <a:r>
              <a:rPr lang="en-US" sz="1800" dirty="0" smtClean="0"/>
              <a:t>)</a:t>
            </a:r>
          </a:p>
          <a:p>
            <a:r>
              <a:rPr lang="en-US" sz="1800" dirty="0" smtClean="0"/>
              <a:t>This </a:t>
            </a:r>
            <a:r>
              <a:rPr lang="en-US" sz="1800" dirty="0"/>
              <a:t>ensures the safety and randomness of the </a:t>
            </a:r>
            <a:r>
              <a:rPr lang="en-US" sz="1800" dirty="0" smtClean="0"/>
              <a:t>leader election </a:t>
            </a:r>
            <a:r>
              <a:rPr lang="en-US" sz="1800" dirty="0"/>
              <a:t>process without requiring the costly investment of power and specialized </a:t>
            </a:r>
            <a:r>
              <a:rPr lang="en-US" sz="1800" dirty="0" smtClean="0"/>
              <a:t>hardware inherent </a:t>
            </a:r>
            <a:r>
              <a:rPr lang="en-US" sz="1800" dirty="0"/>
              <a:t>in most “proof” algorithms.</a:t>
            </a:r>
          </a:p>
          <a:p>
            <a:r>
              <a:rPr lang="en-US" sz="1800" dirty="0"/>
              <a:t>Every </a:t>
            </a:r>
            <a:r>
              <a:rPr lang="en-US" sz="1800" dirty="0" err="1"/>
              <a:t>PoET</a:t>
            </a:r>
            <a:r>
              <a:rPr lang="en-US" sz="1800" dirty="0"/>
              <a:t> </a:t>
            </a:r>
            <a:r>
              <a:rPr lang="en-US" sz="1800" dirty="0" err="1"/>
              <a:t>validator</a:t>
            </a:r>
            <a:r>
              <a:rPr lang="en-US" sz="1800" dirty="0"/>
              <a:t> requests a random time to wait from a trusted function before </a:t>
            </a:r>
            <a:r>
              <a:rPr lang="en-US" sz="1800" dirty="0" smtClean="0"/>
              <a:t>claiming leadership</a:t>
            </a:r>
            <a:r>
              <a:rPr lang="en-US" sz="1800" dirty="0"/>
              <a:t>. </a:t>
            </a:r>
            <a:r>
              <a:rPr lang="en-US" sz="1800" dirty="0" smtClean="0"/>
              <a:t>The </a:t>
            </a:r>
            <a:r>
              <a:rPr lang="en-US" sz="1800" dirty="0" err="1"/>
              <a:t>validator</a:t>
            </a:r>
            <a:r>
              <a:rPr lang="en-US" sz="1800" dirty="0"/>
              <a:t> with the shortest wait time for a particular transaction block </a:t>
            </a:r>
            <a:r>
              <a:rPr lang="en-US" sz="1800" dirty="0" smtClean="0"/>
              <a:t>is implicitly </a:t>
            </a:r>
            <a:r>
              <a:rPr lang="en-US" sz="1800" dirty="0"/>
              <a:t>elected the leader</a:t>
            </a:r>
            <a:r>
              <a:rPr lang="en-US" sz="1800" dirty="0" smtClean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172200"/>
            <a:ext cx="7819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https://sawtooth.hyperledger.org/docs/core/releases/1.0/architecture/poet.html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Sawtooth</a:t>
            </a:r>
            <a:r>
              <a:rPr lang="en-US" dirty="0" smtClean="0"/>
              <a:t> and </a:t>
            </a:r>
            <a:r>
              <a:rPr lang="en-US" dirty="0" err="1" smtClean="0"/>
              <a:t>PoET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PoET</a:t>
            </a:r>
            <a:r>
              <a:rPr lang="en-US" dirty="0"/>
              <a:t> leader election algorithm meets the criteria for a good lottery algorithm. </a:t>
            </a:r>
            <a:endParaRPr lang="en-US" dirty="0" smtClean="0"/>
          </a:p>
          <a:p>
            <a:r>
              <a:rPr lang="en-US" dirty="0" smtClean="0"/>
              <a:t>It randomly </a:t>
            </a:r>
            <a:r>
              <a:rPr lang="en-US" dirty="0"/>
              <a:t>distributes leadership election across the entire population of </a:t>
            </a:r>
            <a:r>
              <a:rPr lang="en-US" dirty="0" err="1"/>
              <a:t>validators</a:t>
            </a:r>
            <a:r>
              <a:rPr lang="en-US" dirty="0"/>
              <a:t> with </a:t>
            </a:r>
            <a:r>
              <a:rPr lang="en-US" dirty="0" smtClean="0"/>
              <a:t>a distribution </a:t>
            </a:r>
            <a:r>
              <a:rPr lang="en-US" dirty="0"/>
              <a:t>that is similar to what is provided by other lottery algorithms.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probability </a:t>
            </a:r>
            <a:r>
              <a:rPr lang="en-US" dirty="0" smtClean="0"/>
              <a:t>of election </a:t>
            </a:r>
            <a:r>
              <a:rPr lang="en-US" dirty="0"/>
              <a:t>is proportional to the resources contributed, where resources are general </a:t>
            </a:r>
            <a:r>
              <a:rPr lang="en-US" dirty="0" smtClean="0"/>
              <a:t>purpose processors </a:t>
            </a:r>
            <a:r>
              <a:rPr lang="en-US" dirty="0"/>
              <a:t>with a TEE.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attestation of execution provides information for verifying that </a:t>
            </a:r>
            <a:r>
              <a:rPr lang="en-US" dirty="0" smtClean="0"/>
              <a:t>the certificate </a:t>
            </a:r>
            <a:r>
              <a:rPr lang="en-US" dirty="0"/>
              <a:t>was created within the TEE and that the </a:t>
            </a:r>
            <a:r>
              <a:rPr lang="en-US" dirty="0" err="1"/>
              <a:t>validator</a:t>
            </a:r>
            <a:r>
              <a:rPr lang="en-US" dirty="0"/>
              <a:t> waited the allotted time.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Further, the </a:t>
            </a:r>
            <a:r>
              <a:rPr lang="en-US" dirty="0"/>
              <a:t>low cost of participation increases the likelihood that the population of </a:t>
            </a:r>
            <a:r>
              <a:rPr lang="en-US" dirty="0" err="1"/>
              <a:t>validators</a:t>
            </a:r>
            <a:r>
              <a:rPr lang="en-US" dirty="0"/>
              <a:t> will </a:t>
            </a:r>
            <a:r>
              <a:rPr lang="en-US" dirty="0" smtClean="0"/>
              <a:t>be large</a:t>
            </a:r>
            <a:r>
              <a:rPr lang="en-US" dirty="0"/>
              <a:t>, increasing the robustness of the consensus algorithm.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Hyperledger Fabric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Key Design Features:</a:t>
            </a:r>
            <a:endParaRPr lang="en-US" dirty="0"/>
          </a:p>
          <a:p>
            <a:r>
              <a:rPr lang="en-US" b="1" dirty="0"/>
              <a:t>Assets</a:t>
            </a:r>
            <a:r>
              <a:rPr lang="en-US" dirty="0"/>
              <a:t> - Asset definitions enable the exchange of almost anything with monetary value over the network, from whole foods to antique cars to currency futures.</a:t>
            </a:r>
          </a:p>
          <a:p>
            <a:r>
              <a:rPr lang="en-US" b="1" dirty="0" err="1"/>
              <a:t>Chaincode</a:t>
            </a:r>
            <a:r>
              <a:rPr lang="en-US" dirty="0"/>
              <a:t> - </a:t>
            </a:r>
            <a:r>
              <a:rPr lang="en-US" dirty="0" err="1"/>
              <a:t>Chaincode</a:t>
            </a:r>
            <a:r>
              <a:rPr lang="en-US" dirty="0"/>
              <a:t> execution is partitioned from transaction ordering, limiting the required levels of trust and verification across node types, and optimizing network scalability and performance.</a:t>
            </a:r>
          </a:p>
          <a:p>
            <a:r>
              <a:rPr lang="en-US" b="1" dirty="0"/>
              <a:t>Ledger Features</a:t>
            </a:r>
            <a:r>
              <a:rPr lang="en-US" dirty="0"/>
              <a:t> - The immutable, shared ledger encodes the entire transaction history for each channel, and includes SQL-like query capability for efficient auditing and dispute resolution.</a:t>
            </a:r>
          </a:p>
          <a:p>
            <a:r>
              <a:rPr lang="en-US" b="1" dirty="0"/>
              <a:t>Privacy through Channels</a:t>
            </a:r>
            <a:r>
              <a:rPr lang="en-US" dirty="0"/>
              <a:t> - Channels enable multi-lateral transactions with the high degrees of privacy and confidentiality required by competing businesses and regulated industries that exchange assets on a common network.</a:t>
            </a:r>
          </a:p>
          <a:p>
            <a:r>
              <a:rPr lang="en-US" b="1" dirty="0"/>
              <a:t>Security &amp; Membership Services</a:t>
            </a:r>
            <a:r>
              <a:rPr lang="en-US" dirty="0"/>
              <a:t> - </a:t>
            </a:r>
            <a:r>
              <a:rPr lang="en-US" dirty="0" err="1"/>
              <a:t>Permissioned</a:t>
            </a:r>
            <a:r>
              <a:rPr lang="en-US" dirty="0"/>
              <a:t> membership provides a trusted blockchain network, where participants know that all transactions can be detected and traced by authorized regulators and auditors.</a:t>
            </a:r>
          </a:p>
          <a:p>
            <a:r>
              <a:rPr lang="en-US" b="1" dirty="0"/>
              <a:t>Consensus</a:t>
            </a:r>
            <a:r>
              <a:rPr lang="en-US" dirty="0"/>
              <a:t> - a unique approach to consensus enables the flexibility and scalability needed for the enterprise.</a:t>
            </a:r>
          </a:p>
          <a:p>
            <a:pPr>
              <a:buNone/>
            </a:pPr>
            <a:r>
              <a:rPr lang="en-US" dirty="0" smtClean="0"/>
              <a:t>http://hyperledger-fabric.readthedocs.io/en/release/fabric_model.html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Assets can range from the tangible (real estate and hardware) to the intangible (contracts and intellectual property</a:t>
            </a:r>
            <a:r>
              <a:rPr lang="en-US" dirty="0" smtClean="0"/>
              <a:t>), with a user-defined set of properties. </a:t>
            </a:r>
          </a:p>
          <a:p>
            <a:endParaRPr lang="en-US" dirty="0" smtClean="0"/>
          </a:p>
          <a:p>
            <a:r>
              <a:rPr lang="en-US" dirty="0" smtClean="0"/>
              <a:t>Hyperledger </a:t>
            </a:r>
            <a:r>
              <a:rPr lang="en-US" dirty="0"/>
              <a:t>Fabric provides the ability to modify assets using </a:t>
            </a:r>
            <a:r>
              <a:rPr lang="en-US" dirty="0" err="1"/>
              <a:t>chaincode</a:t>
            </a:r>
            <a:r>
              <a:rPr lang="en-US" dirty="0"/>
              <a:t> transactions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Assets are represented in Hyperledger Fabric as a collection of key-value pairs, with state changes recorded as transactions on a Channel ledger. </a:t>
            </a:r>
            <a:endParaRPr lang="en-US" dirty="0" smtClean="0"/>
          </a:p>
          <a:p>
            <a:r>
              <a:rPr lang="en-US" dirty="0" smtClean="0"/>
              <a:t>Assets </a:t>
            </a:r>
            <a:r>
              <a:rPr lang="en-US" dirty="0"/>
              <a:t>can be represented in binary and/or JSON form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You can easily define and use assets in your Hyperledger Fabric applications using the Hyperledger Composer tool.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Chaincode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Chaincode</a:t>
            </a:r>
            <a:r>
              <a:rPr lang="en-US" dirty="0"/>
              <a:t> is software defining an asset or assets, and the transaction instructions for modifying the </a:t>
            </a:r>
            <a:r>
              <a:rPr lang="en-US" dirty="0" smtClean="0"/>
              <a:t>asset(s); it’s </a:t>
            </a:r>
            <a:r>
              <a:rPr lang="en-US" dirty="0"/>
              <a:t>the business </a:t>
            </a:r>
            <a:r>
              <a:rPr lang="en-US" dirty="0" smtClean="0"/>
              <a:t>logic, or the smart contract.</a:t>
            </a:r>
          </a:p>
          <a:p>
            <a:endParaRPr lang="en-US" dirty="0" smtClean="0"/>
          </a:p>
          <a:p>
            <a:r>
              <a:rPr lang="en-US" dirty="0" err="1" smtClean="0"/>
              <a:t>Chaincode</a:t>
            </a:r>
            <a:r>
              <a:rPr lang="en-US" dirty="0" smtClean="0"/>
              <a:t> </a:t>
            </a:r>
            <a:r>
              <a:rPr lang="en-US" dirty="0"/>
              <a:t>enforces the rules for reading or altering key value pairs or other state database information.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Chaincode</a:t>
            </a:r>
            <a:r>
              <a:rPr lang="en-US" dirty="0" smtClean="0"/>
              <a:t> </a:t>
            </a:r>
            <a:r>
              <a:rPr lang="en-US" dirty="0"/>
              <a:t>functions execute against the ledger’s current state database and are initiated through a transaction proposal.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Chaincode</a:t>
            </a:r>
            <a:r>
              <a:rPr lang="en-US" dirty="0" smtClean="0"/>
              <a:t> </a:t>
            </a:r>
            <a:r>
              <a:rPr lang="en-US" dirty="0"/>
              <a:t>execution results in a set of key value writes (write set) that can be submitted to the network and applied to the ledger on all peers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Ledger, Transactions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ledger is the sequenced, tamper-resistant record of all state transitions in the fabric; the blockchain.</a:t>
            </a:r>
          </a:p>
          <a:p>
            <a:endParaRPr lang="en-US" sz="2000" dirty="0" smtClean="0"/>
          </a:p>
          <a:p>
            <a:r>
              <a:rPr lang="en-US" sz="2000" dirty="0" smtClean="0"/>
              <a:t>State transitions are a result of </a:t>
            </a:r>
            <a:r>
              <a:rPr lang="en-US" sz="2000" dirty="0" err="1" smtClean="0"/>
              <a:t>chaincode</a:t>
            </a:r>
            <a:r>
              <a:rPr lang="en-US" sz="2000" dirty="0" smtClean="0"/>
              <a:t> transactions submitted by participating parties. </a:t>
            </a:r>
          </a:p>
          <a:p>
            <a:r>
              <a:rPr lang="en-US" sz="2000" dirty="0" smtClean="0"/>
              <a:t>Transactions consist of the versions of keys/values that were read in </a:t>
            </a:r>
            <a:r>
              <a:rPr lang="en-US" sz="2000" dirty="0" err="1" smtClean="0"/>
              <a:t>chaincode</a:t>
            </a:r>
            <a:r>
              <a:rPr lang="en-US" sz="2000" dirty="0" smtClean="0"/>
              <a:t> (read set) and keys/values that were written in </a:t>
            </a:r>
            <a:r>
              <a:rPr lang="en-US" sz="2000" dirty="0" err="1" smtClean="0"/>
              <a:t>chaincode</a:t>
            </a:r>
            <a:r>
              <a:rPr lang="en-US" sz="2000" dirty="0" smtClean="0"/>
              <a:t> (write set).</a:t>
            </a:r>
          </a:p>
          <a:p>
            <a:endParaRPr lang="en-US" sz="2000" dirty="0" smtClean="0"/>
          </a:p>
          <a:p>
            <a:r>
              <a:rPr lang="en-US" sz="2000" dirty="0" smtClean="0"/>
              <a:t>Transactions contain signatures of every endorsing peer and are submitted to ordering service.</a:t>
            </a:r>
          </a:p>
          <a:p>
            <a:r>
              <a:rPr lang="en-US" sz="2000" dirty="0" smtClean="0"/>
              <a:t>Transactions are ordered into blocks and are “delivered” from an ordering service to peers on a channel.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Ledger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dirty="0" smtClean="0"/>
              <a:t>So the ledger is comprised of a blockchain to store the immutable, sequenced record in blocks, as well as a state database to maintain current fabric state. </a:t>
            </a:r>
          </a:p>
          <a:p>
            <a:endParaRPr lang="en-US" sz="2200" dirty="0" smtClean="0"/>
          </a:p>
          <a:p>
            <a:r>
              <a:rPr lang="en-US" sz="2200" dirty="0" smtClean="0"/>
              <a:t>There is one ledger per channel. </a:t>
            </a:r>
          </a:p>
          <a:p>
            <a:r>
              <a:rPr lang="en-US" sz="2200" dirty="0" smtClean="0"/>
              <a:t>Each peer maintains a copy of the ledger for each channel of which they are a member.</a:t>
            </a:r>
          </a:p>
          <a:p>
            <a:endParaRPr lang="en-US" sz="2200" dirty="0" smtClean="0"/>
          </a:p>
          <a:p>
            <a:r>
              <a:rPr lang="en-US" sz="2200" dirty="0" smtClean="0"/>
              <a:t>The ledger supports</a:t>
            </a:r>
          </a:p>
          <a:p>
            <a:pPr lvl="1"/>
            <a:r>
              <a:rPr lang="en-US" sz="2200" dirty="0" smtClean="0"/>
              <a:t>Blockchain explorer functions</a:t>
            </a:r>
          </a:p>
          <a:p>
            <a:pPr lvl="1"/>
            <a:r>
              <a:rPr lang="en-US" sz="2200" dirty="0" smtClean="0"/>
              <a:t>Query and update using key-based lookups, range queries, and composite key queries</a:t>
            </a:r>
          </a:p>
          <a:p>
            <a:pPr lvl="1"/>
            <a:r>
              <a:rPr lang="en-US" sz="2200" dirty="0" smtClean="0"/>
              <a:t>Read-only queries using a rich query language (if using </a:t>
            </a:r>
            <a:r>
              <a:rPr lang="en-US" sz="2200" dirty="0" err="1" smtClean="0"/>
              <a:t>CouchDB</a:t>
            </a:r>
            <a:r>
              <a:rPr lang="en-US" sz="2200" dirty="0" smtClean="0"/>
              <a:t> as state database)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Privacy through Channels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600" dirty="0" smtClean="0"/>
              <a:t>Hyperledger Fabric employs an immutable ledger and associated </a:t>
            </a:r>
            <a:r>
              <a:rPr lang="en-US" sz="2600" dirty="0" err="1" smtClean="0"/>
              <a:t>chaincode</a:t>
            </a:r>
            <a:r>
              <a:rPr lang="en-US" sz="2600" dirty="0" smtClean="0"/>
              <a:t> on a per-channel basis. </a:t>
            </a:r>
          </a:p>
          <a:p>
            <a:endParaRPr lang="en-US" sz="2600" dirty="0" smtClean="0"/>
          </a:p>
          <a:p>
            <a:r>
              <a:rPr lang="en-US" sz="2600" dirty="0" smtClean="0"/>
              <a:t>A ledger exists in the scope of a channel - it can be shared across the entire network (assuming every participant is operating on one common channel) - or it can be privatized to only include a specific set of participants.</a:t>
            </a:r>
          </a:p>
          <a:p>
            <a:endParaRPr lang="en-US" sz="2600" dirty="0" smtClean="0"/>
          </a:p>
          <a:p>
            <a:r>
              <a:rPr lang="en-US" sz="2600" dirty="0" smtClean="0"/>
              <a:t>And within a channel access can be more finely grained as </a:t>
            </a:r>
            <a:r>
              <a:rPr lang="en-US" sz="2600" dirty="0" err="1" smtClean="0"/>
              <a:t>chaincode</a:t>
            </a:r>
            <a:r>
              <a:rPr lang="en-US" sz="2600" dirty="0" smtClean="0"/>
              <a:t> functions can be selectively installed.</a:t>
            </a:r>
          </a:p>
          <a:p>
            <a:endParaRPr lang="en-US" sz="2600" dirty="0" smtClean="0"/>
          </a:p>
          <a:p>
            <a:r>
              <a:rPr lang="en-US" sz="2600" dirty="0" smtClean="0"/>
              <a:t>To further obfuscate the data, values within </a:t>
            </a:r>
            <a:r>
              <a:rPr lang="en-US" sz="2600" dirty="0" err="1" smtClean="0"/>
              <a:t>chaincode</a:t>
            </a:r>
            <a:r>
              <a:rPr lang="en-US" sz="2600" dirty="0" smtClean="0"/>
              <a:t> can be encrypted (in part or in total) using common cryptographic algorithms such as AES before appending to the ledger.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and Membership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Hyperledger Fabric underpins a transactional network where all participants have known identities. </a:t>
            </a:r>
          </a:p>
          <a:p>
            <a:endParaRPr lang="en-US" dirty="0" smtClean="0"/>
          </a:p>
          <a:p>
            <a:r>
              <a:rPr lang="en-US" dirty="0" smtClean="0"/>
              <a:t>Public Key Infrastructure is used to generate cryptographic certificates which are tied to organizations, network components, and end users or client applications. </a:t>
            </a:r>
          </a:p>
          <a:p>
            <a:endParaRPr lang="en-US" dirty="0" smtClean="0"/>
          </a:p>
          <a:p>
            <a:r>
              <a:rPr lang="en-US" dirty="0" smtClean="0"/>
              <a:t>As a result, data access control can be manipulated and governed on the broader network and on channel levels.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This “</a:t>
            </a:r>
            <a:r>
              <a:rPr lang="en-US" dirty="0" err="1" smtClean="0"/>
              <a:t>permissioned</a:t>
            </a:r>
            <a:r>
              <a:rPr lang="en-US" dirty="0" smtClean="0"/>
              <a:t>” notion of Hyperledger Fabric, coupled with the existence and capabilities of channels, helps address scenarios where privacy and confidentiality are paramount concerns.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5943</TotalTime>
  <Words>2730</Words>
  <Application>Microsoft Office PowerPoint</Application>
  <PresentationFormat>On-screen Show (4:3)</PresentationFormat>
  <Paragraphs>250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Permissioned Blockchains: Hyperledger</vt:lpstr>
      <vt:lpstr>Blockchain: Use Case</vt:lpstr>
      <vt:lpstr>Permissionless vs Permissioned Blockchains</vt:lpstr>
      <vt:lpstr>Hyperledger</vt:lpstr>
      <vt:lpstr>Hyperledger</vt:lpstr>
      <vt:lpstr>Hyperledger</vt:lpstr>
      <vt:lpstr>HYPERLEDGER MODULAR UMBRELLA APPROACH</vt:lpstr>
      <vt:lpstr>Hyperledger</vt:lpstr>
      <vt:lpstr>Hyperledger Frameworks</vt:lpstr>
      <vt:lpstr>Fabric</vt:lpstr>
      <vt:lpstr>Burrow</vt:lpstr>
      <vt:lpstr>Hyperledger Frameworks (cont’d)</vt:lpstr>
      <vt:lpstr>Sawtooth</vt:lpstr>
      <vt:lpstr>Indy</vt:lpstr>
      <vt:lpstr>Iroha</vt:lpstr>
      <vt:lpstr>Hyperledger Tools</vt:lpstr>
      <vt:lpstr>Composer</vt:lpstr>
      <vt:lpstr>Cello</vt:lpstr>
      <vt:lpstr>Hyperledger Tools (cont’d)</vt:lpstr>
      <vt:lpstr>Explorer</vt:lpstr>
      <vt:lpstr>Hyperledger Modularity</vt:lpstr>
      <vt:lpstr>Architecture Overview</vt:lpstr>
      <vt:lpstr>Architecture Overview Blockchain components (cont’d)</vt:lpstr>
      <vt:lpstr>Consensus</vt:lpstr>
      <vt:lpstr>Comparison of Consensus Types</vt:lpstr>
      <vt:lpstr>Consensus Algorithms</vt:lpstr>
      <vt:lpstr>GENERALIZED HYPERLEDGER CONSENSUS PROCESS FLOW</vt:lpstr>
      <vt:lpstr>ONE POSSIBLE TRANSACTION FLOW (COMMON-CASE PATH) IN HYPERLEDGER FABRIC</vt:lpstr>
      <vt:lpstr>Consensus in Hyperledger Sawtooth</vt:lpstr>
      <vt:lpstr>Sawtooth and PoET</vt:lpstr>
      <vt:lpstr>Hyperledger Fabric Model</vt:lpstr>
      <vt:lpstr>Assets</vt:lpstr>
      <vt:lpstr>Chaincode</vt:lpstr>
      <vt:lpstr>The Ledger, Transactions</vt:lpstr>
      <vt:lpstr>Ledger Features</vt:lpstr>
      <vt:lpstr>Privacy through Channels</vt:lpstr>
      <vt:lpstr>Security and Membership Services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BP - FL</dc:creator>
  <cp:lastModifiedBy>BP - FL</cp:lastModifiedBy>
  <cp:revision>28</cp:revision>
  <dcterms:created xsi:type="dcterms:W3CDTF">2018-01-23T01:17:37Z</dcterms:created>
  <dcterms:modified xsi:type="dcterms:W3CDTF">2019-05-19T12:30:36Z</dcterms:modified>
</cp:coreProperties>
</file>