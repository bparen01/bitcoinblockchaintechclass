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72EE1-C08C-428A-8787-19CCE9F9446F}" type="datetimeFigureOut">
              <a:rPr lang="en-US" smtClean="0"/>
              <a:pPr/>
              <a:t>5/19/2019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2BDA7-E237-4768-B8AD-DBF171609C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Privacy Coins:</a:t>
            </a:r>
            <a:br>
              <a:rPr lang="en-US" dirty="0" smtClean="0"/>
            </a:br>
            <a:r>
              <a:rPr lang="en-US" dirty="0" err="1" smtClean="0"/>
              <a:t>Monero</a:t>
            </a:r>
            <a:r>
              <a:rPr lang="en-US" dirty="0" smtClean="0"/>
              <a:t>, Dash, </a:t>
            </a:r>
            <a:r>
              <a:rPr lang="en-US" dirty="0" err="1" smtClean="0"/>
              <a:t>ZCash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Bernard Parenteau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bparente@fit.edu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February 2019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Monero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Monero</a:t>
            </a:r>
            <a:r>
              <a:rPr lang="en-US" dirty="0" smtClean="0"/>
              <a:t> </a:t>
            </a:r>
            <a:r>
              <a:rPr lang="en-US" dirty="0"/>
              <a:t>was launched in April </a:t>
            </a:r>
            <a:r>
              <a:rPr lang="en-US" dirty="0" smtClean="0"/>
              <a:t>2014,  using the </a:t>
            </a:r>
            <a:r>
              <a:rPr lang="en-US" dirty="0" err="1" smtClean="0"/>
              <a:t>CryptoNote</a:t>
            </a:r>
            <a:r>
              <a:rPr lang="en-US" dirty="0" smtClean="0"/>
              <a:t> reference code </a:t>
            </a:r>
          </a:p>
          <a:p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was no </a:t>
            </a:r>
            <a:r>
              <a:rPr lang="en-US" dirty="0" err="1"/>
              <a:t>premine</a:t>
            </a:r>
            <a:r>
              <a:rPr lang="en-US" dirty="0"/>
              <a:t> or </a:t>
            </a:r>
            <a:r>
              <a:rPr lang="en-US" dirty="0" err="1"/>
              <a:t>instamine</a:t>
            </a:r>
            <a:r>
              <a:rPr lang="en-US" dirty="0"/>
              <a:t>, and no portion of the block reward goes to development.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founder, </a:t>
            </a:r>
            <a:r>
              <a:rPr lang="en-US" dirty="0" err="1"/>
              <a:t>thankful_for_today</a:t>
            </a:r>
            <a:r>
              <a:rPr lang="en-US" dirty="0"/>
              <a:t>, proposed some controversial changes that the community disagreed with.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fallout ensued, and the </a:t>
            </a:r>
            <a:r>
              <a:rPr lang="en-US" dirty="0" err="1"/>
              <a:t>Monero</a:t>
            </a:r>
            <a:r>
              <a:rPr lang="en-US" dirty="0"/>
              <a:t> Core Team forked the project with the community following this new Core Team.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Core Team has provided oversight since.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Monero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Monero</a:t>
            </a:r>
            <a:r>
              <a:rPr lang="en-US" dirty="0" smtClean="0"/>
              <a:t> </a:t>
            </a:r>
            <a:r>
              <a:rPr lang="en-US" dirty="0"/>
              <a:t>has made several large improvements since launch.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blockchain was migrated to </a:t>
            </a:r>
            <a:r>
              <a:rPr lang="en-US" dirty="0" smtClean="0"/>
              <a:t>the LMDB (Lightning Memory-Mapped DB) database </a:t>
            </a:r>
            <a:r>
              <a:rPr lang="en-US" dirty="0"/>
              <a:t>structure to provide greater efficiency and </a:t>
            </a:r>
            <a:r>
              <a:rPr lang="en-US" dirty="0" smtClean="0"/>
              <a:t>flexibility</a:t>
            </a:r>
          </a:p>
          <a:p>
            <a:pPr lvl="1"/>
            <a:r>
              <a:rPr lang="en-US" dirty="0" smtClean="0"/>
              <a:t>All transactions </a:t>
            </a:r>
            <a:r>
              <a:rPr lang="en-US" dirty="0"/>
              <a:t>were private by </a:t>
            </a:r>
            <a:r>
              <a:rPr lang="en-US" dirty="0" smtClean="0"/>
              <a:t>mandate</a:t>
            </a:r>
          </a:p>
          <a:p>
            <a:pPr lvl="1"/>
            <a:r>
              <a:rPr lang="en-US" dirty="0" err="1" smtClean="0"/>
              <a:t>RingCT</a:t>
            </a:r>
            <a:r>
              <a:rPr lang="en-US" dirty="0" smtClean="0"/>
              <a:t> </a:t>
            </a:r>
            <a:r>
              <a:rPr lang="en-US" dirty="0"/>
              <a:t>was implemented to </a:t>
            </a:r>
            <a:r>
              <a:rPr lang="en-US" dirty="0" smtClean="0"/>
              <a:t>obscure </a:t>
            </a:r>
            <a:r>
              <a:rPr lang="en-US" dirty="0"/>
              <a:t>the transaction amounts. 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Most updates </a:t>
            </a:r>
            <a:r>
              <a:rPr lang="en-US" dirty="0"/>
              <a:t>have provided improvements to security or privacy, or they have facilitated use. </a:t>
            </a:r>
            <a:endParaRPr lang="en-US" dirty="0" smtClean="0"/>
          </a:p>
          <a:p>
            <a:r>
              <a:rPr lang="en-US" dirty="0" err="1" smtClean="0"/>
              <a:t>Monero’s</a:t>
            </a:r>
            <a:r>
              <a:rPr lang="en-US" dirty="0" smtClean="0"/>
              <a:t> goals, which are reflected in the updates, are privacy </a:t>
            </a:r>
            <a:r>
              <a:rPr lang="en-US" dirty="0"/>
              <a:t>and security first, ease of use and efficiency second.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err="1"/>
              <a:t>Monero</a:t>
            </a:r>
            <a:r>
              <a:rPr lang="en-US" dirty="0"/>
              <a:t> is </a:t>
            </a:r>
            <a:r>
              <a:rPr lang="en-US" dirty="0" smtClean="0"/>
              <a:t>more private that most cryptocurrencies:</a:t>
            </a:r>
            <a:endParaRPr lang="en-US" dirty="0"/>
          </a:p>
          <a:p>
            <a:pPr lvl="1" fontAlgn="base"/>
            <a:r>
              <a:rPr lang="en-US" dirty="0" smtClean="0"/>
              <a:t>The sender is obfuscated with by </a:t>
            </a:r>
            <a:r>
              <a:rPr lang="en-US" dirty="0"/>
              <a:t>ring signatures.</a:t>
            </a:r>
          </a:p>
          <a:p>
            <a:pPr lvl="1" fontAlgn="base"/>
            <a:r>
              <a:rPr lang="en-US" dirty="0" smtClean="0"/>
              <a:t>The receiver is obfuscated by </a:t>
            </a:r>
            <a:r>
              <a:rPr lang="en-US" dirty="0"/>
              <a:t>stealth addresses</a:t>
            </a:r>
            <a:r>
              <a:rPr lang="en-US" dirty="0" smtClean="0"/>
              <a:t>.</a:t>
            </a:r>
          </a:p>
          <a:p>
            <a:pPr lvl="1" fontAlgn="base"/>
            <a:r>
              <a:rPr lang="en-US" dirty="0" smtClean="0"/>
              <a:t>The amount is obfuscated by </a:t>
            </a:r>
            <a:r>
              <a:rPr lang="en-US" dirty="0" err="1" smtClean="0"/>
              <a:t>RingCT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Signatures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Ring signatures; </a:t>
            </a:r>
            <a:r>
              <a:rPr lang="en-US" dirty="0" smtClean="0"/>
              <a:t>A valid signature </a:t>
            </a:r>
            <a:r>
              <a:rPr lang="en-US" dirty="0"/>
              <a:t>is possible from a number of public keys and it’s effectively impossible to determine which key </a:t>
            </a:r>
            <a:r>
              <a:rPr lang="en-US" dirty="0" smtClean="0"/>
              <a:t>signed the transaction.</a:t>
            </a:r>
            <a:endParaRPr lang="en-US" dirty="0"/>
          </a:p>
          <a:p>
            <a:r>
              <a:rPr lang="en-US" dirty="0" smtClean="0"/>
              <a:t>To keep track of outputs that are spent, </a:t>
            </a:r>
            <a:r>
              <a:rPr lang="en-US" dirty="0" err="1" smtClean="0"/>
              <a:t>Monero</a:t>
            </a:r>
            <a:r>
              <a:rPr lang="en-US" dirty="0" smtClean="0"/>
              <a:t> uses </a:t>
            </a:r>
            <a:r>
              <a:rPr lang="en-US" dirty="0"/>
              <a:t>key images.</a:t>
            </a:r>
          </a:p>
          <a:p>
            <a:r>
              <a:rPr lang="en-US" dirty="0"/>
              <a:t>A key image is a cryptographically secure key that is derived from an output transaction being spent, and is made part of every ring signature transaction. </a:t>
            </a:r>
            <a:endParaRPr lang="en-US" dirty="0" smtClean="0"/>
          </a:p>
          <a:p>
            <a:r>
              <a:rPr lang="en-US" dirty="0" smtClean="0"/>
              <a:t>Only </a:t>
            </a:r>
            <a:r>
              <a:rPr lang="en-US" dirty="0"/>
              <a:t>one key image </a:t>
            </a:r>
            <a:r>
              <a:rPr lang="en-US" dirty="0" smtClean="0"/>
              <a:t>can exist </a:t>
            </a:r>
            <a:r>
              <a:rPr lang="en-US" dirty="0"/>
              <a:t>for each transaction output on the </a:t>
            </a:r>
            <a:r>
              <a:rPr lang="en-US" dirty="0" err="1"/>
              <a:t>Monero</a:t>
            </a:r>
            <a:r>
              <a:rPr lang="en-US" dirty="0"/>
              <a:t> blockchain. </a:t>
            </a:r>
            <a:endParaRPr lang="en-US" dirty="0" smtClean="0"/>
          </a:p>
          <a:p>
            <a:r>
              <a:rPr lang="en-US" smtClean="0"/>
              <a:t>It’s not </a:t>
            </a:r>
            <a:r>
              <a:rPr lang="en-US" dirty="0"/>
              <a:t>possible to determine which output created which key image.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list of all used key images is maintained on the </a:t>
            </a:r>
            <a:r>
              <a:rPr lang="en-US" dirty="0" err="1"/>
              <a:t>Monero</a:t>
            </a:r>
            <a:r>
              <a:rPr lang="en-US" dirty="0"/>
              <a:t> blockchain, allowing all miners to verify that no transaction output has been spent twice.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Stealth Addresses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Stealth addresses allow and require the sender to create random one-time addresses for every transaction on behalf of the recipient.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recipient can publish just one address, yet have all of his/her incoming payments go to unique addresses on the blockchain, where they cannot be linked back to either the recipient's published address or any other transactions' addresses.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using stealth addresses, only the sender and receiver can determine where a payment was sent.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RingCT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RingCT</a:t>
            </a:r>
            <a:r>
              <a:rPr lang="en-US" dirty="0"/>
              <a:t>, short for Ring Confidential Transactions, is how transaction amounts are hidden in </a:t>
            </a:r>
            <a:r>
              <a:rPr lang="en-US" dirty="0" err="1"/>
              <a:t>Monero</a:t>
            </a:r>
            <a:r>
              <a:rPr lang="en-US" dirty="0"/>
              <a:t>.</a:t>
            </a:r>
          </a:p>
          <a:p>
            <a:r>
              <a:rPr lang="en-US" dirty="0"/>
              <a:t>Ring CT was implemented </a:t>
            </a:r>
            <a:r>
              <a:rPr lang="en-US" dirty="0" smtClean="0"/>
              <a:t>in </a:t>
            </a:r>
            <a:r>
              <a:rPr lang="en-US" dirty="0"/>
              <a:t>January </a:t>
            </a:r>
            <a:r>
              <a:rPr lang="en-US" dirty="0" smtClean="0"/>
              <a:t>2017 and after September </a:t>
            </a:r>
            <a:r>
              <a:rPr lang="en-US" dirty="0"/>
              <a:t>2017, </a:t>
            </a:r>
            <a:r>
              <a:rPr lang="en-US" dirty="0" smtClean="0"/>
              <a:t>it became </a:t>
            </a:r>
            <a:r>
              <a:rPr lang="en-US" dirty="0"/>
              <a:t>mandatory for all transactions on the network.</a:t>
            </a:r>
          </a:p>
          <a:p>
            <a:r>
              <a:rPr lang="en-US" dirty="0" err="1"/>
              <a:t>RingCT</a:t>
            </a:r>
            <a:r>
              <a:rPr lang="en-US" dirty="0"/>
              <a:t> introduces an improved version of ring </a:t>
            </a:r>
            <a:r>
              <a:rPr lang="en-US" dirty="0" smtClean="0"/>
              <a:t>signatures</a:t>
            </a:r>
            <a:r>
              <a:rPr lang="en-US" dirty="0"/>
              <a:t> called "A Multi-layered Linkable Spontaneous Anonymous Group signature", which allows for hidden amounts, origins and destinations of transactions with reasonable efficiency and verifiable, trustless coin generation.</a:t>
            </a:r>
          </a:p>
          <a:p>
            <a:r>
              <a:rPr lang="en-US" dirty="0"/>
              <a:t> </a:t>
            </a:r>
            <a:r>
              <a:rPr lang="en-US" dirty="0" err="1" smtClean="0"/>
              <a:t>RingCT</a:t>
            </a:r>
            <a:r>
              <a:rPr lang="en-US" dirty="0" smtClean="0"/>
              <a:t> was designed by Bitcoin core developer Adam Back and is also implementation </a:t>
            </a:r>
            <a:r>
              <a:rPr lang="en-US" dirty="0"/>
              <a:t>in Lightning </a:t>
            </a:r>
            <a:r>
              <a:rPr lang="en-US" dirty="0" smtClean="0"/>
              <a:t>network.</a:t>
            </a:r>
          </a:p>
          <a:p>
            <a:r>
              <a:rPr lang="en-US" dirty="0" smtClean="0"/>
              <a:t>It obscures amounts by including multiple amounts and applying a function to each.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Kovri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 smtClean="0"/>
              <a:t>Monero</a:t>
            </a:r>
            <a:r>
              <a:rPr lang="en-US" dirty="0" smtClean="0"/>
              <a:t> has developed and is planning to implement </a:t>
            </a:r>
            <a:r>
              <a:rPr lang="en-US" dirty="0" err="1" smtClean="0"/>
              <a:t>Kovri</a:t>
            </a:r>
            <a:r>
              <a:rPr lang="en-US" smtClean="0"/>
              <a:t>, </a:t>
            </a:r>
            <a:r>
              <a:rPr lang="en-US" dirty="0" smtClean="0"/>
              <a:t>which is like </a:t>
            </a:r>
            <a:r>
              <a:rPr lang="en-US" dirty="0"/>
              <a:t>Tor for masking IP </a:t>
            </a:r>
            <a:r>
              <a:rPr lang="en-US" dirty="0" smtClean="0"/>
              <a:t>addresses.</a:t>
            </a:r>
          </a:p>
          <a:p>
            <a:r>
              <a:rPr lang="en-US" dirty="0" smtClean="0"/>
              <a:t>The I2P referred to below, is an </a:t>
            </a:r>
            <a:r>
              <a:rPr lang="en-US" dirty="0" err="1" smtClean="0"/>
              <a:t>anonymized</a:t>
            </a:r>
            <a:r>
              <a:rPr lang="en-US" dirty="0" smtClean="0"/>
              <a:t> network overlay that is the routing that </a:t>
            </a:r>
            <a:r>
              <a:rPr lang="en-US" dirty="0" err="1" smtClean="0"/>
              <a:t>Monero</a:t>
            </a:r>
            <a:r>
              <a:rPr lang="en-US" dirty="0"/>
              <a:t> </a:t>
            </a:r>
            <a:r>
              <a:rPr lang="en-US" dirty="0" smtClean="0"/>
              <a:t>nodes use.</a:t>
            </a:r>
            <a:endParaRPr lang="en-US" dirty="0"/>
          </a:p>
          <a:p>
            <a:r>
              <a:rPr lang="en-US" dirty="0" smtClean="0"/>
              <a:t>From getkovri.org: </a:t>
            </a:r>
          </a:p>
          <a:p>
            <a:pPr lvl="1"/>
            <a:r>
              <a:rPr lang="en-US" dirty="0" err="1" smtClean="0"/>
              <a:t>Kovri</a:t>
            </a:r>
            <a:r>
              <a:rPr lang="en-US" dirty="0" smtClean="0"/>
              <a:t> </a:t>
            </a:r>
            <a:r>
              <a:rPr lang="en-US" dirty="0"/>
              <a:t>is a free, decentralized, anonymity technology developed by </a:t>
            </a:r>
            <a:r>
              <a:rPr lang="en-US" dirty="0" err="1"/>
              <a:t>Monero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Currently </a:t>
            </a:r>
            <a:r>
              <a:rPr lang="en-US" dirty="0"/>
              <a:t>based on I2P’s open specifications, </a:t>
            </a:r>
            <a:r>
              <a:rPr lang="en-US" dirty="0" err="1"/>
              <a:t>Kovri</a:t>
            </a:r>
            <a:r>
              <a:rPr lang="en-US" dirty="0"/>
              <a:t> uses both garlic encryption and garlic routing to create a private, protected overlay-network across the internet.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overlay-network provides users with the ability to effectively hide their geographical location and internet IP address. </a:t>
            </a:r>
            <a:endParaRPr lang="en-US" dirty="0" smtClean="0"/>
          </a:p>
          <a:p>
            <a:pPr lvl="1"/>
            <a:r>
              <a:rPr lang="en-US" dirty="0" smtClean="0"/>
              <a:t>Essentially</a:t>
            </a:r>
            <a:r>
              <a:rPr lang="en-US" dirty="0"/>
              <a:t>, </a:t>
            </a:r>
            <a:r>
              <a:rPr lang="en-US" dirty="0" err="1"/>
              <a:t>Kovri</a:t>
            </a:r>
            <a:r>
              <a:rPr lang="en-US" dirty="0"/>
              <a:t> covers an application’s internet traffic to make it anonymous within the network.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lightweight and security-focused router, </a:t>
            </a:r>
            <a:r>
              <a:rPr lang="en-US" dirty="0" err="1"/>
              <a:t>Kovri</a:t>
            </a:r>
            <a:r>
              <a:rPr lang="en-US" dirty="0"/>
              <a:t> is fully compatible with the I2P network. </a:t>
            </a:r>
            <a:endParaRPr lang="en-US" dirty="0" smtClean="0"/>
          </a:p>
          <a:p>
            <a:pPr lvl="1"/>
            <a:r>
              <a:rPr lang="en-US" dirty="0" smtClean="0"/>
              <a:t>It is currently in an alpha version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Dash is meant to be more private than Bitcoin and to have the ability to confirm transactions instantly.</a:t>
            </a:r>
          </a:p>
          <a:p>
            <a:endParaRPr lang="en-US" dirty="0"/>
          </a:p>
          <a:p>
            <a:r>
              <a:rPr lang="en-US" dirty="0" smtClean="0"/>
              <a:t>It was launched in early 2014, forked from the </a:t>
            </a:r>
            <a:r>
              <a:rPr lang="en-US" dirty="0" err="1" smtClean="0"/>
              <a:t>LiteCoin</a:t>
            </a:r>
            <a:r>
              <a:rPr lang="en-US" dirty="0" smtClean="0"/>
              <a:t> code (which in turn was forked from the Bitcoin</a:t>
            </a:r>
            <a:r>
              <a:rPr lang="en-US" dirty="0"/>
              <a:t> Core </a:t>
            </a:r>
            <a:r>
              <a:rPr lang="en-US" dirty="0" smtClean="0"/>
              <a:t>code).</a:t>
            </a:r>
          </a:p>
          <a:p>
            <a:endParaRPr lang="en-US" dirty="0"/>
          </a:p>
          <a:p>
            <a:r>
              <a:rPr lang="en-US" dirty="0"/>
              <a:t>Dash </a:t>
            </a:r>
            <a:r>
              <a:rPr lang="en-US" dirty="0" smtClean="0"/>
              <a:t>was originally called </a:t>
            </a:r>
            <a:r>
              <a:rPr lang="en-US" dirty="0" err="1" smtClean="0"/>
              <a:t>Xcoin</a:t>
            </a:r>
            <a:r>
              <a:rPr lang="en-US" dirty="0" smtClean="0"/>
              <a:t>, later became </a:t>
            </a:r>
            <a:r>
              <a:rPr lang="en-US" dirty="0"/>
              <a:t>“</a:t>
            </a:r>
            <a:r>
              <a:rPr lang="en-US" dirty="0" err="1"/>
              <a:t>DarkCoin</a:t>
            </a:r>
            <a:r>
              <a:rPr lang="en-US" dirty="0" smtClean="0"/>
              <a:t>”, and was </a:t>
            </a:r>
            <a:r>
              <a:rPr lang="en-US" dirty="0"/>
              <a:t>eventually rebranded </a:t>
            </a:r>
            <a:r>
              <a:rPr lang="en-US" dirty="0" smtClean="0"/>
              <a:t>as Dash, short for “Digital </a:t>
            </a:r>
            <a:r>
              <a:rPr lang="en-US" dirty="0"/>
              <a:t>Cash”.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 </a:t>
            </a:r>
            <a:r>
              <a:rPr lang="en-US" dirty="0" err="1" smtClean="0"/>
              <a:t>Masternodes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Dash was the first cryptocurrency to implement the </a:t>
            </a:r>
            <a:r>
              <a:rPr lang="en-US" dirty="0" err="1" smtClean="0"/>
              <a:t>Masternode</a:t>
            </a:r>
            <a:r>
              <a:rPr lang="en-US" dirty="0" smtClean="0"/>
              <a:t> model into its protocol. </a:t>
            </a:r>
          </a:p>
          <a:p>
            <a:endParaRPr lang="en-US" dirty="0" smtClean="0"/>
          </a:p>
          <a:p>
            <a:r>
              <a:rPr lang="en-US" dirty="0" err="1" smtClean="0"/>
              <a:t>Masternodes</a:t>
            </a:r>
            <a:r>
              <a:rPr lang="en-US" dirty="0" smtClean="0"/>
              <a:t> </a:t>
            </a:r>
            <a:r>
              <a:rPr lang="en-US" dirty="0"/>
              <a:t>are like the full nodes in the Bitcoin network, except that </a:t>
            </a:r>
            <a:r>
              <a:rPr lang="en-US" dirty="0" smtClean="0"/>
              <a:t>they provide specific services </a:t>
            </a:r>
            <a:r>
              <a:rPr lang="en-US" dirty="0"/>
              <a:t>to the </a:t>
            </a:r>
            <a:r>
              <a:rPr lang="en-US" dirty="0" smtClean="0"/>
              <a:t>network.</a:t>
            </a:r>
          </a:p>
          <a:p>
            <a:endParaRPr lang="en-US" dirty="0" smtClean="0"/>
          </a:p>
          <a:p>
            <a:r>
              <a:rPr lang="en-US" dirty="0" smtClean="0"/>
              <a:t>To run </a:t>
            </a:r>
            <a:r>
              <a:rPr lang="en-US" dirty="0"/>
              <a:t>a </a:t>
            </a:r>
            <a:r>
              <a:rPr lang="en-US" dirty="0" err="1" smtClean="0"/>
              <a:t>Masternode</a:t>
            </a:r>
            <a:r>
              <a:rPr lang="en-US" dirty="0" smtClean="0"/>
              <a:t> requires an investment of 1000 DASH, effectively as a Proof-of-Stake.</a:t>
            </a:r>
          </a:p>
          <a:p>
            <a:r>
              <a:rPr lang="en-US" dirty="0" smtClean="0"/>
              <a:t>In return </a:t>
            </a:r>
            <a:r>
              <a:rPr lang="en-US" dirty="0" err="1"/>
              <a:t>Masternodes</a:t>
            </a:r>
            <a:r>
              <a:rPr lang="en-US" dirty="0"/>
              <a:t> get paid </a:t>
            </a:r>
            <a:r>
              <a:rPr lang="en-US" dirty="0" smtClean="0"/>
              <a:t>back “interest”  by a portion of the mining rewards.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masternodes</a:t>
            </a:r>
            <a:r>
              <a:rPr lang="en-US" dirty="0"/>
              <a:t> create a second tier network, following a Proof of service algorithm, and exists on top of the normal first tier network of miners.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 </a:t>
            </a:r>
            <a:r>
              <a:rPr lang="en-US" dirty="0" err="1" smtClean="0"/>
              <a:t>Masternodes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09999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Masternodes</a:t>
            </a:r>
            <a:r>
              <a:rPr lang="en-US" dirty="0"/>
              <a:t> primary function is to relay transactions across the </a:t>
            </a:r>
            <a:r>
              <a:rPr lang="en-US" dirty="0" smtClean="0"/>
              <a:t>Dash </a:t>
            </a:r>
            <a:r>
              <a:rPr lang="en-US" dirty="0"/>
              <a:t>network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Additionally </a:t>
            </a:r>
            <a:r>
              <a:rPr lang="en-US" dirty="0"/>
              <a:t>they carry out the </a:t>
            </a:r>
            <a:r>
              <a:rPr lang="en-US" dirty="0" err="1"/>
              <a:t>anonymization</a:t>
            </a:r>
            <a:r>
              <a:rPr lang="en-US" dirty="0"/>
              <a:t> of funds (</a:t>
            </a:r>
            <a:r>
              <a:rPr lang="en-US" dirty="0" err="1"/>
              <a:t>PrivateSend</a:t>
            </a:r>
            <a:r>
              <a:rPr lang="en-US" dirty="0"/>
              <a:t>) and enable double-spend-proof transactions through instant lockdowns (</a:t>
            </a:r>
            <a:r>
              <a:rPr lang="en-US" dirty="0" err="1"/>
              <a:t>InstantSend</a:t>
            </a:r>
            <a:r>
              <a:rPr lang="en-US" dirty="0"/>
              <a:t>).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Another </a:t>
            </a:r>
            <a:r>
              <a:rPr lang="en-US" dirty="0"/>
              <a:t>major feature is Decentralized Governance by </a:t>
            </a:r>
            <a:r>
              <a:rPr lang="en-US" dirty="0" smtClean="0"/>
              <a:t>Blockchain, in which </a:t>
            </a:r>
            <a:r>
              <a:rPr lang="en-US" dirty="0" err="1" smtClean="0"/>
              <a:t>masternodes</a:t>
            </a:r>
            <a:r>
              <a:rPr lang="en-US" dirty="0" smtClean="0"/>
              <a:t> vote, </a:t>
            </a:r>
            <a:r>
              <a:rPr lang="en-US" dirty="0"/>
              <a:t>enabling Dash to fund budget proposals and finance its own development. 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Dash has a hard cap of 18 million </a:t>
            </a:r>
            <a:r>
              <a:rPr lang="en-US" dirty="0" smtClean="0"/>
              <a:t>coins.</a:t>
            </a:r>
          </a:p>
          <a:p>
            <a:r>
              <a:rPr lang="en-US" dirty="0" smtClean="0"/>
              <a:t>Currently, </a:t>
            </a:r>
            <a:r>
              <a:rPr lang="en-US" dirty="0"/>
              <a:t>there are </a:t>
            </a:r>
            <a:r>
              <a:rPr lang="en-US" dirty="0" smtClean="0"/>
              <a:t>just over 8 million </a:t>
            </a:r>
            <a:r>
              <a:rPr lang="en-US" dirty="0"/>
              <a:t>coins in circulation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average block mining time is 2.5 minutes</a:t>
            </a:r>
          </a:p>
          <a:p>
            <a:endParaRPr lang="en-US" dirty="0"/>
          </a:p>
          <a:p>
            <a:r>
              <a:rPr lang="en-US" dirty="0" smtClean="0"/>
              <a:t>The current block reward is between 3 and 4 DASH (DASH is currently in the $130 range)</a:t>
            </a:r>
          </a:p>
          <a:p>
            <a:r>
              <a:rPr lang="en-US" dirty="0" smtClean="0"/>
              <a:t>That block reward is split 45% to the miner, 45% to the </a:t>
            </a:r>
            <a:r>
              <a:rPr lang="en-US" dirty="0" err="1" smtClean="0"/>
              <a:t>masternode</a:t>
            </a:r>
            <a:r>
              <a:rPr lang="en-US" dirty="0" smtClean="0"/>
              <a:t>, and 10% to the DASH treasury</a:t>
            </a:r>
          </a:p>
          <a:p>
            <a:endParaRPr lang="en-US" dirty="0" smtClean="0"/>
          </a:p>
          <a:p>
            <a:r>
              <a:rPr lang="en-US" dirty="0" smtClean="0"/>
              <a:t>The block reward decreases by 7.1% every year.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Dash uses a form of </a:t>
            </a:r>
            <a:r>
              <a:rPr lang="en-US" dirty="0" err="1" smtClean="0"/>
              <a:t>coinmixing</a:t>
            </a:r>
            <a:r>
              <a:rPr lang="en-US" dirty="0" smtClean="0"/>
              <a:t> to mask transactions in the </a:t>
            </a:r>
            <a:r>
              <a:rPr lang="en-US" dirty="0" err="1" smtClean="0"/>
              <a:t>PrivateSend</a:t>
            </a:r>
            <a:r>
              <a:rPr lang="en-US" dirty="0" smtClean="0"/>
              <a:t> feature.</a:t>
            </a:r>
          </a:p>
          <a:p>
            <a:endParaRPr lang="en-US" dirty="0" smtClean="0"/>
          </a:p>
          <a:p>
            <a:r>
              <a:rPr lang="en-US" dirty="0" smtClean="0"/>
              <a:t>Funds that will be sent via </a:t>
            </a:r>
            <a:r>
              <a:rPr lang="en-US" dirty="0" err="1" smtClean="0"/>
              <a:t>PrivateSend</a:t>
            </a:r>
            <a:r>
              <a:rPr lang="en-US" dirty="0" smtClean="0"/>
              <a:t> are transparently subdivided into smaller units each with a separate address in your Dash wallet.</a:t>
            </a:r>
          </a:p>
          <a:p>
            <a:r>
              <a:rPr lang="en-US" dirty="0" smtClean="0"/>
              <a:t>When using </a:t>
            </a:r>
            <a:r>
              <a:rPr lang="en-US" dirty="0" err="1" smtClean="0"/>
              <a:t>PrivateSend</a:t>
            </a:r>
            <a:r>
              <a:rPr lang="en-US" dirty="0" smtClean="0"/>
              <a:t>, a number of these are combined with similar amounts from other transactions thereby obscuring actual senders, recipients, and amounts.</a:t>
            </a:r>
          </a:p>
          <a:p>
            <a:endParaRPr lang="en-US" dirty="0"/>
          </a:p>
          <a:p>
            <a:r>
              <a:rPr lang="en-US" dirty="0" smtClean="0"/>
              <a:t>Dash uses a </a:t>
            </a:r>
            <a:r>
              <a:rPr lang="en-US" dirty="0" err="1" smtClean="0"/>
              <a:t>masternodes</a:t>
            </a:r>
            <a:r>
              <a:rPr lang="en-US" dirty="0" smtClean="0"/>
              <a:t> “quorum” to facilitate the </a:t>
            </a:r>
            <a:r>
              <a:rPr lang="en-US" dirty="0" err="1" smtClean="0"/>
              <a:t>InstantSend</a:t>
            </a:r>
            <a:r>
              <a:rPr lang="en-US" dirty="0" smtClean="0"/>
              <a:t> feature.</a:t>
            </a:r>
          </a:p>
          <a:p>
            <a:r>
              <a:rPr lang="en-US" dirty="0"/>
              <a:t>T</a:t>
            </a:r>
            <a:r>
              <a:rPr lang="en-US" dirty="0" smtClean="0"/>
              <a:t>en </a:t>
            </a:r>
            <a:r>
              <a:rPr lang="en-US" dirty="0" err="1" smtClean="0"/>
              <a:t>masternodes</a:t>
            </a:r>
            <a:r>
              <a:rPr lang="en-US" dirty="0" smtClean="0"/>
              <a:t> pseudo-randomly selected after each block is mined (based on the block hash), become be the authority to permit and validate instant transactions before the next block is mined.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Zcash is a decentralized and open-source </a:t>
            </a:r>
            <a:r>
              <a:rPr lang="en-US" dirty="0" smtClean="0"/>
              <a:t>cryptocurrency, based on the Bitcoin Core code, </a:t>
            </a:r>
            <a:r>
              <a:rPr lang="en-US" dirty="0"/>
              <a:t>that offers privacy and selective transparency of transactions. 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Like Bitcoin, Zcash </a:t>
            </a:r>
            <a:r>
              <a:rPr lang="en-US" dirty="0"/>
              <a:t>payments are published on a public </a:t>
            </a:r>
            <a:r>
              <a:rPr lang="en-US" dirty="0" smtClean="0"/>
              <a:t>blockchain.  </a:t>
            </a:r>
          </a:p>
          <a:p>
            <a:pPr fontAlgn="base"/>
            <a:r>
              <a:rPr lang="en-US" dirty="0" smtClean="0"/>
              <a:t>But </a:t>
            </a:r>
            <a:r>
              <a:rPr lang="en-US" dirty="0"/>
              <a:t>the sender, recipient, and amount of a transaction remain private</a:t>
            </a:r>
            <a:r>
              <a:rPr lang="en-US" dirty="0" smtClean="0"/>
              <a:t>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Though Zcash transactions are private, users can provide selective disclosure via a sharable view-key to enable those transactions to be auditable.</a:t>
            </a:r>
          </a:p>
          <a:p>
            <a:pPr fontAlgn="base"/>
            <a:endParaRPr lang="en-U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dirty="0" smtClean="0"/>
              <a:t>Zcash uses cryptographic techniques called zero-knowledge proofs to guarantee the validity of transactions without revealing additional information about them.</a:t>
            </a:r>
          </a:p>
          <a:p>
            <a:endParaRPr lang="en-US" dirty="0" smtClean="0"/>
          </a:p>
          <a:p>
            <a:r>
              <a:rPr lang="en-US" dirty="0" smtClean="0"/>
              <a:t>Zcash uses their own versions of zero-knowledge proofs, called </a:t>
            </a:r>
            <a:r>
              <a:rPr lang="en-US" dirty="0" err="1" smtClean="0"/>
              <a:t>zk</a:t>
            </a:r>
            <a:r>
              <a:rPr lang="en-US" dirty="0" smtClean="0"/>
              <a:t>-SNARKS, for Zero-Knowledge </a:t>
            </a:r>
            <a:r>
              <a:rPr lang="en-US" dirty="0"/>
              <a:t>Succinct Non-Interactive Argument of </a:t>
            </a:r>
            <a:r>
              <a:rPr lang="en-US" dirty="0" smtClean="0"/>
              <a:t>Knowledge.</a:t>
            </a:r>
          </a:p>
          <a:p>
            <a:r>
              <a:rPr lang="en-US" dirty="0" smtClean="0"/>
              <a:t>Zcash has made these open source.</a:t>
            </a:r>
          </a:p>
          <a:p>
            <a:endParaRPr lang="en-US" dirty="0" smtClean="0"/>
          </a:p>
          <a:p>
            <a:r>
              <a:rPr lang="en-US" dirty="0" smtClean="0"/>
              <a:t>The Succinct and Non-Interactive terms refer to advances that </a:t>
            </a:r>
            <a:r>
              <a:rPr lang="en-US" dirty="0" err="1" smtClean="0"/>
              <a:t>zk</a:t>
            </a:r>
            <a:r>
              <a:rPr lang="en-US" dirty="0" smtClean="0"/>
              <a:t>-SNARKS has over previously developed zero-knowledge proofs in enabling more efficient, single-step zero-knowledge verification.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In previous zero-knowledge </a:t>
            </a:r>
            <a:r>
              <a:rPr lang="en-US" dirty="0"/>
              <a:t>protocols</a:t>
            </a:r>
            <a:r>
              <a:rPr lang="en-US" dirty="0" smtClean="0"/>
              <a:t>, the verification was more computationally intensive, and </a:t>
            </a:r>
            <a:r>
              <a:rPr lang="en-US" dirty="0"/>
              <a:t>the </a:t>
            </a:r>
            <a:r>
              <a:rPr lang="en-US" dirty="0" err="1"/>
              <a:t>prover</a:t>
            </a:r>
            <a:r>
              <a:rPr lang="en-US" dirty="0"/>
              <a:t> and verifier had to communicate back and forth for multiple </a:t>
            </a:r>
            <a:r>
              <a:rPr lang="en-US" dirty="0" smtClean="0"/>
              <a:t>rounds.</a:t>
            </a:r>
          </a:p>
          <a:p>
            <a:endParaRPr lang="en-US" dirty="0" smtClean="0"/>
          </a:p>
          <a:p>
            <a:r>
              <a:rPr lang="en-US" dirty="0" smtClean="0"/>
              <a:t>Currently</a:t>
            </a:r>
            <a:r>
              <a:rPr lang="en-US" dirty="0"/>
              <a:t>, the only known way to produce zero-knowledge proofs that are non-interactive and short enough to publish to a block chain is to </a:t>
            </a:r>
            <a:r>
              <a:rPr lang="en-US" dirty="0" smtClean="0"/>
              <a:t>use public parameters </a:t>
            </a:r>
            <a:r>
              <a:rPr lang="en-US" dirty="0"/>
              <a:t>shared between </a:t>
            </a:r>
            <a:r>
              <a:rPr lang="en-US" dirty="0" err="1"/>
              <a:t>prover</a:t>
            </a:r>
            <a:r>
              <a:rPr lang="en-US" dirty="0"/>
              <a:t> and verifier.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Zcash initially created these in October 2016 just prior to its launch.</a:t>
            </a:r>
          </a:p>
          <a:p>
            <a:r>
              <a:rPr lang="en-US" dirty="0"/>
              <a:t>In November 2017, The Zcash Foundation announced </a:t>
            </a:r>
            <a:r>
              <a:rPr lang="en-US" dirty="0" smtClean="0"/>
              <a:t>a second </a:t>
            </a:r>
            <a:r>
              <a:rPr lang="en-US" dirty="0"/>
              <a:t>multi-party computation ceremony which reached its conclusion in early 2018.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</a:t>
            </a:r>
            <a:r>
              <a:rPr lang="en-US" dirty="0" smtClean="0"/>
              <a:t>ceremony </a:t>
            </a:r>
            <a:r>
              <a:rPr lang="en-US" dirty="0"/>
              <a:t>a total of 87 participants took turns performing computations to be used in the generation of new </a:t>
            </a:r>
            <a:r>
              <a:rPr lang="en-US" dirty="0" err="1"/>
              <a:t>zk</a:t>
            </a:r>
            <a:r>
              <a:rPr lang="en-US" dirty="0"/>
              <a:t>-SNARK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base"/>
            <a:r>
              <a:rPr lang="en-US" dirty="0" smtClean="0"/>
              <a:t>Due </a:t>
            </a:r>
            <a:r>
              <a:rPr lang="en-US" dirty="0"/>
              <a:t>to cryptographic limitations, </a:t>
            </a:r>
            <a:r>
              <a:rPr lang="en-US" dirty="0" smtClean="0"/>
              <a:t>these public </a:t>
            </a:r>
            <a:r>
              <a:rPr lang="en-US" dirty="0"/>
              <a:t>parameters must be generated in a setup phase: some random numbers are sampled </a:t>
            </a:r>
            <a:r>
              <a:rPr lang="en-US" dirty="0" smtClean="0"/>
              <a:t>(aka </a:t>
            </a:r>
            <a:r>
              <a:rPr lang="en-US" dirty="0"/>
              <a:t>"toxic waste") which are then used to construct the parameters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After the setup phase, the toxic waste must be destroyed to prevent counterfeiting of Zcash.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In </a:t>
            </a:r>
            <a:r>
              <a:rPr lang="en-US" dirty="0"/>
              <a:t>order to ensure the toxic waste does not come into existence, </a:t>
            </a:r>
            <a:r>
              <a:rPr lang="en-US" dirty="0" smtClean="0"/>
              <a:t>a </a:t>
            </a:r>
            <a:r>
              <a:rPr lang="en-US" dirty="0"/>
              <a:t>multi-party </a:t>
            </a:r>
            <a:r>
              <a:rPr lang="en-US" dirty="0" smtClean="0"/>
              <a:t>computation protocol was designed and used in both the initial and recent rounds which allowed </a:t>
            </a:r>
            <a:r>
              <a:rPr lang="en-US" dirty="0"/>
              <a:t>multiple independent parties to collaboratively construct the parameters. 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This </a:t>
            </a:r>
            <a:r>
              <a:rPr lang="en-US" dirty="0"/>
              <a:t>protocol has the property that, in order to compromise the final parameters, </a:t>
            </a:r>
            <a:r>
              <a:rPr lang="en-US" i="1" dirty="0"/>
              <a:t>all</a:t>
            </a:r>
            <a:r>
              <a:rPr lang="en-US" dirty="0"/>
              <a:t> of the participants would have to be compromised or dishonest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dirty="0"/>
              <a:t>Bitcoin tracks unspent transaction outputs (UTXOs) to determine what transactions are spendable. 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In </a:t>
            </a:r>
            <a:r>
              <a:rPr lang="en-US" dirty="0"/>
              <a:t>Zcash, the shielded equivalent of a UTXO is called a “commitment”, and spending a commitment involves revealing a “nullifier”. </a:t>
            </a: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Zcash </a:t>
            </a:r>
            <a:r>
              <a:rPr lang="en-US" dirty="0"/>
              <a:t>nodes keep lists of all the commitments that have been created, and all the nullifiers that have been revealed. </a:t>
            </a:r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Commitments </a:t>
            </a:r>
            <a:r>
              <a:rPr lang="en-US" dirty="0"/>
              <a:t>and nullifiers are stored as hashes, to avoid disclosing any information about the commitments, or which nullifiers relate to which commitments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US" dirty="0" smtClean="0"/>
              <a:t>For </a:t>
            </a:r>
            <a:r>
              <a:rPr lang="en-US" dirty="0"/>
              <a:t>each new </a:t>
            </a:r>
            <a:r>
              <a:rPr lang="en-US" dirty="0" smtClean="0"/>
              <a:t>note </a:t>
            </a:r>
            <a:r>
              <a:rPr lang="en-US" dirty="0"/>
              <a:t>created by a shielded payment, a commitment is published which consists of a hash of: </a:t>
            </a:r>
            <a:endParaRPr lang="en-US" dirty="0" smtClean="0"/>
          </a:p>
          <a:p>
            <a:pPr lvl="1" fontAlgn="base"/>
            <a:r>
              <a:rPr lang="en-US" dirty="0" smtClean="0"/>
              <a:t>the </a:t>
            </a:r>
            <a:r>
              <a:rPr lang="en-US" dirty="0"/>
              <a:t>address to which the note was sent, </a:t>
            </a:r>
            <a:endParaRPr lang="en-US" dirty="0" smtClean="0"/>
          </a:p>
          <a:p>
            <a:pPr lvl="1" fontAlgn="base"/>
            <a:r>
              <a:rPr lang="en-US" dirty="0" smtClean="0"/>
              <a:t>the </a:t>
            </a:r>
            <a:r>
              <a:rPr lang="en-US" dirty="0"/>
              <a:t>amount being sent, </a:t>
            </a:r>
            <a:endParaRPr lang="en-US" dirty="0" smtClean="0"/>
          </a:p>
          <a:p>
            <a:pPr lvl="1" fontAlgn="base"/>
            <a:r>
              <a:rPr lang="en-US" dirty="0" smtClean="0"/>
              <a:t>a </a:t>
            </a:r>
            <a:r>
              <a:rPr lang="en-US" dirty="0"/>
              <a:t>number “rho” which is unique to this note (later used to derive the nullifier), </a:t>
            </a:r>
            <a:endParaRPr lang="en-US" dirty="0" smtClean="0"/>
          </a:p>
          <a:p>
            <a:pPr lvl="1" fontAlgn="base"/>
            <a:r>
              <a:rPr lang="en-US" dirty="0" smtClean="0"/>
              <a:t>and </a:t>
            </a:r>
            <a:r>
              <a:rPr lang="en-US" dirty="0"/>
              <a:t>a random nonce.</a:t>
            </a:r>
          </a:p>
          <a:p>
            <a:pPr fontAlgn="base"/>
            <a:r>
              <a:rPr lang="en-US" i="1" dirty="0"/>
              <a:t>Commitment = HASH(recipient address, amount, rho, r)</a:t>
            </a:r>
            <a:endParaRPr lang="en-US" dirty="0"/>
          </a:p>
          <a:p>
            <a:pPr fontAlgn="base"/>
            <a:r>
              <a:rPr lang="en-US" dirty="0"/>
              <a:t>When a shielded transaction is spent, the sender uses their spending key to publish a nullifier which is the hash of the secret unique number ("rho") from an existing commitment that has not been spent, and provides a zero-knowledge proof demonstrating that they are authorized to spend it. </a:t>
            </a:r>
            <a:endParaRPr lang="en-US" dirty="0" smtClean="0"/>
          </a:p>
          <a:p>
            <a:pPr fontAlgn="base"/>
            <a:r>
              <a:rPr lang="en-US" dirty="0" smtClean="0"/>
              <a:t>This </a:t>
            </a:r>
            <a:r>
              <a:rPr lang="en-US" dirty="0"/>
              <a:t>hash must not already be in the set of nullifiers tracking spent transactions kept by every node in the blockchain.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Zcash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Zcash was designed and developed by the Zcash Company.   The Zcash Foundation, a non-profit, assumed management of Zcash in early 2017.</a:t>
            </a:r>
          </a:p>
          <a:p>
            <a:r>
              <a:rPr lang="en-US" dirty="0" smtClean="0"/>
              <a:t>Neither the company nor the foundation control mining or distribution of the coins, but rather offer technical upgrades that the nodes may or may not implement.</a:t>
            </a:r>
          </a:p>
          <a:p>
            <a:endParaRPr lang="en-US" dirty="0" smtClean="0"/>
          </a:p>
          <a:p>
            <a:r>
              <a:rPr lang="en-US" dirty="0" smtClean="0"/>
              <a:t>During the first four years of </a:t>
            </a:r>
            <a:r>
              <a:rPr lang="en-US" dirty="0" err="1" smtClean="0"/>
              <a:t>Zcash’s</a:t>
            </a:r>
            <a:r>
              <a:rPr lang="en-US" dirty="0" smtClean="0"/>
              <a:t> existence, 10% of the new coins created will accrue to the founders and developers, a portion of which will be donated to the Zcash Foundation.</a:t>
            </a:r>
          </a:p>
          <a:p>
            <a:endParaRPr lang="en-US" dirty="0" smtClean="0"/>
          </a:p>
          <a:p>
            <a:r>
              <a:rPr lang="en-US" dirty="0" smtClean="0"/>
              <a:t>Zcash has rolled out over a dozen updated software versions (soft forks) </a:t>
            </a:r>
            <a:r>
              <a:rPr lang="en-US" smtClean="0"/>
              <a:t>as well as two </a:t>
            </a:r>
            <a:r>
              <a:rPr lang="en-US" dirty="0" smtClean="0"/>
              <a:t>major network and protocol updates (hard forks) in 2018.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Privacy Coins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Privacy is an active area of research and development.</a:t>
            </a:r>
          </a:p>
          <a:p>
            <a:endParaRPr lang="en-US" sz="2000" dirty="0" smtClean="0"/>
          </a:p>
          <a:p>
            <a:r>
              <a:rPr lang="en-US" sz="2000" dirty="0" smtClean="0"/>
              <a:t>T</a:t>
            </a:r>
            <a:r>
              <a:rPr lang="en-US" sz="2000" dirty="0" smtClean="0"/>
              <a:t>here are several other privacy coins, each with some unique features, and additional coins are regularly created.</a:t>
            </a:r>
          </a:p>
          <a:p>
            <a:endParaRPr lang="en-US" sz="2000" dirty="0" smtClean="0"/>
          </a:p>
          <a:p>
            <a:r>
              <a:rPr lang="en-US" sz="2000" dirty="0" smtClean="0"/>
              <a:t>A partial list of other privacy coins might include</a:t>
            </a:r>
          </a:p>
          <a:p>
            <a:r>
              <a:rPr lang="en-US" sz="2000" dirty="0" smtClean="0"/>
              <a:t>PIVX</a:t>
            </a:r>
          </a:p>
          <a:p>
            <a:r>
              <a:rPr lang="en-US" sz="2000" dirty="0" smtClean="0"/>
              <a:t>Verge</a:t>
            </a:r>
          </a:p>
          <a:p>
            <a:r>
              <a:rPr lang="en-US" sz="2000" dirty="0" smtClean="0"/>
              <a:t>Komodo</a:t>
            </a:r>
          </a:p>
          <a:p>
            <a:r>
              <a:rPr lang="en-US" sz="2000" dirty="0" smtClean="0"/>
              <a:t>Grin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1646</Words>
  <Application>Microsoft Office PowerPoint</Application>
  <PresentationFormat>On-screen Show (4:3)</PresentationFormat>
  <Paragraphs>158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Privacy Coins: Monero, Dash, ZCash</vt:lpstr>
      <vt:lpstr>Monero </vt:lpstr>
      <vt:lpstr>Monero </vt:lpstr>
      <vt:lpstr>Privacy</vt:lpstr>
      <vt:lpstr>Ring Signatures</vt:lpstr>
      <vt:lpstr>Stealth Addresses</vt:lpstr>
      <vt:lpstr>RingCT</vt:lpstr>
      <vt:lpstr>Kovri</vt:lpstr>
      <vt:lpstr>Dash</vt:lpstr>
      <vt:lpstr>Dash Masternodes</vt:lpstr>
      <vt:lpstr>Dash Masternodes</vt:lpstr>
      <vt:lpstr>Dash</vt:lpstr>
      <vt:lpstr>Dash Features</vt:lpstr>
      <vt:lpstr>Zcash</vt:lpstr>
      <vt:lpstr>Zcash</vt:lpstr>
      <vt:lpstr>Zcash</vt:lpstr>
      <vt:lpstr>Zcash</vt:lpstr>
      <vt:lpstr>Zcash</vt:lpstr>
      <vt:lpstr>Zcash</vt:lpstr>
      <vt:lpstr>Zcash</vt:lpstr>
      <vt:lpstr>Other Privacy Coins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Monero</dc:title>
  <dc:creator>BP - FL</dc:creator>
  <cp:lastModifiedBy>BP - FL</cp:lastModifiedBy>
  <cp:revision>6</cp:revision>
  <dcterms:created xsi:type="dcterms:W3CDTF">2018-04-18T15:50:08Z</dcterms:created>
  <dcterms:modified xsi:type="dcterms:W3CDTF">2019-05-19T15:08:18Z</dcterms:modified>
</cp:coreProperties>
</file>