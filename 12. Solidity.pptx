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4" r:id="rId3"/>
    <p:sldId id="321" r:id="rId4"/>
    <p:sldId id="257" r:id="rId5"/>
    <p:sldId id="315" r:id="rId6"/>
    <p:sldId id="258" r:id="rId7"/>
    <p:sldId id="261" r:id="rId8"/>
    <p:sldId id="262" r:id="rId9"/>
    <p:sldId id="316" r:id="rId10"/>
    <p:sldId id="305" r:id="rId11"/>
    <p:sldId id="306" r:id="rId12"/>
    <p:sldId id="310" r:id="rId13"/>
    <p:sldId id="291" r:id="rId14"/>
    <p:sldId id="268" r:id="rId15"/>
    <p:sldId id="294" r:id="rId16"/>
    <p:sldId id="269" r:id="rId17"/>
    <p:sldId id="319" r:id="rId18"/>
    <p:sldId id="320" r:id="rId19"/>
    <p:sldId id="287" r:id="rId20"/>
    <p:sldId id="271" r:id="rId21"/>
    <p:sldId id="270" r:id="rId22"/>
    <p:sldId id="272" r:id="rId23"/>
    <p:sldId id="276" r:id="rId24"/>
    <p:sldId id="277" r:id="rId25"/>
    <p:sldId id="278" r:id="rId26"/>
    <p:sldId id="279" r:id="rId27"/>
    <p:sldId id="280" r:id="rId28"/>
    <p:sldId id="298" r:id="rId29"/>
    <p:sldId id="265" r:id="rId30"/>
    <p:sldId id="274" r:id="rId31"/>
    <p:sldId id="266" r:id="rId32"/>
    <p:sldId id="296" r:id="rId33"/>
    <p:sldId id="282" r:id="rId34"/>
    <p:sldId id="281" r:id="rId35"/>
    <p:sldId id="283" r:id="rId36"/>
    <p:sldId id="284" r:id="rId37"/>
    <p:sldId id="285" r:id="rId38"/>
    <p:sldId id="286" r:id="rId39"/>
    <p:sldId id="299" r:id="rId40"/>
    <p:sldId id="300" r:id="rId41"/>
    <p:sldId id="288" r:id="rId42"/>
    <p:sldId id="289" r:id="rId43"/>
    <p:sldId id="290" r:id="rId44"/>
    <p:sldId id="295" r:id="rId45"/>
    <p:sldId id="309" r:id="rId46"/>
    <p:sldId id="308" r:id="rId47"/>
    <p:sldId id="263" r:id="rId48"/>
    <p:sldId id="322" r:id="rId49"/>
    <p:sldId id="264" r:id="rId50"/>
    <p:sldId id="323"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1494"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306"/>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42EC3EC-74A5-4A61-A2BF-B172612C1F23}"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EE8BB4-86AA-41D2-8CC9-8BEDEF118BE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2EC3EC-74A5-4A61-A2BF-B172612C1F23}"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EE8BB4-86AA-41D2-8CC9-8BEDEF118BE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42EC3EC-74A5-4A61-A2BF-B172612C1F23}"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EE8BB4-86AA-41D2-8CC9-8BEDEF118BE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42EC3EC-74A5-4A61-A2BF-B172612C1F23}"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EE8BB4-86AA-41D2-8CC9-8BEDEF118BE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42EC3EC-74A5-4A61-A2BF-B172612C1F23}" type="datetimeFigureOut">
              <a:rPr lang="en-US" smtClean="0"/>
              <a:pPr/>
              <a:t>5/19/2019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EE8BB4-86AA-41D2-8CC9-8BEDEF118BE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42EC3EC-74A5-4A61-A2BF-B172612C1F23}" type="datetimeFigureOut">
              <a:rPr lang="en-US" smtClean="0"/>
              <a:pPr/>
              <a:t>5/19/2019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AEE8BB4-86AA-41D2-8CC9-8BEDEF118BE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2EC3EC-74A5-4A61-A2BF-B172612C1F23}" type="datetimeFigureOut">
              <a:rPr lang="en-US" smtClean="0"/>
              <a:pPr/>
              <a:t>5/19/2019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AEE8BB4-86AA-41D2-8CC9-8BEDEF118BE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42EC3EC-74A5-4A61-A2BF-B172612C1F23}"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EE8BB4-86AA-41D2-8CC9-8BEDEF118BE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42EC3EC-74A5-4A61-A2BF-B172612C1F23}" type="datetimeFigureOut">
              <a:rPr lang="en-US" smtClean="0"/>
              <a:pPr/>
              <a:t>5/19/2019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EE8BB4-86AA-41D2-8CC9-8BEDEF118BE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2EC3EC-74A5-4A61-A2BF-B172612C1F23}"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EE8BB4-86AA-41D2-8CC9-8BEDEF118BE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42EC3EC-74A5-4A61-A2BF-B172612C1F23}" type="datetimeFigureOut">
              <a:rPr lang="en-US" smtClean="0"/>
              <a:pPr/>
              <a:t>5/19/2019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EE8BB4-86AA-41D2-8CC9-8BEDEF118BE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42EC3EC-74A5-4A61-A2BF-B172612C1F23}" type="datetimeFigureOut">
              <a:rPr lang="en-US" smtClean="0"/>
              <a:pPr/>
              <a:t>5/19/2019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EE8BB4-86AA-41D2-8CC9-8BEDEF118BE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solidity.readthedocs.io/en/v0.5.6/types.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solidity.readthedocs.io/en/v0.4.24/types.html" TargetMode="External"/><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solidity.readthedocs.io/en/latest/contracts.html"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hyperlink" Target="https://ethereum.stackexchange.com/questions/1511/how-to-initialize-a-struct" TargetMode="External"/><Relationship Id="rId4" Type="http://schemas.openxmlformats.org/officeDocument/2006/relationships/image" Target="../media/image4.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solidity.readthedocs.io/en/v0.4.24/types.html" TargetMode="External"/><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solidity.readthedocs.io/en/v0.4.24/types.html" TargetMode="External"/><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github.com/ethereum/web3.js/blob/0.15.0/lib/utils/utils.js"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solidity.readthedocs.io/en/v0.4.24/contracts.html" TargetMode="External"/><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blog.trailofbits.com/2018/09/05/contract-upgrade-anti-patterns/" TargetMode="External"/><Relationship Id="rId2" Type="http://schemas.openxmlformats.org/officeDocument/2006/relationships/hyperlink" Target="https://solidity.readthedocs.io/en/latest/" TargetMode="External"/><Relationship Id="rId1" Type="http://schemas.openxmlformats.org/officeDocument/2006/relationships/slideLayout" Target="../slideLayouts/slideLayout2.xml"/><Relationship Id="rId5" Type="http://schemas.openxmlformats.org/officeDocument/2006/relationships/hyperlink" Target="https://medium.com/quillhash/how-to-write-upgradable-smart-contracts-in-solidity-d8f1b95a0e9a" TargetMode="External"/><Relationship Id="rId4" Type="http://schemas.openxmlformats.org/officeDocument/2006/relationships/hyperlink" Target="https://yos.io/2018/10/28/upgrading-solidity-smart-contrac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Solidity</a:t>
            </a:r>
            <a:endParaRPr lang="en-US" dirty="0"/>
          </a:p>
        </p:txBody>
      </p:sp>
      <p:sp>
        <p:nvSpPr>
          <p:cNvPr id="3" name="Subtitle 2"/>
          <p:cNvSpPr>
            <a:spLocks noGrp="1"/>
          </p:cNvSpPr>
          <p:nvPr>
            <p:ph type="subTitle" idx="1"/>
          </p:nvPr>
        </p:nvSpPr>
        <p:spPr/>
        <p:txBody>
          <a:bodyPr/>
          <a:lstStyle/>
          <a:p>
            <a:r>
              <a:rPr lang="en-US" dirty="0" smtClean="0"/>
              <a:t> </a:t>
            </a:r>
            <a:endParaRPr lang="en-US" dirty="0"/>
          </a:p>
        </p:txBody>
      </p:sp>
      <p:sp>
        <p:nvSpPr>
          <p:cNvPr id="4" name="Subtitle 2"/>
          <p:cNvSpPr txBox="1">
            <a:spLocks/>
          </p:cNvSpPr>
          <p:nvPr/>
        </p:nvSpPr>
        <p:spPr>
          <a:xfrm>
            <a:off x="1295400" y="4038600"/>
            <a:ext cx="6400800" cy="175260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rPr>
              <a:t>Bernard Parenteau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rPr>
              <a:t>bparente@fit.edu</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1600" dirty="0" smtClean="0">
                <a:solidFill>
                  <a:schemeClr val="tx1">
                    <a:tint val="75000"/>
                  </a:schemeClr>
                </a:solidFill>
              </a:rPr>
              <a:t>February</a:t>
            </a:r>
            <a:r>
              <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rPr>
              <a:t> 2019</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600" b="0" i="0" u="none" strike="noStrike" kern="1200" cap="none" spc="0" normalizeH="0" baseline="0" noProof="0" dirty="0" smtClean="0">
              <a:ln>
                <a:noFill/>
              </a:ln>
              <a:solidFill>
                <a:schemeClr val="tx1">
                  <a:tint val="75000"/>
                </a:schemeClr>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Solidity</a:t>
            </a:r>
            <a:endParaRPr lang="en-US" dirty="0"/>
          </a:p>
        </p:txBody>
      </p:sp>
      <p:sp>
        <p:nvSpPr>
          <p:cNvPr id="3" name="Content Placeholder 2"/>
          <p:cNvSpPr>
            <a:spLocks noGrp="1"/>
          </p:cNvSpPr>
          <p:nvPr>
            <p:ph idx="1"/>
          </p:nvPr>
        </p:nvSpPr>
        <p:spPr/>
        <p:txBody>
          <a:bodyPr>
            <a:normAutofit/>
          </a:bodyPr>
          <a:lstStyle/>
          <a:p>
            <a:r>
              <a:rPr lang="en-US" sz="2000" dirty="0" smtClean="0"/>
              <a:t>Solidity is a language to define Ethereum contracts.</a:t>
            </a:r>
          </a:p>
          <a:p>
            <a:r>
              <a:rPr lang="en-US" sz="2000" dirty="0" smtClean="0"/>
              <a:t>It uses C syntax for the most part, not unlike javascript.</a:t>
            </a:r>
          </a:p>
          <a:p>
            <a:endParaRPr lang="en-US" sz="2000" dirty="0" smtClean="0"/>
          </a:p>
          <a:p>
            <a:r>
              <a:rPr lang="en-US" sz="2000" dirty="0" smtClean="0"/>
              <a:t>Instead of classes, Solidity defines contracts.</a:t>
            </a:r>
          </a:p>
          <a:p>
            <a:r>
              <a:rPr lang="en-US" sz="2000" dirty="0" smtClean="0"/>
              <a:t>An Ethereum contract is like a class.</a:t>
            </a:r>
          </a:p>
          <a:p>
            <a:endParaRPr lang="en-US" sz="2000" dirty="0" smtClean="0"/>
          </a:p>
          <a:p>
            <a:r>
              <a:rPr lang="en-US" sz="2000" dirty="0" smtClean="0"/>
              <a:t>Instead of methods, Solidity defines functions.</a:t>
            </a:r>
          </a:p>
          <a:p>
            <a:r>
              <a:rPr lang="en-US" sz="2000" dirty="0" smtClean="0"/>
              <a:t>A function is like a method, with defined accessibility, parameters and return value (or values).</a:t>
            </a:r>
          </a:p>
          <a:p>
            <a:r>
              <a:rPr lang="en-US" sz="2000" dirty="0" smtClean="0"/>
              <a:t>A contract may have any number of functions.</a:t>
            </a:r>
          </a:p>
          <a:p>
            <a:endParaRPr lang="en-US" sz="1800"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Solidity</a:t>
            </a:r>
            <a:endParaRPr lang="en-US" dirty="0"/>
          </a:p>
        </p:txBody>
      </p:sp>
      <p:sp>
        <p:nvSpPr>
          <p:cNvPr id="3" name="Content Placeholder 2"/>
          <p:cNvSpPr>
            <a:spLocks noGrp="1"/>
          </p:cNvSpPr>
          <p:nvPr>
            <p:ph idx="1"/>
          </p:nvPr>
        </p:nvSpPr>
        <p:spPr/>
        <p:txBody>
          <a:bodyPr>
            <a:normAutofit/>
          </a:bodyPr>
          <a:lstStyle/>
          <a:p>
            <a:r>
              <a:rPr lang="en-US" sz="1800" dirty="0" smtClean="0"/>
              <a:t>A contract can have a constructor which is run by the owner, and that owner is typically saved.  </a:t>
            </a:r>
          </a:p>
          <a:p>
            <a:r>
              <a:rPr lang="en-US" sz="1800" dirty="0" smtClean="0"/>
              <a:t>Functions may be programmed to only be accessible to that owner.</a:t>
            </a:r>
          </a:p>
          <a:p>
            <a:endParaRPr lang="en-US" sz="1800" dirty="0" smtClean="0"/>
          </a:p>
          <a:p>
            <a:r>
              <a:rPr lang="en-US" sz="1800" dirty="0" smtClean="0"/>
              <a:t>A contract can also have state variables, including arrays such as those mapping all users to values.  </a:t>
            </a:r>
          </a:p>
          <a:p>
            <a:r>
              <a:rPr lang="en-US" sz="1800" dirty="0" smtClean="0"/>
              <a:t>These can be used for purposes such as storing account values.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Version</a:t>
            </a:r>
            <a:endParaRPr lang="en-US" dirty="0"/>
          </a:p>
        </p:txBody>
      </p:sp>
      <p:sp>
        <p:nvSpPr>
          <p:cNvPr id="3" name="Content Placeholder 2"/>
          <p:cNvSpPr>
            <a:spLocks noGrp="1"/>
          </p:cNvSpPr>
          <p:nvPr>
            <p:ph idx="1"/>
          </p:nvPr>
        </p:nvSpPr>
        <p:spPr/>
        <p:txBody>
          <a:bodyPr>
            <a:normAutofit/>
          </a:bodyPr>
          <a:lstStyle/>
          <a:p>
            <a:r>
              <a:rPr lang="en-US" sz="2000" dirty="0" smtClean="0"/>
              <a:t>Versioning is particularly important in Solidity due to the rapid development of the platform and the language.</a:t>
            </a:r>
          </a:p>
          <a:p>
            <a:endParaRPr lang="en-US" sz="2000" dirty="0" smtClean="0"/>
          </a:p>
          <a:p>
            <a:r>
              <a:rPr lang="en-US" sz="2000" dirty="0" smtClean="0"/>
              <a:t>Solidity contract source </a:t>
            </a:r>
            <a:r>
              <a:rPr lang="en-US" sz="2000" dirty="0"/>
              <a:t>files </a:t>
            </a:r>
            <a:r>
              <a:rPr lang="en-US" sz="2000" dirty="0" smtClean="0"/>
              <a:t>should start with </a:t>
            </a:r>
            <a:r>
              <a:rPr lang="en-US" sz="2000" dirty="0"/>
              <a:t>a </a:t>
            </a:r>
            <a:r>
              <a:rPr lang="en-US" sz="2000" dirty="0" smtClean="0"/>
              <a:t>version statement (“</a:t>
            </a:r>
            <a:r>
              <a:rPr lang="en-US" sz="2000" dirty="0" err="1" smtClean="0"/>
              <a:t>pragma</a:t>
            </a:r>
            <a:r>
              <a:rPr lang="en-US" sz="2000" dirty="0" smtClean="0"/>
              <a:t>”) specifying the compiler version(s) with which it is compatible.</a:t>
            </a:r>
          </a:p>
          <a:p>
            <a:pPr>
              <a:buNone/>
            </a:pPr>
            <a:r>
              <a:rPr lang="en-US" sz="2000" b="1" dirty="0" smtClean="0"/>
              <a:t>	</a:t>
            </a:r>
          </a:p>
          <a:p>
            <a:pPr>
              <a:buNone/>
            </a:pPr>
            <a:r>
              <a:rPr lang="en-US" sz="2000" b="1" dirty="0" smtClean="0"/>
              <a:t>	</a:t>
            </a:r>
            <a:r>
              <a:rPr lang="en-US" sz="2000" b="1" dirty="0" err="1" smtClean="0"/>
              <a:t>pragma</a:t>
            </a:r>
            <a:r>
              <a:rPr lang="en-US" sz="2000" dirty="0" smtClean="0"/>
              <a:t> solidity </a:t>
            </a:r>
            <a:r>
              <a:rPr lang="en-US" sz="2000" b="1" dirty="0" smtClean="0"/>
              <a:t>^</a:t>
            </a:r>
            <a:r>
              <a:rPr lang="en-US" sz="2000" dirty="0" smtClean="0"/>
              <a:t>0.5.0; </a:t>
            </a:r>
          </a:p>
          <a:p>
            <a:endParaRPr lang="en-US" sz="2000" dirty="0" smtClean="0"/>
          </a:p>
          <a:p>
            <a:r>
              <a:rPr lang="en-US" sz="2000" dirty="0" smtClean="0"/>
              <a:t>Compiler releases have a </a:t>
            </a:r>
            <a:r>
              <a:rPr lang="en-US" sz="2000" dirty="0" err="1" smtClean="0"/>
              <a:t>changelog</a:t>
            </a:r>
            <a:r>
              <a:rPr lang="en-US" sz="2000" dirty="0" smtClean="0"/>
              <a:t> that will indicate any breaking changes.</a:t>
            </a:r>
          </a:p>
          <a:p>
            <a:endParaRPr lang="en-US" sz="2400"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Version</a:t>
            </a:r>
            <a:endParaRPr lang="en-US" dirty="0"/>
          </a:p>
        </p:txBody>
      </p:sp>
      <p:sp>
        <p:nvSpPr>
          <p:cNvPr id="3" name="Content Placeholder 2"/>
          <p:cNvSpPr>
            <a:spLocks noGrp="1"/>
          </p:cNvSpPr>
          <p:nvPr>
            <p:ph idx="1"/>
          </p:nvPr>
        </p:nvSpPr>
        <p:spPr/>
        <p:txBody>
          <a:bodyPr>
            <a:normAutofit/>
          </a:bodyPr>
          <a:lstStyle/>
          <a:p>
            <a:pPr>
              <a:buNone/>
            </a:pPr>
            <a:r>
              <a:rPr lang="en-US" sz="2400" b="1" dirty="0" smtClean="0"/>
              <a:t>			</a:t>
            </a:r>
            <a:r>
              <a:rPr lang="en-US" sz="2400" b="1" dirty="0" err="1" smtClean="0"/>
              <a:t>pragma</a:t>
            </a:r>
            <a:r>
              <a:rPr lang="en-US" sz="2400" dirty="0" smtClean="0"/>
              <a:t> solidity </a:t>
            </a:r>
            <a:r>
              <a:rPr lang="en-US" sz="2400" b="1" dirty="0" smtClean="0"/>
              <a:t>^</a:t>
            </a:r>
            <a:r>
              <a:rPr lang="en-US" sz="2400" dirty="0" smtClean="0"/>
              <a:t>0.4.0; </a:t>
            </a:r>
          </a:p>
          <a:p>
            <a:r>
              <a:rPr lang="en-US" sz="2000" dirty="0" smtClean="0"/>
              <a:t>The 0.4.0 indicates that the source file will not compile with a compiler earlier than version 0.4.0, and the ^ indicates that it will also not work on a compiler starting from version 0.5.0.</a:t>
            </a:r>
          </a:p>
          <a:p>
            <a:endParaRPr lang="en-US" sz="2000" dirty="0" smtClean="0"/>
          </a:p>
          <a:p>
            <a:r>
              <a:rPr lang="en-US" sz="2000" dirty="0" smtClean="0"/>
              <a:t>Many tutorial examples online use versions in the 0.4 family</a:t>
            </a:r>
          </a:p>
          <a:p>
            <a:r>
              <a:rPr lang="en-US" sz="2000" dirty="0" smtClean="0"/>
              <a:t>There were a number of breaking changes introduced with the 0.5 family in 2018 (constructor, constant function, address payable, …). So some of these tutorials will need modification to work with 0.5.x</a:t>
            </a:r>
          </a:p>
          <a:p>
            <a:r>
              <a:rPr lang="en-US" sz="2000" dirty="0" smtClean="0"/>
              <a:t>The most recent versions, as of March 2019, are up to 0.6.0 (as can be seen in the Remix compiler version </a:t>
            </a:r>
            <a:r>
              <a:rPr lang="en-US" sz="2000" dirty="0" err="1" smtClean="0"/>
              <a:t>ddl</a:t>
            </a:r>
            <a:r>
              <a:rPr lang="en-US" sz="2000" dirty="0" smtClean="0"/>
              <a:t>)</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Version Ranges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The </a:t>
            </a:r>
            <a:r>
              <a:rPr lang="en-US" dirty="0" err="1" smtClean="0"/>
              <a:t>pragma</a:t>
            </a:r>
            <a:r>
              <a:rPr lang="en-US" dirty="0" smtClean="0"/>
              <a:t> version specification can be complex including a range or multiple ranges</a:t>
            </a:r>
          </a:p>
          <a:p>
            <a:endParaRPr lang="en-US" dirty="0" smtClean="0"/>
          </a:p>
          <a:p>
            <a:r>
              <a:rPr lang="en-US" dirty="0" smtClean="0"/>
              <a:t>A</a:t>
            </a:r>
            <a:r>
              <a:rPr lang="en-US" dirty="0"/>
              <a:t> </a:t>
            </a:r>
            <a:r>
              <a:rPr lang="en-US" dirty="0" smtClean="0"/>
              <a:t>range</a:t>
            </a:r>
            <a:r>
              <a:rPr lang="en-US" dirty="0"/>
              <a:t> is a set of </a:t>
            </a:r>
            <a:r>
              <a:rPr lang="en-US" dirty="0" smtClean="0"/>
              <a:t>operators (&lt;, &lt;=, &gt;, &gt;=, =)</a:t>
            </a:r>
            <a:r>
              <a:rPr lang="en-US" dirty="0"/>
              <a:t> which specify versions that satisfy the range</a:t>
            </a:r>
            <a:r>
              <a:rPr lang="en-US" dirty="0" smtClean="0"/>
              <a:t>.</a:t>
            </a:r>
          </a:p>
          <a:p>
            <a:r>
              <a:rPr lang="en-US" dirty="0" smtClean="0"/>
              <a:t>If </a:t>
            </a:r>
            <a:r>
              <a:rPr lang="en-US" dirty="0"/>
              <a:t>no operator is specified, then equality is </a:t>
            </a:r>
            <a:r>
              <a:rPr lang="en-US" dirty="0" smtClean="0"/>
              <a:t>assumed</a:t>
            </a:r>
          </a:p>
          <a:p>
            <a:endParaRPr lang="en-US" dirty="0"/>
          </a:p>
          <a:p>
            <a:r>
              <a:rPr lang="en-US" dirty="0" smtClean="0"/>
              <a:t>A space is an “and” while || is an “or”</a:t>
            </a:r>
          </a:p>
          <a:p>
            <a:endParaRPr lang="en-US" dirty="0" smtClean="0"/>
          </a:p>
          <a:p>
            <a:r>
              <a:rPr lang="en-US" dirty="0" smtClean="0"/>
              <a:t>For </a:t>
            </a:r>
            <a:r>
              <a:rPr lang="en-US" dirty="0"/>
              <a:t>example, </a:t>
            </a:r>
            <a:endParaRPr lang="en-US" dirty="0" smtClean="0"/>
          </a:p>
          <a:p>
            <a:pPr>
              <a:buNone/>
            </a:pPr>
            <a:r>
              <a:rPr lang="en-US" dirty="0" err="1" smtClean="0"/>
              <a:t>pragma</a:t>
            </a:r>
            <a:r>
              <a:rPr lang="en-US" dirty="0" smtClean="0"/>
              <a:t> solidity &gt;=0.4.25 &lt;0.6.0;</a:t>
            </a:r>
          </a:p>
          <a:p>
            <a:pPr>
              <a:buNone/>
            </a:pPr>
            <a:r>
              <a:rPr lang="en-US" dirty="0" smtClean="0"/>
              <a:t>Would compile with version 0.4.25 or any subsequent version prior to 0.6.0</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Comments</a:t>
            </a:r>
            <a:endParaRPr lang="en-US" dirty="0"/>
          </a:p>
        </p:txBody>
      </p:sp>
      <p:sp>
        <p:nvSpPr>
          <p:cNvPr id="3" name="Content Placeholder 2"/>
          <p:cNvSpPr>
            <a:spLocks noGrp="1"/>
          </p:cNvSpPr>
          <p:nvPr>
            <p:ph idx="1"/>
          </p:nvPr>
        </p:nvSpPr>
        <p:spPr>
          <a:xfrm>
            <a:off x="457200" y="1600201"/>
            <a:ext cx="8229600" cy="4419600"/>
          </a:xfrm>
        </p:spPr>
        <p:txBody>
          <a:bodyPr>
            <a:normAutofit fontScale="70000" lnSpcReduction="20000"/>
          </a:bodyPr>
          <a:lstStyle/>
          <a:p>
            <a:r>
              <a:rPr lang="en-US" dirty="0" smtClean="0"/>
              <a:t>Comment syntax is the same as for most C-based languages:</a:t>
            </a:r>
          </a:p>
          <a:p>
            <a:endParaRPr lang="en-US" dirty="0" smtClean="0"/>
          </a:p>
          <a:p>
            <a:r>
              <a:rPr lang="en-US" dirty="0" smtClean="0"/>
              <a:t>Single-line </a:t>
            </a:r>
            <a:r>
              <a:rPr lang="en-US" dirty="0"/>
              <a:t>comments (//) and multi-line comments (/*...*/) are possible</a:t>
            </a:r>
            <a:r>
              <a:rPr lang="en-US" dirty="0" smtClean="0"/>
              <a:t>.</a:t>
            </a:r>
          </a:p>
          <a:p>
            <a:endParaRPr lang="en-US" dirty="0"/>
          </a:p>
          <a:p>
            <a:pPr>
              <a:buNone/>
            </a:pPr>
            <a:r>
              <a:rPr lang="en-US" i="1" dirty="0"/>
              <a:t>// This is a single-line comment.</a:t>
            </a:r>
            <a:r>
              <a:rPr lang="en-US" dirty="0"/>
              <a:t> </a:t>
            </a:r>
            <a:endParaRPr lang="en-US" dirty="0" smtClean="0"/>
          </a:p>
          <a:p>
            <a:endParaRPr lang="en-US" i="1" dirty="0"/>
          </a:p>
          <a:p>
            <a:pPr>
              <a:buNone/>
            </a:pPr>
            <a:r>
              <a:rPr lang="en-US" i="1" dirty="0" smtClean="0"/>
              <a:t>/*</a:t>
            </a:r>
            <a:r>
              <a:rPr lang="en-US" dirty="0" smtClean="0"/>
              <a:t> </a:t>
            </a:r>
          </a:p>
          <a:p>
            <a:pPr>
              <a:buNone/>
            </a:pPr>
            <a:r>
              <a:rPr lang="en-US" i="1" dirty="0" smtClean="0"/>
              <a:t>This </a:t>
            </a:r>
            <a:r>
              <a:rPr lang="en-US" i="1" dirty="0"/>
              <a:t>is a</a:t>
            </a:r>
            <a:r>
              <a:rPr lang="en-US" dirty="0"/>
              <a:t> </a:t>
            </a:r>
            <a:r>
              <a:rPr lang="en-US" i="1" dirty="0"/>
              <a:t>multi-line </a:t>
            </a:r>
            <a:endParaRPr lang="en-US" i="1" dirty="0" smtClean="0"/>
          </a:p>
          <a:p>
            <a:pPr>
              <a:buNone/>
            </a:pPr>
            <a:r>
              <a:rPr lang="en-US" i="1" dirty="0" smtClean="0"/>
              <a:t>comment</a:t>
            </a:r>
            <a:r>
              <a:rPr lang="en-US" i="1" dirty="0"/>
              <a:t>.</a:t>
            </a:r>
            <a:r>
              <a:rPr lang="en-US" dirty="0"/>
              <a:t> </a:t>
            </a:r>
            <a:endParaRPr lang="en-US" dirty="0" smtClean="0"/>
          </a:p>
          <a:p>
            <a:pPr>
              <a:buNone/>
            </a:pPr>
            <a:r>
              <a:rPr lang="en-US" i="1" dirty="0" smtClean="0"/>
              <a:t>*/</a:t>
            </a:r>
            <a:endParaRPr lang="en-US" dirty="0"/>
          </a:p>
          <a:p>
            <a:endParaRPr lang="en-US" dirty="0" smtClean="0"/>
          </a:p>
          <a:p>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Contracts</a:t>
            </a:r>
            <a:endParaRPr lang="en-US" dirty="0"/>
          </a:p>
        </p:txBody>
      </p:sp>
      <p:sp>
        <p:nvSpPr>
          <p:cNvPr id="3" name="Content Placeholder 2"/>
          <p:cNvSpPr>
            <a:spLocks noGrp="1"/>
          </p:cNvSpPr>
          <p:nvPr>
            <p:ph idx="1"/>
          </p:nvPr>
        </p:nvSpPr>
        <p:spPr>
          <a:xfrm>
            <a:off x="457200" y="1600200"/>
            <a:ext cx="8229600" cy="4724400"/>
          </a:xfrm>
        </p:spPr>
        <p:txBody>
          <a:bodyPr>
            <a:normAutofit/>
          </a:bodyPr>
          <a:lstStyle/>
          <a:p>
            <a:r>
              <a:rPr lang="en-US" sz="2000" dirty="0" smtClean="0"/>
              <a:t>Contracts </a:t>
            </a:r>
            <a:r>
              <a:rPr lang="en-US" sz="2000" dirty="0"/>
              <a:t>in Solidity are similar to classes in object-oriented languages. </a:t>
            </a:r>
            <a:endParaRPr lang="en-US" sz="2000" dirty="0" smtClean="0"/>
          </a:p>
          <a:p>
            <a:endParaRPr lang="en-US" sz="2000" dirty="0" smtClean="0"/>
          </a:p>
          <a:p>
            <a:r>
              <a:rPr lang="en-US" sz="2000" dirty="0" smtClean="0"/>
              <a:t>Contracts can contain</a:t>
            </a:r>
            <a:r>
              <a:rPr lang="en-US" sz="2000" dirty="0"/>
              <a:t> </a:t>
            </a:r>
            <a:r>
              <a:rPr lang="en-US" sz="2000" dirty="0" smtClean="0"/>
              <a:t>State Variables, Functions, Function Modifiers, </a:t>
            </a:r>
            <a:r>
              <a:rPr lang="en-US" sz="2000" dirty="0" err="1" smtClean="0"/>
              <a:t>Structs</a:t>
            </a:r>
            <a:r>
              <a:rPr lang="en-US" sz="2000" dirty="0" smtClean="0"/>
              <a:t>, </a:t>
            </a:r>
            <a:r>
              <a:rPr lang="en-US" sz="2000" dirty="0" err="1" smtClean="0"/>
              <a:t>Enums</a:t>
            </a:r>
            <a:r>
              <a:rPr lang="en-US" sz="2000" dirty="0" smtClean="0"/>
              <a:t>, and Events.</a:t>
            </a:r>
          </a:p>
          <a:p>
            <a:pPr>
              <a:buNone/>
            </a:pPr>
            <a:endParaRPr lang="en-US" sz="2000" dirty="0"/>
          </a:p>
          <a:p>
            <a:r>
              <a:rPr lang="en-US" sz="2000" dirty="0"/>
              <a:t>Solidity supports </a:t>
            </a:r>
            <a:r>
              <a:rPr lang="en-US" sz="2000" dirty="0" smtClean="0"/>
              <a:t>inheritance via the “is” keyword following the contract name in the contract declaration statement (in place of “extends” in Java or “:” in other languages)</a:t>
            </a:r>
          </a:p>
          <a:p>
            <a:endParaRPr lang="en-US" sz="2000" dirty="0" smtClean="0"/>
          </a:p>
          <a:p>
            <a:pPr>
              <a:buNone/>
            </a:pPr>
            <a:r>
              <a:rPr lang="en-US" sz="2000" dirty="0" smtClean="0"/>
              <a:t>Contract </a:t>
            </a:r>
            <a:r>
              <a:rPr lang="en-US" sz="2000" dirty="0" err="1" smtClean="0"/>
              <a:t>myContract</a:t>
            </a:r>
            <a:r>
              <a:rPr lang="en-US" sz="2000" dirty="0" smtClean="0"/>
              <a:t> is </a:t>
            </a:r>
            <a:r>
              <a:rPr lang="en-US" sz="2000" dirty="0" err="1" smtClean="0"/>
              <a:t>myBase</a:t>
            </a:r>
            <a:r>
              <a:rPr lang="en-US" sz="2000" dirty="0" smtClean="0"/>
              <a:t> {</a:t>
            </a:r>
          </a:p>
          <a:p>
            <a:pPr>
              <a:buNone/>
            </a:pPr>
            <a:r>
              <a:rPr lang="en-US" sz="2000" dirty="0" smtClean="0"/>
              <a:t>…</a:t>
            </a:r>
          </a:p>
          <a:p>
            <a:pPr>
              <a:buNone/>
            </a:pPr>
            <a:endParaRPr lang="en-US" sz="2000" dirty="0" smtClean="0"/>
          </a:p>
          <a:p>
            <a:pPr>
              <a:buNone/>
            </a:pPr>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Contracts</a:t>
            </a:r>
            <a:endParaRPr lang="en-US" dirty="0"/>
          </a:p>
        </p:txBody>
      </p:sp>
      <p:sp>
        <p:nvSpPr>
          <p:cNvPr id="3" name="Content Placeholder 2"/>
          <p:cNvSpPr>
            <a:spLocks noGrp="1"/>
          </p:cNvSpPr>
          <p:nvPr>
            <p:ph idx="1"/>
          </p:nvPr>
        </p:nvSpPr>
        <p:spPr>
          <a:xfrm>
            <a:off x="457200" y="1600200"/>
            <a:ext cx="8229600" cy="4724400"/>
          </a:xfrm>
        </p:spPr>
        <p:txBody>
          <a:bodyPr>
            <a:normAutofit fontScale="92500" lnSpcReduction="20000"/>
          </a:bodyPr>
          <a:lstStyle/>
          <a:p>
            <a:r>
              <a:rPr lang="en-US" sz="2200" dirty="0" smtClean="0"/>
              <a:t>Solidity </a:t>
            </a:r>
            <a:r>
              <a:rPr lang="en-US" sz="2200" dirty="0"/>
              <a:t>supports multiple </a:t>
            </a:r>
            <a:r>
              <a:rPr lang="en-US" sz="2200" dirty="0" smtClean="0"/>
              <a:t>inheritance by specifying multiple base classes separated by commas in the contract declaration.</a:t>
            </a:r>
          </a:p>
          <a:p>
            <a:r>
              <a:rPr lang="en-US" sz="2200" dirty="0" smtClean="0"/>
              <a:t>Internally it’s done by effectively copying the code.</a:t>
            </a:r>
          </a:p>
          <a:p>
            <a:endParaRPr lang="en-US" sz="2200" dirty="0"/>
          </a:p>
          <a:p>
            <a:r>
              <a:rPr lang="en-US" sz="2200" dirty="0" smtClean="0"/>
              <a:t>When a contract inherits from multiple contracts, a single contract is created on the blockchain, and the code from all the base contracts is effectively copied into the created contract.</a:t>
            </a:r>
          </a:p>
          <a:p>
            <a:endParaRPr lang="en-US" sz="2200" dirty="0" smtClean="0"/>
          </a:p>
          <a:p>
            <a:r>
              <a:rPr lang="en-US" sz="2200" dirty="0" smtClean="0"/>
              <a:t>All </a:t>
            </a:r>
            <a:r>
              <a:rPr lang="en-US" sz="2200" dirty="0"/>
              <a:t>function calls are virtual, which means that the most derived function is called, except when the contract name is explicitly given</a:t>
            </a:r>
            <a:r>
              <a:rPr lang="en-US" sz="2200" dirty="0" smtClean="0"/>
              <a:t>.</a:t>
            </a:r>
          </a:p>
          <a:p>
            <a:endParaRPr lang="en-US" sz="2200" dirty="0"/>
          </a:p>
          <a:p>
            <a:endParaRPr lang="en-US" sz="2200" dirty="0"/>
          </a:p>
          <a:p>
            <a:r>
              <a:rPr lang="en-US" sz="2200" dirty="0"/>
              <a:t>The general inheritance system is very similar to Python’s, especially concerning multiple inheritance.</a:t>
            </a:r>
          </a:p>
          <a:p>
            <a:endParaRPr lang="en-US" dirty="0" smtClean="0"/>
          </a:p>
          <a:p>
            <a:endParaRPr lang="en-US" dirty="0"/>
          </a:p>
          <a:p>
            <a:endParaRPr lang="en-US" dirty="0" smtClean="0"/>
          </a:p>
          <a:p>
            <a:endParaRPr lang="en-US" dirty="0"/>
          </a:p>
          <a:p>
            <a:endParaRPr lang="en-US" dirty="0" smtClean="0"/>
          </a:p>
          <a:p>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Constructors</a:t>
            </a:r>
            <a:endParaRPr lang="en-US" dirty="0"/>
          </a:p>
        </p:txBody>
      </p:sp>
      <p:sp>
        <p:nvSpPr>
          <p:cNvPr id="3" name="Content Placeholder 2"/>
          <p:cNvSpPr>
            <a:spLocks noGrp="1"/>
          </p:cNvSpPr>
          <p:nvPr>
            <p:ph idx="1"/>
          </p:nvPr>
        </p:nvSpPr>
        <p:spPr/>
        <p:txBody>
          <a:bodyPr>
            <a:normAutofit fontScale="70000" lnSpcReduction="20000"/>
          </a:bodyPr>
          <a:lstStyle/>
          <a:p>
            <a:r>
              <a:rPr lang="en-US" sz="2900" dirty="0" smtClean="0"/>
              <a:t>A Solidity constructor is the same concept as a constructor in object oriented languages such as Java: executed upon creation or instantiation.</a:t>
            </a:r>
          </a:p>
          <a:p>
            <a:r>
              <a:rPr lang="en-US" sz="2900" dirty="0" smtClean="0"/>
              <a:t>They are optional.</a:t>
            </a:r>
          </a:p>
          <a:p>
            <a:endParaRPr lang="en-US" sz="2900" dirty="0" smtClean="0"/>
          </a:p>
          <a:p>
            <a:r>
              <a:rPr lang="en-US" sz="2900" dirty="0" smtClean="0"/>
              <a:t>In versions prior to 0.4.22, the constructor was defined as a function </a:t>
            </a:r>
            <a:r>
              <a:rPr lang="en-US" sz="2900" dirty="0"/>
              <a:t>with the same name as the </a:t>
            </a:r>
            <a:r>
              <a:rPr lang="en-US" sz="2900" dirty="0" smtClean="0"/>
              <a:t>contract.</a:t>
            </a:r>
          </a:p>
          <a:p>
            <a:endParaRPr lang="en-US" sz="2900" dirty="0" smtClean="0"/>
          </a:p>
          <a:p>
            <a:r>
              <a:rPr lang="en-US" sz="2900" dirty="0" smtClean="0"/>
              <a:t>Starting with version 0.4.22, the keyword “constructor” could also be used to define a constructor.</a:t>
            </a:r>
          </a:p>
          <a:p>
            <a:endParaRPr lang="en-US" sz="2900" dirty="0" smtClean="0"/>
          </a:p>
          <a:p>
            <a:r>
              <a:rPr lang="en-US" sz="2900" dirty="0" smtClean="0"/>
              <a:t>As of 0.5.0 constructors must be declared with the “constructor” keyword and a function with the same name is a compilation error.</a:t>
            </a:r>
            <a:endParaRPr lang="en-US" sz="2900" dirty="0"/>
          </a:p>
          <a:p>
            <a:pPr>
              <a:buNone/>
            </a:pPr>
            <a:endParaRPr lang="en-US" dirty="0" smtClean="0"/>
          </a:p>
          <a:p>
            <a:endParaRPr lang="en-US" dirty="0"/>
          </a:p>
          <a:p>
            <a:endParaRPr lang="en-US" dirty="0" smtClean="0"/>
          </a:p>
          <a:p>
            <a:endParaRPr lang="en-US" dirty="0"/>
          </a:p>
          <a:p>
            <a:endParaRPr lang="en-US" dirty="0" smtClean="0"/>
          </a:p>
          <a:p>
            <a:endParaRPr lang="en-US" dirty="0" smtClean="0"/>
          </a:p>
          <a:p>
            <a:endParaRPr lang="en-US" dirty="0"/>
          </a:p>
          <a:p>
            <a:pPr>
              <a:buNone/>
            </a:pP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Base Constructors</a:t>
            </a:r>
            <a:endParaRPr lang="en-US" dirty="0"/>
          </a:p>
        </p:txBody>
      </p:sp>
      <p:sp>
        <p:nvSpPr>
          <p:cNvPr id="3" name="Content Placeholder 2"/>
          <p:cNvSpPr>
            <a:spLocks noGrp="1"/>
          </p:cNvSpPr>
          <p:nvPr>
            <p:ph idx="1"/>
          </p:nvPr>
        </p:nvSpPr>
        <p:spPr/>
        <p:txBody>
          <a:bodyPr>
            <a:normAutofit fontScale="92500" lnSpcReduction="20000"/>
          </a:bodyPr>
          <a:lstStyle/>
          <a:p>
            <a:r>
              <a:rPr lang="en-US" sz="2200" dirty="0"/>
              <a:t>Derived contracts need to provide all arguments needed for the base constructors. </a:t>
            </a:r>
            <a:endParaRPr lang="en-US" sz="2200" dirty="0" smtClean="0"/>
          </a:p>
          <a:p>
            <a:endParaRPr lang="en-US" sz="2200" dirty="0" smtClean="0"/>
          </a:p>
          <a:p>
            <a:r>
              <a:rPr lang="en-US" sz="2200" dirty="0" smtClean="0"/>
              <a:t>This </a:t>
            </a:r>
            <a:r>
              <a:rPr lang="en-US" sz="2200" dirty="0"/>
              <a:t>can be done in two ways:</a:t>
            </a:r>
          </a:p>
          <a:p>
            <a:pPr lvl="1"/>
            <a:r>
              <a:rPr lang="en-US" sz="2200" dirty="0" smtClean="0"/>
              <a:t>If the arguments are static they can be defined in the contract statement</a:t>
            </a:r>
          </a:p>
          <a:p>
            <a:pPr lvl="2">
              <a:buNone/>
            </a:pPr>
            <a:r>
              <a:rPr lang="en-US" sz="2200" dirty="0" smtClean="0"/>
              <a:t>Contract </a:t>
            </a:r>
            <a:r>
              <a:rPr lang="en-US" sz="2200" dirty="0" err="1" smtClean="0"/>
              <a:t>myContract</a:t>
            </a:r>
            <a:r>
              <a:rPr lang="en-US" sz="2200" dirty="0" smtClean="0"/>
              <a:t> is </a:t>
            </a:r>
            <a:r>
              <a:rPr lang="en-US" sz="2200" dirty="0" err="1" smtClean="0"/>
              <a:t>myBase</a:t>
            </a:r>
            <a:r>
              <a:rPr lang="en-US" sz="2200" dirty="0" smtClean="0"/>
              <a:t>(</a:t>
            </a:r>
            <a:r>
              <a:rPr lang="en-US" sz="2200" dirty="0" err="1" smtClean="0"/>
              <a:t>args</a:t>
            </a:r>
            <a:r>
              <a:rPr lang="en-US" sz="2200" dirty="0" smtClean="0"/>
              <a:t>) { …</a:t>
            </a:r>
          </a:p>
          <a:p>
            <a:pPr lvl="2">
              <a:buNone/>
            </a:pPr>
            <a:endParaRPr lang="en-US" sz="2200" dirty="0" smtClean="0"/>
          </a:p>
          <a:p>
            <a:pPr lvl="1"/>
            <a:r>
              <a:rPr lang="en-US" sz="2200" dirty="0" smtClean="0"/>
              <a:t>If the arguments are dynamic they can be </a:t>
            </a:r>
            <a:r>
              <a:rPr lang="en-US" sz="2200" dirty="0" smtClean="0"/>
              <a:t>defined in </a:t>
            </a:r>
            <a:r>
              <a:rPr lang="en-US" sz="2200" dirty="0" smtClean="0"/>
              <a:t>the call to the base constructor in the child constructor definition </a:t>
            </a:r>
          </a:p>
          <a:p>
            <a:pPr lvl="2">
              <a:buNone/>
            </a:pPr>
            <a:r>
              <a:rPr lang="en-US" sz="2200" dirty="0" smtClean="0"/>
              <a:t>Contract </a:t>
            </a:r>
            <a:r>
              <a:rPr lang="en-US" sz="2200" dirty="0" err="1" smtClean="0"/>
              <a:t>myContract</a:t>
            </a:r>
            <a:r>
              <a:rPr lang="en-US" sz="2200" dirty="0" smtClean="0"/>
              <a:t> is </a:t>
            </a:r>
            <a:r>
              <a:rPr lang="en-US" sz="2200" dirty="0" err="1" smtClean="0"/>
              <a:t>myBase</a:t>
            </a:r>
            <a:r>
              <a:rPr lang="en-US" sz="2200" dirty="0" smtClean="0"/>
              <a:t> {</a:t>
            </a:r>
          </a:p>
          <a:p>
            <a:pPr lvl="3">
              <a:buNone/>
            </a:pPr>
            <a:r>
              <a:rPr lang="en-US" sz="2200" dirty="0" smtClean="0"/>
              <a:t>constructor </a:t>
            </a:r>
            <a:r>
              <a:rPr lang="en-US" sz="2200" dirty="0" err="1" smtClean="0"/>
              <a:t>myContract</a:t>
            </a:r>
            <a:r>
              <a:rPr lang="en-US" sz="2200" dirty="0" smtClean="0"/>
              <a:t>(</a:t>
            </a:r>
            <a:r>
              <a:rPr lang="en-US" sz="2200" dirty="0" err="1" smtClean="0"/>
              <a:t>params</a:t>
            </a:r>
            <a:r>
              <a:rPr lang="en-US" sz="2200" dirty="0" smtClean="0"/>
              <a:t>) public </a:t>
            </a:r>
            <a:r>
              <a:rPr lang="en-US" sz="2200" dirty="0" err="1" smtClean="0"/>
              <a:t>myBase</a:t>
            </a:r>
            <a:r>
              <a:rPr lang="en-US" sz="2200" dirty="0" smtClean="0"/>
              <a:t>(</a:t>
            </a:r>
            <a:r>
              <a:rPr lang="en-US" sz="2200" dirty="0" err="1" smtClean="0"/>
              <a:t>args</a:t>
            </a:r>
            <a:r>
              <a:rPr lang="en-US" sz="2200" dirty="0" smtClean="0"/>
              <a:t>) { … </a:t>
            </a:r>
          </a:p>
          <a:p>
            <a:pPr>
              <a:buNone/>
            </a:pPr>
            <a:endParaRPr lang="en-US" dirty="0"/>
          </a:p>
          <a:p>
            <a:endParaRPr lang="en-US" dirty="0" smtClean="0"/>
          </a:p>
          <a:p>
            <a:endParaRPr lang="en-US" dirty="0"/>
          </a:p>
          <a:p>
            <a:endParaRPr lang="en-US" dirty="0" smtClean="0"/>
          </a:p>
          <a:p>
            <a:endParaRPr lang="en-US" dirty="0"/>
          </a:p>
          <a:p>
            <a:endParaRPr lang="en-US" dirty="0" smtClean="0"/>
          </a:p>
          <a:p>
            <a:pPr>
              <a:buNone/>
            </a:pPr>
            <a:endParaRPr lang="en-US" dirty="0" smtClean="0"/>
          </a:p>
          <a:p>
            <a:endParaRPr lang="en-US" dirty="0"/>
          </a:p>
          <a:p>
            <a:pPr>
              <a:buNone/>
            </a:pPr>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Control Statements</a:t>
            </a:r>
            <a:endParaRPr lang="en-US" dirty="0"/>
          </a:p>
        </p:txBody>
      </p:sp>
      <p:sp>
        <p:nvSpPr>
          <p:cNvPr id="3" name="Content Placeholder 2"/>
          <p:cNvSpPr>
            <a:spLocks noGrp="1"/>
          </p:cNvSpPr>
          <p:nvPr>
            <p:ph idx="1"/>
          </p:nvPr>
        </p:nvSpPr>
        <p:spPr/>
        <p:txBody>
          <a:bodyPr>
            <a:normAutofit/>
          </a:bodyPr>
          <a:lstStyle/>
          <a:p>
            <a:r>
              <a:rPr lang="en-US" sz="2000" dirty="0" smtClean="0"/>
              <a:t>Most </a:t>
            </a:r>
            <a:r>
              <a:rPr lang="en-US" sz="2000" dirty="0"/>
              <a:t>of the control </a:t>
            </a:r>
            <a:r>
              <a:rPr lang="en-US" sz="2000" dirty="0" smtClean="0"/>
              <a:t>statements from C-based languages like Java and JavaScript </a:t>
            </a:r>
            <a:r>
              <a:rPr lang="en-US" sz="2000" dirty="0"/>
              <a:t>are available in </a:t>
            </a:r>
            <a:r>
              <a:rPr lang="en-US" sz="2000" dirty="0" smtClean="0"/>
              <a:t>Solidity (except </a:t>
            </a:r>
            <a:r>
              <a:rPr lang="en-US" sz="2000" dirty="0"/>
              <a:t>for switch and </a:t>
            </a:r>
            <a:r>
              <a:rPr lang="en-US" sz="2000" dirty="0" err="1" smtClean="0"/>
              <a:t>goto</a:t>
            </a:r>
            <a:r>
              <a:rPr lang="en-US" sz="2000" dirty="0" smtClean="0"/>
              <a:t>). </a:t>
            </a:r>
          </a:p>
          <a:p>
            <a:r>
              <a:rPr lang="en-US" sz="2000" dirty="0" smtClean="0"/>
              <a:t>So </a:t>
            </a:r>
            <a:r>
              <a:rPr lang="en-US" sz="2000" dirty="0"/>
              <a:t>there </a:t>
            </a:r>
            <a:r>
              <a:rPr lang="en-US" sz="2000" dirty="0" smtClean="0"/>
              <a:t>is:</a:t>
            </a:r>
          </a:p>
          <a:p>
            <a:pPr lvl="1"/>
            <a:r>
              <a:rPr lang="en-US" sz="2000" dirty="0" smtClean="0"/>
              <a:t>if</a:t>
            </a:r>
            <a:r>
              <a:rPr lang="en-US" sz="2000" dirty="0"/>
              <a:t>, else, while, do, for, break, continue, return, ? :, with the usual </a:t>
            </a:r>
            <a:r>
              <a:rPr lang="en-US" sz="2000" dirty="0" smtClean="0"/>
              <a:t>functionality.</a:t>
            </a:r>
          </a:p>
          <a:p>
            <a:endParaRPr lang="en-US" sz="2000" dirty="0"/>
          </a:p>
          <a:p>
            <a:r>
              <a:rPr lang="en-US" sz="2000" dirty="0" smtClean="0"/>
              <a:t>Similar to languages like Java, parentheses </a:t>
            </a:r>
            <a:r>
              <a:rPr lang="en-US" sz="2000" dirty="0"/>
              <a:t>can </a:t>
            </a:r>
            <a:r>
              <a:rPr lang="en-US" sz="2000" i="1" dirty="0"/>
              <a:t>not</a:t>
            </a:r>
            <a:r>
              <a:rPr lang="en-US" sz="2000" dirty="0"/>
              <a:t> be omitted for conditionals, but curly </a:t>
            </a:r>
            <a:r>
              <a:rPr lang="en-US" sz="2000" dirty="0" smtClean="0"/>
              <a:t>braces </a:t>
            </a:r>
            <a:r>
              <a:rPr lang="en-US" sz="2000" dirty="0"/>
              <a:t>can be omitted around single-statement bodies</a:t>
            </a:r>
            <a:r>
              <a:rPr lang="en-US" sz="2000" dirty="0" smtClean="0"/>
              <a:t>.</a:t>
            </a:r>
          </a:p>
          <a:p>
            <a:endParaRPr lang="en-US" dirty="0" smtClean="0"/>
          </a:p>
          <a:p>
            <a:endParaRPr lang="en-US" dirty="0"/>
          </a:p>
          <a:p>
            <a:endParaRPr lang="en-US"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State Variables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State </a:t>
            </a:r>
            <a:r>
              <a:rPr lang="en-US" dirty="0"/>
              <a:t>variables are values which are permanently stored in contract storage</a:t>
            </a:r>
            <a:r>
              <a:rPr lang="en-US" dirty="0" smtClean="0"/>
              <a:t>.</a:t>
            </a:r>
          </a:p>
          <a:p>
            <a:endParaRPr lang="en-US" dirty="0"/>
          </a:p>
          <a:p>
            <a:pPr>
              <a:buNone/>
            </a:pPr>
            <a:r>
              <a:rPr lang="en-US" b="1" dirty="0" err="1"/>
              <a:t>pragma</a:t>
            </a:r>
            <a:r>
              <a:rPr lang="en-US" dirty="0"/>
              <a:t> solidity </a:t>
            </a:r>
            <a:r>
              <a:rPr lang="en-US" b="1" dirty="0"/>
              <a:t>^</a:t>
            </a:r>
            <a:r>
              <a:rPr lang="en-US" dirty="0"/>
              <a:t>0.4.0; </a:t>
            </a:r>
            <a:endParaRPr lang="en-US" dirty="0" smtClean="0"/>
          </a:p>
          <a:p>
            <a:pPr>
              <a:buNone/>
            </a:pPr>
            <a:endParaRPr lang="en-US" dirty="0" smtClean="0"/>
          </a:p>
          <a:p>
            <a:pPr>
              <a:buNone/>
            </a:pPr>
            <a:r>
              <a:rPr lang="en-US" b="1" dirty="0" smtClean="0"/>
              <a:t>contract</a:t>
            </a:r>
            <a:r>
              <a:rPr lang="en-US" dirty="0" smtClean="0"/>
              <a:t> </a:t>
            </a:r>
            <a:r>
              <a:rPr lang="en-US" dirty="0" err="1"/>
              <a:t>SimpleStorage</a:t>
            </a:r>
            <a:r>
              <a:rPr lang="en-US" dirty="0"/>
              <a:t> { </a:t>
            </a:r>
            <a:endParaRPr lang="en-US" dirty="0" smtClean="0"/>
          </a:p>
          <a:p>
            <a:pPr>
              <a:buNone/>
            </a:pPr>
            <a:r>
              <a:rPr lang="en-US" b="1" dirty="0" err="1" smtClean="0"/>
              <a:t>uint</a:t>
            </a:r>
            <a:r>
              <a:rPr lang="en-US" dirty="0" smtClean="0"/>
              <a:t> </a:t>
            </a:r>
            <a:r>
              <a:rPr lang="en-US" dirty="0" err="1"/>
              <a:t>storedData</a:t>
            </a:r>
            <a:r>
              <a:rPr lang="en-US" dirty="0"/>
              <a:t>; </a:t>
            </a:r>
            <a:r>
              <a:rPr lang="en-US" i="1" dirty="0"/>
              <a:t>// State variable</a:t>
            </a:r>
            <a:r>
              <a:rPr lang="en-US" dirty="0"/>
              <a:t> </a:t>
            </a:r>
            <a:endParaRPr lang="en-US" dirty="0" smtClean="0"/>
          </a:p>
          <a:p>
            <a:pPr>
              <a:buNone/>
            </a:pPr>
            <a:r>
              <a:rPr lang="en-US" i="1" dirty="0" smtClean="0"/>
              <a:t>// </a:t>
            </a:r>
            <a:r>
              <a:rPr lang="en-US" i="1" dirty="0"/>
              <a:t>...</a:t>
            </a:r>
            <a:r>
              <a:rPr lang="en-US" dirty="0"/>
              <a:t> </a:t>
            </a:r>
            <a:endParaRPr lang="en-US" dirty="0" smtClean="0"/>
          </a:p>
          <a:p>
            <a:pPr>
              <a:buNone/>
            </a:pPr>
            <a:r>
              <a:rPr lang="en-US" dirty="0" smtClean="0"/>
              <a:t>}</a:t>
            </a:r>
            <a:endParaRPr lang="en-US" dirty="0"/>
          </a:p>
          <a:p>
            <a:endParaRPr lang="en-US" dirty="0" smtClean="0"/>
          </a:p>
          <a:p>
            <a:endParaRPr lang="en-US" dirty="0"/>
          </a:p>
          <a:p>
            <a:endParaRPr lang="en-US" dirty="0" smtClean="0"/>
          </a:p>
          <a:p>
            <a:r>
              <a:rPr lang="en-US"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Solidity </a:t>
            </a:r>
            <a:r>
              <a:rPr lang="en-US" dirty="0"/>
              <a:t>is a statically typed language, which means that the type of each variable </a:t>
            </a:r>
            <a:r>
              <a:rPr lang="en-US" dirty="0" smtClean="0"/>
              <a:t>needs </a:t>
            </a:r>
            <a:r>
              <a:rPr lang="en-US" dirty="0"/>
              <a:t>to be </a:t>
            </a:r>
            <a:r>
              <a:rPr lang="en-US" dirty="0" smtClean="0"/>
              <a:t>specified, or at least deducible, at </a:t>
            </a:r>
            <a:r>
              <a:rPr lang="en-US" dirty="0"/>
              <a:t>compile-time. </a:t>
            </a:r>
            <a:endParaRPr lang="en-US" dirty="0" smtClean="0"/>
          </a:p>
          <a:p>
            <a:endParaRPr lang="en-US" dirty="0" smtClean="0"/>
          </a:p>
          <a:p>
            <a:r>
              <a:rPr lang="en-US" dirty="0" smtClean="0"/>
              <a:t>Solidity </a:t>
            </a:r>
            <a:r>
              <a:rPr lang="en-US" dirty="0"/>
              <a:t>provides several elementary types which can be combined to form complex </a:t>
            </a:r>
            <a:r>
              <a:rPr lang="en-US" dirty="0" smtClean="0"/>
              <a:t>types, for example in </a:t>
            </a:r>
            <a:r>
              <a:rPr lang="en-US" dirty="0" err="1" smtClean="0"/>
              <a:t>Structs</a:t>
            </a:r>
            <a:r>
              <a:rPr lang="en-US" dirty="0" smtClean="0"/>
              <a:t>.</a:t>
            </a:r>
          </a:p>
          <a:p>
            <a:endParaRPr lang="en-US" dirty="0" smtClean="0"/>
          </a:p>
          <a:p>
            <a:r>
              <a:rPr lang="en-US" dirty="0" smtClean="0"/>
              <a:t>Solidity has both value types and reference types</a:t>
            </a:r>
            <a:endParaRPr lang="en-US" dirty="0"/>
          </a:p>
          <a:p>
            <a:endParaRPr lang="en-US" b="1" dirty="0" smtClean="0"/>
          </a:p>
          <a:p>
            <a:endParaRPr lang="en-US" b="1" dirty="0" smtClean="0"/>
          </a:p>
          <a:p>
            <a:pPr>
              <a:buNone/>
            </a:pPr>
            <a:r>
              <a:rPr lang="en-US" b="1" dirty="0" smtClean="0"/>
              <a:t>Value </a:t>
            </a:r>
            <a:r>
              <a:rPr lang="en-US" b="1" dirty="0"/>
              <a:t>Types</a:t>
            </a:r>
          </a:p>
          <a:p>
            <a:r>
              <a:rPr lang="en-US" dirty="0" smtClean="0"/>
              <a:t>The types on the immediately following slides </a:t>
            </a:r>
            <a:r>
              <a:rPr lang="en-US" dirty="0"/>
              <a:t>are </a:t>
            </a:r>
            <a:r>
              <a:rPr lang="en-US" dirty="0" smtClean="0"/>
              <a:t>value </a:t>
            </a:r>
            <a:r>
              <a:rPr lang="en-US" dirty="0"/>
              <a:t>types </a:t>
            </a:r>
            <a:r>
              <a:rPr lang="en-US" dirty="0" smtClean="0"/>
              <a:t>meaning </a:t>
            </a:r>
            <a:r>
              <a:rPr lang="en-US" dirty="0"/>
              <a:t>variables of these types will always be passed by value, i.e. they are always copied when they are used as function arguments or in assignments</a:t>
            </a:r>
            <a:r>
              <a:rPr lang="en-US" dirty="0" smtClean="0"/>
              <a:t>.</a:t>
            </a:r>
          </a:p>
          <a:p>
            <a:endParaRPr lang="en-US" dirty="0"/>
          </a:p>
          <a:p>
            <a:pPr>
              <a:buNone/>
            </a:pPr>
            <a:endParaRPr lang="en-US" dirty="0" smtClean="0"/>
          </a:p>
          <a:p>
            <a:pPr>
              <a:buNone/>
            </a:pPr>
            <a:r>
              <a:rPr lang="en-US" dirty="0"/>
              <a:t> </a:t>
            </a:r>
            <a:endParaRPr lang="en-US"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Value Types: Booleans</a:t>
            </a:r>
            <a:endParaRPr lang="en-US" dirty="0"/>
          </a:p>
        </p:txBody>
      </p:sp>
      <p:sp>
        <p:nvSpPr>
          <p:cNvPr id="3" name="Content Placeholder 2"/>
          <p:cNvSpPr>
            <a:spLocks noGrp="1"/>
          </p:cNvSpPr>
          <p:nvPr>
            <p:ph idx="1"/>
          </p:nvPr>
        </p:nvSpPr>
        <p:spPr/>
        <p:txBody>
          <a:bodyPr>
            <a:normAutofit fontScale="62500" lnSpcReduction="20000"/>
          </a:bodyPr>
          <a:lstStyle/>
          <a:p>
            <a:r>
              <a:rPr lang="en-US" dirty="0" err="1" smtClean="0"/>
              <a:t>bool</a:t>
            </a:r>
            <a:r>
              <a:rPr lang="en-US" dirty="0"/>
              <a:t>: The possible values are constants true and false</a:t>
            </a:r>
            <a:r>
              <a:rPr lang="en-US" dirty="0" smtClean="0"/>
              <a:t>.</a:t>
            </a:r>
          </a:p>
          <a:p>
            <a:endParaRPr lang="en-US" dirty="0"/>
          </a:p>
          <a:p>
            <a:pPr>
              <a:buNone/>
            </a:pPr>
            <a:r>
              <a:rPr lang="en-US" dirty="0" smtClean="0"/>
              <a:t>Operators (similar to most C-based languages):</a:t>
            </a:r>
            <a:endParaRPr lang="en-US" dirty="0"/>
          </a:p>
          <a:p>
            <a:r>
              <a:rPr lang="en-US" dirty="0"/>
              <a:t>! (logical negation</a:t>
            </a:r>
            <a:r>
              <a:rPr lang="en-US" dirty="0" smtClean="0"/>
              <a:t>), </a:t>
            </a:r>
          </a:p>
          <a:p>
            <a:r>
              <a:rPr lang="en-US" dirty="0" smtClean="0"/>
              <a:t>&amp;&amp;</a:t>
            </a:r>
            <a:r>
              <a:rPr lang="en-US" dirty="0"/>
              <a:t> (logical </a:t>
            </a:r>
            <a:r>
              <a:rPr lang="en-US" dirty="0" smtClean="0"/>
              <a:t>and), ||</a:t>
            </a:r>
            <a:r>
              <a:rPr lang="en-US" dirty="0"/>
              <a:t> (logical </a:t>
            </a:r>
            <a:r>
              <a:rPr lang="en-US" dirty="0" smtClean="0"/>
              <a:t>or) : both apply short-circuiting rules</a:t>
            </a:r>
            <a:endParaRPr lang="en-US" dirty="0"/>
          </a:p>
          <a:p>
            <a:r>
              <a:rPr lang="en-US" dirty="0"/>
              <a:t>== (equality</a:t>
            </a:r>
            <a:r>
              <a:rPr lang="en-US" dirty="0" smtClean="0"/>
              <a:t>), !=</a:t>
            </a:r>
            <a:r>
              <a:rPr lang="en-US" dirty="0"/>
              <a:t> (inequality</a:t>
            </a:r>
            <a:r>
              <a:rPr lang="en-US" dirty="0" smtClean="0"/>
              <a:t>)</a:t>
            </a:r>
          </a:p>
          <a:p>
            <a:endParaRPr lang="en-US" dirty="0"/>
          </a:p>
          <a:p>
            <a:r>
              <a:rPr lang="en-US" dirty="0" smtClean="0"/>
              <a:t>Note that there is no type conversion from non-</a:t>
            </a:r>
            <a:r>
              <a:rPr lang="en-US" dirty="0" err="1" smtClean="0"/>
              <a:t>boolean</a:t>
            </a:r>
            <a:r>
              <a:rPr lang="en-US" dirty="0" smtClean="0"/>
              <a:t> to </a:t>
            </a:r>
            <a:r>
              <a:rPr lang="en-US" dirty="0" err="1" smtClean="0"/>
              <a:t>boolean</a:t>
            </a:r>
            <a:r>
              <a:rPr lang="en-US" dirty="0" smtClean="0"/>
              <a:t> types as there is in C and JavaScript, so if (1) { ... } is </a:t>
            </a:r>
            <a:r>
              <a:rPr lang="en-US" i="1" dirty="0" smtClean="0"/>
              <a:t>not</a:t>
            </a:r>
            <a:r>
              <a:rPr lang="en-US" dirty="0" smtClean="0"/>
              <a:t> valid Solidity.</a:t>
            </a:r>
          </a:p>
          <a:p>
            <a:endParaRPr lang="en-US" dirty="0"/>
          </a:p>
          <a:p>
            <a:endParaRPr lang="en-US" dirty="0" smtClean="0"/>
          </a:p>
          <a:p>
            <a:pPr>
              <a:buNone/>
            </a:pPr>
            <a:r>
              <a:rPr lang="en-US" dirty="0" smtClean="0"/>
              <a:t> </a:t>
            </a:r>
          </a:p>
          <a:p>
            <a:pPr>
              <a:buNone/>
            </a:pPr>
            <a:r>
              <a:rPr lang="en-US" dirty="0"/>
              <a:t> </a:t>
            </a:r>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Value Types: Integers</a:t>
            </a:r>
            <a:endParaRPr lang="en-US" dirty="0"/>
          </a:p>
        </p:txBody>
      </p:sp>
      <p:sp>
        <p:nvSpPr>
          <p:cNvPr id="3" name="Content Placeholder 2"/>
          <p:cNvSpPr>
            <a:spLocks noGrp="1"/>
          </p:cNvSpPr>
          <p:nvPr>
            <p:ph idx="1"/>
          </p:nvPr>
        </p:nvSpPr>
        <p:spPr/>
        <p:txBody>
          <a:bodyPr>
            <a:normAutofit fontScale="70000" lnSpcReduction="20000"/>
          </a:bodyPr>
          <a:lstStyle/>
          <a:p>
            <a:r>
              <a:rPr lang="en-US" sz="2900" dirty="0" smtClean="0"/>
              <a:t>Solidity defines signed </a:t>
            </a:r>
            <a:r>
              <a:rPr lang="en-US" sz="2900" dirty="0"/>
              <a:t>and unsigned integers of various sizes. </a:t>
            </a:r>
            <a:endParaRPr lang="en-US" sz="2900" dirty="0" smtClean="0"/>
          </a:p>
          <a:p>
            <a:pPr lvl="1"/>
            <a:r>
              <a:rPr lang="en-US" sz="2500" dirty="0" smtClean="0"/>
              <a:t>uint8</a:t>
            </a:r>
            <a:r>
              <a:rPr lang="en-US" sz="2500" dirty="0"/>
              <a:t> to uint256 in steps of 8 (unsigned </a:t>
            </a:r>
            <a:r>
              <a:rPr lang="en-US" sz="2500" dirty="0" smtClean="0"/>
              <a:t>integer from </a:t>
            </a:r>
            <a:r>
              <a:rPr lang="en-US" sz="2500" dirty="0"/>
              <a:t>8 up to 256 bits</a:t>
            </a:r>
            <a:r>
              <a:rPr lang="en-US" sz="2500" dirty="0" smtClean="0"/>
              <a:t>)</a:t>
            </a:r>
          </a:p>
          <a:p>
            <a:pPr lvl="1"/>
            <a:r>
              <a:rPr lang="en-US" sz="2500" dirty="0" smtClean="0"/>
              <a:t>int8</a:t>
            </a:r>
            <a:r>
              <a:rPr lang="en-US" sz="2500" dirty="0"/>
              <a:t> to </a:t>
            </a:r>
            <a:r>
              <a:rPr lang="en-US" sz="2500" dirty="0" smtClean="0"/>
              <a:t>int256 in steps of 8 (signed integers)</a:t>
            </a:r>
          </a:p>
          <a:p>
            <a:pPr lvl="1"/>
            <a:r>
              <a:rPr lang="en-US" sz="2500" dirty="0" err="1" smtClean="0"/>
              <a:t>uint</a:t>
            </a:r>
            <a:r>
              <a:rPr lang="en-US" sz="2500" dirty="0"/>
              <a:t> and </a:t>
            </a:r>
            <a:r>
              <a:rPr lang="en-US" sz="2500" dirty="0" err="1"/>
              <a:t>int</a:t>
            </a:r>
            <a:r>
              <a:rPr lang="en-US" sz="2500" dirty="0"/>
              <a:t> are aliases for uint256 and int256, respectively</a:t>
            </a:r>
            <a:r>
              <a:rPr lang="en-US" sz="2500" dirty="0" smtClean="0"/>
              <a:t>.</a:t>
            </a:r>
          </a:p>
          <a:p>
            <a:endParaRPr lang="en-US" sz="2900" dirty="0"/>
          </a:p>
          <a:p>
            <a:pPr>
              <a:buNone/>
            </a:pPr>
            <a:r>
              <a:rPr lang="en-US" sz="2900" dirty="0" smtClean="0"/>
              <a:t>Integer operators are similar to many C-based languages:</a:t>
            </a:r>
          </a:p>
          <a:p>
            <a:r>
              <a:rPr lang="en-US" sz="2900" dirty="0" smtClean="0"/>
              <a:t>Comparisons</a:t>
            </a:r>
            <a:r>
              <a:rPr lang="en-US" sz="2900" dirty="0"/>
              <a:t>: &lt;=, &lt;, ==, !=, &gt;=, &gt; (evaluate to </a:t>
            </a:r>
            <a:r>
              <a:rPr lang="en-US" sz="2900" dirty="0" err="1"/>
              <a:t>bool</a:t>
            </a:r>
            <a:r>
              <a:rPr lang="en-US" sz="2900" dirty="0"/>
              <a:t>)</a:t>
            </a:r>
          </a:p>
          <a:p>
            <a:r>
              <a:rPr lang="en-US" sz="2900" dirty="0" smtClean="0"/>
              <a:t>Bitwise </a:t>
            </a:r>
            <a:r>
              <a:rPr lang="en-US" sz="2900" dirty="0"/>
              <a:t>operators: &amp;, |, ^ </a:t>
            </a:r>
            <a:r>
              <a:rPr lang="en-US" sz="2900" dirty="0" smtClean="0"/>
              <a:t>(exclusive </a:t>
            </a:r>
            <a:r>
              <a:rPr lang="en-US" sz="2900" dirty="0"/>
              <a:t>or), ~ </a:t>
            </a:r>
            <a:r>
              <a:rPr lang="en-US" sz="2900" dirty="0" smtClean="0"/>
              <a:t>(negation</a:t>
            </a:r>
            <a:r>
              <a:rPr lang="en-US" sz="2900" dirty="0"/>
              <a:t>)</a:t>
            </a:r>
          </a:p>
          <a:p>
            <a:r>
              <a:rPr lang="en-US" sz="2900" dirty="0"/>
              <a:t>Arithmetic operators: </a:t>
            </a:r>
            <a:endParaRPr lang="en-US" sz="2900" dirty="0" smtClean="0"/>
          </a:p>
          <a:p>
            <a:pPr lvl="1"/>
            <a:r>
              <a:rPr lang="en-US" sz="2900" dirty="0" smtClean="0"/>
              <a:t>+,</a:t>
            </a:r>
            <a:r>
              <a:rPr lang="en-US" sz="2900" dirty="0"/>
              <a:t> -, unary -</a:t>
            </a:r>
            <a:r>
              <a:rPr lang="en-US" sz="2900" dirty="0" smtClean="0"/>
              <a:t>,unary</a:t>
            </a:r>
            <a:r>
              <a:rPr lang="en-US" sz="2900" dirty="0"/>
              <a:t> +, </a:t>
            </a:r>
            <a:endParaRPr lang="en-US" sz="2900" dirty="0" smtClean="0"/>
          </a:p>
          <a:p>
            <a:pPr lvl="1"/>
            <a:r>
              <a:rPr lang="en-US" sz="2900" dirty="0" smtClean="0"/>
              <a:t>*,</a:t>
            </a:r>
            <a:r>
              <a:rPr lang="en-US" sz="2900" dirty="0"/>
              <a:t> /, % (remainder), </a:t>
            </a:r>
            <a:r>
              <a:rPr lang="en-US" sz="2900" i="1" u="sng" dirty="0"/>
              <a:t>** (exponentiation),</a:t>
            </a:r>
            <a:r>
              <a:rPr lang="en-US" sz="2900" dirty="0"/>
              <a:t> </a:t>
            </a:r>
            <a:endParaRPr lang="en-US" sz="2900" dirty="0" smtClean="0"/>
          </a:p>
          <a:p>
            <a:pPr lvl="1"/>
            <a:r>
              <a:rPr lang="en-US" sz="2900" dirty="0" smtClean="0"/>
              <a:t>&lt;&lt;</a:t>
            </a:r>
            <a:r>
              <a:rPr lang="en-US" sz="2900" dirty="0"/>
              <a:t> (left shift), &gt;&gt; (right shift)</a:t>
            </a:r>
          </a:p>
          <a:p>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Integer Arithmetic</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sz="2900" b="1" dirty="0" smtClean="0"/>
              <a:t>Addition, Subtraction and Multiplication</a:t>
            </a:r>
          </a:p>
          <a:p>
            <a:r>
              <a:rPr lang="en-US" sz="2900" dirty="0" smtClean="0"/>
              <a:t>Addition, subtraction and multiplication have the usual semantics. </a:t>
            </a:r>
          </a:p>
          <a:p>
            <a:endParaRPr lang="en-US" sz="2900" dirty="0" smtClean="0"/>
          </a:p>
          <a:p>
            <a:r>
              <a:rPr lang="en-US" sz="2900" dirty="0" smtClean="0"/>
              <a:t>But you have to be careful of potential overflows:</a:t>
            </a:r>
          </a:p>
          <a:p>
            <a:pPr lvl="1"/>
            <a:r>
              <a:rPr lang="en-US" sz="2900" dirty="0" smtClean="0"/>
              <a:t>They wrap in two’s complement representation, meaning that for example </a:t>
            </a:r>
          </a:p>
          <a:p>
            <a:pPr lvl="1">
              <a:buNone/>
            </a:pPr>
            <a:r>
              <a:rPr lang="en-US" sz="2900" dirty="0" smtClean="0"/>
              <a:t>uint256(0) - uint256(1) == 2**256 - 1. </a:t>
            </a:r>
          </a:p>
          <a:p>
            <a:pPr lvl="1"/>
            <a:r>
              <a:rPr lang="en-US" sz="2900" dirty="0" smtClean="0"/>
              <a:t>You have to take these overflows into account when designing safe smart contracts.</a:t>
            </a:r>
          </a:p>
          <a:p>
            <a:pPr lvl="1"/>
            <a:endParaRPr lang="en-US" sz="2900" dirty="0" smtClean="0"/>
          </a:p>
          <a:p>
            <a:r>
              <a:rPr lang="en-US" sz="2900" dirty="0" smtClean="0"/>
              <a:t>And you have to be careful of unsigned </a:t>
            </a:r>
            <a:r>
              <a:rPr lang="en-US" sz="2900" dirty="0" err="1" smtClean="0"/>
              <a:t>vs</a:t>
            </a:r>
            <a:r>
              <a:rPr lang="en-US" sz="2900" dirty="0" smtClean="0"/>
              <a:t> signed, and casting of one to the other</a:t>
            </a:r>
          </a:p>
          <a:p>
            <a:pPr lvl="1"/>
            <a:r>
              <a:rPr lang="en-US" sz="2900" dirty="0" smtClean="0"/>
              <a:t>The expression -x is equivalent to (T(0) - x) where T is the type of x. </a:t>
            </a:r>
          </a:p>
          <a:p>
            <a:pPr lvl="1"/>
            <a:r>
              <a:rPr lang="en-US" sz="2900" dirty="0" smtClean="0"/>
              <a:t>This means that -x will not be negative if the type of x is an unsigned integer type.</a:t>
            </a: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Integer Arithmetic</a:t>
            </a:r>
            <a:endParaRPr lang="en-US" dirty="0"/>
          </a:p>
        </p:txBody>
      </p:sp>
      <p:sp>
        <p:nvSpPr>
          <p:cNvPr id="3" name="Content Placeholder 2"/>
          <p:cNvSpPr>
            <a:spLocks noGrp="1"/>
          </p:cNvSpPr>
          <p:nvPr>
            <p:ph idx="1"/>
          </p:nvPr>
        </p:nvSpPr>
        <p:spPr>
          <a:xfrm>
            <a:off x="457200" y="1600200"/>
            <a:ext cx="8382000" cy="4525963"/>
          </a:xfrm>
        </p:spPr>
        <p:txBody>
          <a:bodyPr>
            <a:normAutofit fontScale="70000" lnSpcReduction="20000"/>
          </a:bodyPr>
          <a:lstStyle/>
          <a:p>
            <a:pPr>
              <a:buNone/>
            </a:pPr>
            <a:r>
              <a:rPr lang="en-US" b="1" dirty="0" smtClean="0"/>
              <a:t>Division</a:t>
            </a:r>
          </a:p>
          <a:p>
            <a:r>
              <a:rPr lang="en-US" dirty="0" smtClean="0"/>
              <a:t>Since the type of the result of an operation is always the type of one of the operands, division on integers always results in an integer. </a:t>
            </a:r>
          </a:p>
          <a:p>
            <a:r>
              <a:rPr lang="en-US" b="1" dirty="0" smtClean="0"/>
              <a:t>Note</a:t>
            </a:r>
            <a:r>
              <a:rPr lang="en-US" dirty="0" smtClean="0"/>
              <a:t>: In Solidity, integer division rounds towards zero even for negatives </a:t>
            </a:r>
          </a:p>
          <a:p>
            <a:pPr>
              <a:buNone/>
            </a:pPr>
            <a:r>
              <a:rPr lang="en-US" dirty="0" smtClean="0"/>
              <a:t>		This mean that int256(-5) / int256(2) == int256(-2).</a:t>
            </a:r>
          </a:p>
          <a:p>
            <a:r>
              <a:rPr lang="en-US" dirty="0" smtClean="0"/>
              <a:t>Note that in contrast, division on </a:t>
            </a:r>
            <a:r>
              <a:rPr lang="en-US" dirty="0" smtClean="0">
                <a:hlinkClick r:id="rId2"/>
              </a:rPr>
              <a:t>literals</a:t>
            </a:r>
            <a:r>
              <a:rPr lang="en-US" dirty="0" smtClean="0"/>
              <a:t> results in fractional values of arbitrary precision.</a:t>
            </a:r>
          </a:p>
          <a:p>
            <a:endParaRPr lang="en-US" b="1" dirty="0" smtClean="0"/>
          </a:p>
          <a:p>
            <a:pPr>
              <a:buNone/>
            </a:pPr>
            <a:r>
              <a:rPr lang="en-US" b="1" dirty="0" smtClean="0"/>
              <a:t>Modulo</a:t>
            </a:r>
          </a:p>
          <a:p>
            <a:r>
              <a:rPr lang="en-US" dirty="0" smtClean="0"/>
              <a:t>The modulo operation a % n yields the remainder r after the division of the operand a by the operand n,</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Shorthand Operators</a:t>
            </a:r>
            <a:endParaRPr lang="en-US" dirty="0"/>
          </a:p>
        </p:txBody>
      </p:sp>
      <p:sp>
        <p:nvSpPr>
          <p:cNvPr id="3" name="Content Placeholder 2"/>
          <p:cNvSpPr>
            <a:spLocks noGrp="1"/>
          </p:cNvSpPr>
          <p:nvPr>
            <p:ph idx="1"/>
          </p:nvPr>
        </p:nvSpPr>
        <p:spPr/>
        <p:txBody>
          <a:bodyPr>
            <a:normAutofit fontScale="77500" lnSpcReduction="20000"/>
          </a:bodyPr>
          <a:lstStyle/>
          <a:p>
            <a:r>
              <a:rPr lang="en-US" sz="2600" dirty="0" smtClean="0"/>
              <a:t>If</a:t>
            </a:r>
            <a:r>
              <a:rPr lang="en-US" sz="2600" dirty="0"/>
              <a:t> a </a:t>
            </a:r>
            <a:r>
              <a:rPr lang="en-US" sz="2600" dirty="0" smtClean="0"/>
              <a:t>is </a:t>
            </a:r>
            <a:r>
              <a:rPr lang="en-US" sz="2600" dirty="0"/>
              <a:t>a variable or something that can be assigned </a:t>
            </a:r>
            <a:r>
              <a:rPr lang="en-US" sz="2600" dirty="0" smtClean="0"/>
              <a:t>to, </a:t>
            </a:r>
            <a:r>
              <a:rPr lang="en-US" sz="2600" dirty="0"/>
              <a:t>the following operators are available as </a:t>
            </a:r>
            <a:r>
              <a:rPr lang="en-US" sz="2600" dirty="0" smtClean="0"/>
              <a:t>shorthand operators (similar to most C-based languages)</a:t>
            </a:r>
          </a:p>
          <a:p>
            <a:endParaRPr lang="en-US" sz="2600" dirty="0"/>
          </a:p>
          <a:p>
            <a:r>
              <a:rPr lang="en-US" sz="2600" dirty="0"/>
              <a:t>a += e is equivalent to a = a + </a:t>
            </a:r>
            <a:r>
              <a:rPr lang="en-US" sz="2600" dirty="0" smtClean="0"/>
              <a:t>e</a:t>
            </a:r>
          </a:p>
          <a:p>
            <a:r>
              <a:rPr lang="en-US" sz="2600" dirty="0" smtClean="0"/>
              <a:t>The </a:t>
            </a:r>
            <a:r>
              <a:rPr lang="en-US" sz="2600" dirty="0"/>
              <a:t>operators -=, *=, /=, %=, |=, &amp;= and ^= are defined accordingly. </a:t>
            </a:r>
            <a:endParaRPr lang="en-US" sz="2600" dirty="0" smtClean="0"/>
          </a:p>
          <a:p>
            <a:endParaRPr lang="en-US" sz="2600" dirty="0" smtClean="0"/>
          </a:p>
          <a:p>
            <a:r>
              <a:rPr lang="en-US" sz="2600" dirty="0" smtClean="0"/>
              <a:t>a</a:t>
            </a:r>
            <a:r>
              <a:rPr lang="en-US" sz="2600" dirty="0"/>
              <a:t>++ and a-- are equivalent to a += 1 </a:t>
            </a:r>
            <a:r>
              <a:rPr lang="en-US" sz="2600" dirty="0" smtClean="0"/>
              <a:t>and</a:t>
            </a:r>
            <a:r>
              <a:rPr lang="en-US" sz="2600" dirty="0"/>
              <a:t> a -= </a:t>
            </a:r>
            <a:r>
              <a:rPr lang="en-US" sz="2600" dirty="0" smtClean="0"/>
              <a:t>1 respectively,</a:t>
            </a:r>
            <a:r>
              <a:rPr lang="en-US" sz="2600" dirty="0"/>
              <a:t> but the expression itself still has the previous value of a. </a:t>
            </a:r>
            <a:endParaRPr lang="en-US" sz="2600" dirty="0" smtClean="0"/>
          </a:p>
          <a:p>
            <a:r>
              <a:rPr lang="en-US" sz="2600" dirty="0" smtClean="0"/>
              <a:t>In </a:t>
            </a:r>
            <a:r>
              <a:rPr lang="en-US" sz="2600" dirty="0"/>
              <a:t>contrast, --a and ++a have the same effect on a but return the value after the change.</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Operators Order of Precedence</a:t>
            </a:r>
            <a:endParaRPr lang="en-US" dirty="0"/>
          </a:p>
        </p:txBody>
      </p:sp>
      <p:sp>
        <p:nvSpPr>
          <p:cNvPr id="3" name="Content Placeholder 2"/>
          <p:cNvSpPr>
            <a:spLocks noGrp="1"/>
          </p:cNvSpPr>
          <p:nvPr>
            <p:ph idx="1"/>
          </p:nvPr>
        </p:nvSpPr>
        <p:spPr/>
        <p:txBody>
          <a:bodyPr>
            <a:noAutofit/>
          </a:bodyPr>
          <a:lstStyle/>
          <a:p>
            <a:pPr>
              <a:buNone/>
            </a:pPr>
            <a:r>
              <a:rPr lang="en-US" sz="2000" dirty="0" smtClean="0"/>
              <a:t>Essentially identical to most C-based languages:</a:t>
            </a:r>
          </a:p>
          <a:p>
            <a:r>
              <a:rPr lang="en-US" sz="2000" dirty="0" smtClean="0"/>
              <a:t>Postfix: ++, --,</a:t>
            </a:r>
            <a:r>
              <a:rPr lang="en-US" sz="2000" dirty="0"/>
              <a:t> </a:t>
            </a:r>
            <a:r>
              <a:rPr lang="en-US" sz="2000" dirty="0" smtClean="0"/>
              <a:t>new, array indexing, member access, parentheses</a:t>
            </a:r>
          </a:p>
          <a:p>
            <a:r>
              <a:rPr lang="en-US" sz="2000" dirty="0" smtClean="0"/>
              <a:t>Prefix: ++,</a:t>
            </a:r>
            <a:r>
              <a:rPr lang="en-US" sz="2000" dirty="0"/>
              <a:t> </a:t>
            </a:r>
            <a:r>
              <a:rPr lang="en-US" sz="2000" dirty="0" smtClean="0"/>
              <a:t>--, Unary: +,</a:t>
            </a:r>
            <a:r>
              <a:rPr lang="en-US" sz="2000" dirty="0"/>
              <a:t> </a:t>
            </a:r>
            <a:r>
              <a:rPr lang="en-US" sz="2000" dirty="0" smtClean="0"/>
              <a:t>-, delete, !, ~</a:t>
            </a:r>
            <a:endParaRPr lang="en-US" sz="2000" dirty="0"/>
          </a:p>
          <a:p>
            <a:r>
              <a:rPr lang="en-US" sz="2000" dirty="0" smtClean="0"/>
              <a:t>Exponentiation: **</a:t>
            </a:r>
            <a:r>
              <a:rPr lang="en-US" sz="2000" i="1" dirty="0" smtClean="0"/>
              <a:t> </a:t>
            </a:r>
          </a:p>
          <a:p>
            <a:r>
              <a:rPr lang="en-US" sz="2000" dirty="0" smtClean="0"/>
              <a:t>Multiplication, division and modulo: *, /, %</a:t>
            </a:r>
            <a:r>
              <a:rPr lang="en-US" sz="2000" i="1" dirty="0"/>
              <a:t> </a:t>
            </a:r>
            <a:endParaRPr lang="en-US" sz="2000" i="1" dirty="0" smtClean="0"/>
          </a:p>
          <a:p>
            <a:r>
              <a:rPr lang="en-US" sz="2000" dirty="0" smtClean="0"/>
              <a:t>Addition and subtraction: +, -</a:t>
            </a:r>
          </a:p>
          <a:p>
            <a:r>
              <a:rPr lang="en-US" sz="2000" dirty="0" smtClean="0"/>
              <a:t>Bitwise operators: &lt;&lt;, &gt;&gt; </a:t>
            </a:r>
            <a:r>
              <a:rPr lang="en-US" sz="2000" i="1" dirty="0" smtClean="0"/>
              <a:t>then </a:t>
            </a:r>
            <a:r>
              <a:rPr lang="en-US" sz="2000" dirty="0" smtClean="0"/>
              <a:t>&amp;</a:t>
            </a:r>
            <a:r>
              <a:rPr lang="en-US" sz="2000" i="1" dirty="0" smtClean="0"/>
              <a:t> then </a:t>
            </a:r>
            <a:r>
              <a:rPr lang="en-US" sz="2000" dirty="0" smtClean="0"/>
              <a:t>^</a:t>
            </a:r>
            <a:r>
              <a:rPr lang="en-US" sz="2000" i="1" dirty="0" smtClean="0"/>
              <a:t> then </a:t>
            </a:r>
            <a:r>
              <a:rPr lang="en-US" sz="2000" dirty="0" smtClean="0"/>
              <a:t>|</a:t>
            </a:r>
          </a:p>
          <a:p>
            <a:r>
              <a:rPr lang="en-US" sz="2000" dirty="0" smtClean="0"/>
              <a:t>Inequality operators: &lt;, &gt;, &lt;=, &gt;=</a:t>
            </a:r>
            <a:r>
              <a:rPr lang="en-US" sz="2000" i="1" dirty="0"/>
              <a:t> </a:t>
            </a:r>
            <a:r>
              <a:rPr lang="en-US" sz="2000" i="1" dirty="0" smtClean="0"/>
              <a:t>then </a:t>
            </a:r>
            <a:r>
              <a:rPr lang="en-US" sz="2000" dirty="0" smtClean="0"/>
              <a:t>equality:</a:t>
            </a:r>
            <a:r>
              <a:rPr lang="en-US" sz="2000" i="1" dirty="0" smtClean="0"/>
              <a:t> </a:t>
            </a:r>
            <a:r>
              <a:rPr lang="en-US" sz="2000" dirty="0" smtClean="0"/>
              <a:t>==, !=</a:t>
            </a:r>
            <a:r>
              <a:rPr lang="en-US" sz="2000" i="1" dirty="0"/>
              <a:t> </a:t>
            </a:r>
          </a:p>
          <a:p>
            <a:r>
              <a:rPr lang="en-US" sz="2000" dirty="0" smtClean="0"/>
              <a:t>&amp;&amp;</a:t>
            </a:r>
            <a:r>
              <a:rPr lang="en-US" sz="2000" i="1" dirty="0" smtClean="0"/>
              <a:t> then </a:t>
            </a:r>
            <a:r>
              <a:rPr lang="en-US" sz="2000" dirty="0" smtClean="0"/>
              <a:t>||</a:t>
            </a:r>
          </a:p>
          <a:p>
            <a:r>
              <a:rPr lang="en-US" sz="2000" dirty="0" smtClean="0"/>
              <a:t>Ternary operator&lt;conditional&gt; ? &lt;if-true&gt; : &lt;if-false&gt;</a:t>
            </a:r>
          </a:p>
          <a:p>
            <a:r>
              <a:rPr lang="en-US" sz="2000" dirty="0" smtClean="0"/>
              <a:t>Assignment operators=, |=, ^=, &amp;=, &lt;&lt;=, &gt;&gt;=, +=, -=, *=, /=, %=</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Value Types: Fixed/Decimal</a:t>
            </a:r>
            <a:endParaRPr lang="en-US" dirty="0"/>
          </a:p>
        </p:txBody>
      </p:sp>
      <p:sp>
        <p:nvSpPr>
          <p:cNvPr id="3" name="Content Placeholder 2"/>
          <p:cNvSpPr>
            <a:spLocks noGrp="1"/>
          </p:cNvSpPr>
          <p:nvPr>
            <p:ph idx="1"/>
          </p:nvPr>
        </p:nvSpPr>
        <p:spPr/>
        <p:txBody>
          <a:bodyPr>
            <a:normAutofit/>
          </a:bodyPr>
          <a:lstStyle/>
          <a:p>
            <a:pPr>
              <a:buNone/>
            </a:pPr>
            <a:r>
              <a:rPr lang="en-US" sz="2000" b="1" dirty="0"/>
              <a:t>Fixed Point Numbers</a:t>
            </a:r>
          </a:p>
          <a:p>
            <a:r>
              <a:rPr lang="en-US" sz="2000" dirty="0" smtClean="0"/>
              <a:t>Fixed </a:t>
            </a:r>
            <a:r>
              <a:rPr lang="en-US" sz="2000" dirty="0"/>
              <a:t>point numbers are</a:t>
            </a:r>
            <a:r>
              <a:rPr lang="en-US" sz="2000" u="sng" dirty="0"/>
              <a:t> </a:t>
            </a:r>
            <a:r>
              <a:rPr lang="en-US" sz="2000" b="1" u="sng" dirty="0"/>
              <a:t>not</a:t>
            </a:r>
            <a:r>
              <a:rPr lang="en-US" sz="2000" u="sng" dirty="0"/>
              <a:t> </a:t>
            </a:r>
            <a:r>
              <a:rPr lang="en-US" sz="2000" dirty="0"/>
              <a:t>fully supported by Solidity yet. </a:t>
            </a:r>
            <a:endParaRPr lang="en-US" sz="2000" dirty="0" smtClean="0"/>
          </a:p>
          <a:p>
            <a:endParaRPr lang="en-US" sz="2000" dirty="0" smtClean="0"/>
          </a:p>
          <a:p>
            <a:r>
              <a:rPr lang="en-US" sz="2000" dirty="0" smtClean="0"/>
              <a:t>1 Ether is 10</a:t>
            </a:r>
            <a:r>
              <a:rPr lang="en-US" sz="2000" baseline="30000" dirty="0" smtClean="0"/>
              <a:t>18</a:t>
            </a:r>
            <a:r>
              <a:rPr lang="en-US" sz="2000" dirty="0" smtClean="0"/>
              <a:t> Wei, so Wei can always be used instead of Ether decimals.</a:t>
            </a:r>
            <a:endParaRPr lang="en-US" sz="2000"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Value Types: Address</a:t>
            </a:r>
            <a:endParaRPr lang="en-US" dirty="0"/>
          </a:p>
        </p:txBody>
      </p:sp>
      <p:sp>
        <p:nvSpPr>
          <p:cNvPr id="3" name="Content Placeholder 2"/>
          <p:cNvSpPr>
            <a:spLocks noGrp="1"/>
          </p:cNvSpPr>
          <p:nvPr>
            <p:ph idx="1"/>
          </p:nvPr>
        </p:nvSpPr>
        <p:spPr/>
        <p:txBody>
          <a:bodyPr>
            <a:normAutofit fontScale="70000" lnSpcReduction="20000"/>
          </a:bodyPr>
          <a:lstStyle/>
          <a:p>
            <a:r>
              <a:rPr lang="en-US" sz="2900" dirty="0" smtClean="0"/>
              <a:t>There are two types of addresses, which are very similar:</a:t>
            </a:r>
          </a:p>
          <a:p>
            <a:pPr lvl="1"/>
            <a:r>
              <a:rPr lang="en-US" sz="2900" dirty="0" smtClean="0"/>
              <a:t>address: Holds a 20 byte value (size of an Ethereum address).</a:t>
            </a:r>
          </a:p>
          <a:p>
            <a:pPr lvl="1"/>
            <a:r>
              <a:rPr lang="en-US" sz="2900" dirty="0" smtClean="0"/>
              <a:t>address payable: Same as address, but with the additional members transfer and send.</a:t>
            </a:r>
          </a:p>
          <a:p>
            <a:r>
              <a:rPr lang="en-US" sz="2900" dirty="0" smtClean="0"/>
              <a:t>The idea behind this distinction is that address payable is an address you can send Ether to, while a plain address cannot be sent Ether.</a:t>
            </a:r>
          </a:p>
          <a:p>
            <a:endParaRPr lang="en-US" sz="2900" dirty="0" smtClean="0"/>
          </a:p>
          <a:p>
            <a:r>
              <a:rPr lang="en-US" sz="2900" dirty="0" smtClean="0"/>
              <a:t>The distinction between address and address payable was introduced with version 0.5.0. </a:t>
            </a:r>
          </a:p>
          <a:p>
            <a:endParaRPr lang="en-US" dirty="0"/>
          </a:p>
          <a:p>
            <a:pPr>
              <a:buNone/>
            </a:pPr>
            <a:r>
              <a:rPr lang="en-US" b="1" dirty="0" smtClean="0"/>
              <a:t>Members of Addresses</a:t>
            </a:r>
          </a:p>
          <a:p>
            <a:r>
              <a:rPr lang="en-US" dirty="0" smtClean="0"/>
              <a:t>balance and transfer</a:t>
            </a:r>
          </a:p>
          <a:p>
            <a:r>
              <a:rPr lang="en-US" dirty="0" smtClean="0"/>
              <a:t>balance is a property and returns the balance  of an address</a:t>
            </a:r>
          </a:p>
          <a:p>
            <a:r>
              <a:rPr lang="en-US" dirty="0" smtClean="0"/>
              <a:t>transfer is a function which sends Ether (in units of </a:t>
            </a:r>
            <a:r>
              <a:rPr lang="en-US" dirty="0" err="1" smtClean="0"/>
              <a:t>wei</a:t>
            </a:r>
            <a:r>
              <a:rPr lang="en-US" dirty="0" smtClean="0"/>
              <a:t>) to an address</a:t>
            </a:r>
            <a:endParaRPr lang="en-US" dirty="0"/>
          </a:p>
          <a:p>
            <a:endParaRPr lang="en-US" dirty="0" smtClean="0"/>
          </a:p>
          <a:p>
            <a:endParaRPr lang="en-US" dirty="0"/>
          </a:p>
          <a:p>
            <a:pPr>
              <a:buNone/>
            </a:pPr>
            <a:endParaRPr lang="en-US" dirty="0" smtClean="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Fixed Size Byte Strings</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a:t>Fixed-size </a:t>
            </a:r>
            <a:r>
              <a:rPr lang="en-US" b="1" dirty="0" smtClean="0"/>
              <a:t>byte strings or “byte arrays”</a:t>
            </a:r>
            <a:endParaRPr lang="en-US" b="1" dirty="0"/>
          </a:p>
          <a:p>
            <a:r>
              <a:rPr lang="en-US" dirty="0"/>
              <a:t>bytes1, bytes2, bytes3, …, </a:t>
            </a:r>
            <a:r>
              <a:rPr lang="en-US" dirty="0" smtClean="0"/>
              <a:t>bytes32; byte strings of a specified length</a:t>
            </a:r>
          </a:p>
          <a:p>
            <a:r>
              <a:rPr lang="en-US" dirty="0" smtClean="0"/>
              <a:t>byte</a:t>
            </a:r>
            <a:r>
              <a:rPr lang="en-US" dirty="0"/>
              <a:t> is an alias for bytes1</a:t>
            </a:r>
            <a:r>
              <a:rPr lang="en-US" dirty="0" smtClean="0"/>
              <a:t>.</a:t>
            </a:r>
          </a:p>
          <a:p>
            <a:endParaRPr lang="en-US" dirty="0"/>
          </a:p>
          <a:p>
            <a:pPr>
              <a:buNone/>
            </a:pPr>
            <a:r>
              <a:rPr lang="en-US" dirty="0"/>
              <a:t>Operators:</a:t>
            </a:r>
          </a:p>
          <a:p>
            <a:r>
              <a:rPr lang="en-US" dirty="0"/>
              <a:t>Comparisons: &lt;=, &lt;, ==, !=, &gt;=, &gt; (evaluate to </a:t>
            </a:r>
            <a:r>
              <a:rPr lang="en-US" dirty="0" err="1"/>
              <a:t>bool</a:t>
            </a:r>
            <a:r>
              <a:rPr lang="en-US" dirty="0"/>
              <a:t>)</a:t>
            </a:r>
          </a:p>
          <a:p>
            <a:r>
              <a:rPr lang="en-US" dirty="0"/>
              <a:t>Bit operators: &amp;, |, ^ (bitwise exclusive or), ~ (bitwise negation), &lt;&lt; (left shift), &gt;&gt; (right shift)</a:t>
            </a:r>
          </a:p>
          <a:p>
            <a:r>
              <a:rPr lang="en-US" dirty="0"/>
              <a:t>Index access: </a:t>
            </a:r>
            <a:r>
              <a:rPr lang="en-US" dirty="0" smtClean="0"/>
              <a:t>x[k</a:t>
            </a:r>
            <a:r>
              <a:rPr lang="en-US" dirty="0"/>
              <a:t>] </a:t>
            </a:r>
            <a:r>
              <a:rPr lang="en-US" dirty="0" smtClean="0"/>
              <a:t>returns </a:t>
            </a:r>
            <a:r>
              <a:rPr lang="en-US" dirty="0"/>
              <a:t>the </a:t>
            </a:r>
            <a:r>
              <a:rPr lang="en-US" dirty="0" err="1" smtClean="0"/>
              <a:t>k</a:t>
            </a:r>
            <a:r>
              <a:rPr lang="en-US" baseline="30000" dirty="0" err="1" smtClean="0"/>
              <a:t>th</a:t>
            </a:r>
            <a:r>
              <a:rPr lang="en-US" dirty="0" smtClean="0"/>
              <a:t> </a:t>
            </a:r>
            <a:r>
              <a:rPr lang="en-US" dirty="0"/>
              <a:t>byte </a:t>
            </a:r>
            <a:r>
              <a:rPr lang="en-US" dirty="0" smtClean="0"/>
              <a:t>(0 relative, read-only).</a:t>
            </a:r>
          </a:p>
          <a:p>
            <a:endParaRPr lang="en-US" dirty="0"/>
          </a:p>
          <a:p>
            <a:pPr>
              <a:buNone/>
            </a:pPr>
            <a:r>
              <a:rPr lang="en-US" dirty="0" smtClean="0"/>
              <a:t>Members</a:t>
            </a:r>
            <a:r>
              <a:rPr lang="en-US" dirty="0"/>
              <a:t>:</a:t>
            </a:r>
          </a:p>
          <a:p>
            <a:r>
              <a:rPr lang="en-US" dirty="0"/>
              <a:t>.length yields the fixed length of the byte array (read-only).</a:t>
            </a:r>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Sized Strings</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sz="2600" b="1" dirty="0"/>
              <a:t>Dynamically-sized </a:t>
            </a:r>
            <a:r>
              <a:rPr lang="en-US" sz="2600" b="1" dirty="0" smtClean="0"/>
              <a:t>byte string or byte array</a:t>
            </a:r>
            <a:endParaRPr lang="en-US" sz="2600" b="1" dirty="0"/>
          </a:p>
          <a:p>
            <a:r>
              <a:rPr lang="en-US" sz="2600" dirty="0" smtClean="0"/>
              <a:t>bytes: Dynamically-sized byte array. Not a value-type!</a:t>
            </a:r>
          </a:p>
          <a:p>
            <a:endParaRPr lang="en-US" sz="2600" dirty="0" smtClean="0"/>
          </a:p>
          <a:p>
            <a:r>
              <a:rPr lang="en-US" sz="2600" dirty="0" smtClean="0"/>
              <a:t>string: Dynamically-sized UTF-8-encoded string. Not a value-type!</a:t>
            </a:r>
          </a:p>
          <a:p>
            <a:endParaRPr lang="en-US" sz="2600" dirty="0" smtClean="0"/>
          </a:p>
          <a:p>
            <a:r>
              <a:rPr lang="en-US" sz="2600" dirty="0" smtClean="0"/>
              <a:t>Use</a:t>
            </a:r>
            <a:r>
              <a:rPr lang="en-US" sz="2600" dirty="0"/>
              <a:t> bytes for arbitrary-length raw byte data and string for arbitrary-length string (UTF-8) </a:t>
            </a:r>
            <a:r>
              <a:rPr lang="en-US" sz="2600" dirty="0" smtClean="0"/>
              <a:t>data.</a:t>
            </a:r>
          </a:p>
          <a:p>
            <a:endParaRPr lang="en-US" sz="2600" dirty="0" smtClean="0"/>
          </a:p>
          <a:p>
            <a:r>
              <a:rPr lang="en-US" sz="2600" dirty="0" smtClean="0"/>
              <a:t>If it’s possible to </a:t>
            </a:r>
            <a:r>
              <a:rPr lang="en-US" sz="2600" dirty="0"/>
              <a:t>limit the length to a certain number of bytes, </a:t>
            </a:r>
            <a:r>
              <a:rPr lang="en-US" sz="2600" dirty="0" smtClean="0"/>
              <a:t> a fixed length array, bytes1</a:t>
            </a:r>
            <a:r>
              <a:rPr lang="en-US" sz="2600" dirty="0"/>
              <a:t> to </a:t>
            </a:r>
            <a:r>
              <a:rPr lang="en-US" sz="2600" dirty="0" smtClean="0"/>
              <a:t>bytes32, would be better</a:t>
            </a:r>
            <a:r>
              <a:rPr lang="en-US" sz="2600" dirty="0"/>
              <a:t> because they are much </a:t>
            </a:r>
            <a:r>
              <a:rPr lang="en-US" sz="2600" dirty="0" smtClean="0"/>
              <a:t>more efficient (and cheaper).</a:t>
            </a:r>
            <a:endParaRPr lang="en-US" sz="2600" dirty="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Strings</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sz="2900" b="1" dirty="0" smtClean="0"/>
              <a:t>String </a:t>
            </a:r>
            <a:r>
              <a:rPr lang="en-US" sz="2900" b="1" dirty="0"/>
              <a:t>Literals</a:t>
            </a:r>
          </a:p>
          <a:p>
            <a:r>
              <a:rPr lang="en-US" sz="2900" dirty="0"/>
              <a:t>String literals are written with either double or single-quotes ("</a:t>
            </a:r>
            <a:r>
              <a:rPr lang="en-US" sz="2900" dirty="0" err="1"/>
              <a:t>foo</a:t>
            </a:r>
            <a:r>
              <a:rPr lang="en-US" sz="2900" dirty="0"/>
              <a:t>" or 'bar</a:t>
            </a:r>
            <a:r>
              <a:rPr lang="en-US" sz="2900" dirty="0" smtClean="0"/>
              <a:t>').</a:t>
            </a:r>
          </a:p>
          <a:p>
            <a:r>
              <a:rPr lang="en-US" sz="2900" dirty="0" smtClean="0"/>
              <a:t>"</a:t>
            </a:r>
            <a:r>
              <a:rPr lang="en-US" sz="2900" dirty="0" err="1"/>
              <a:t>foo</a:t>
            </a:r>
            <a:r>
              <a:rPr lang="en-US" sz="2900" dirty="0"/>
              <a:t>" represents three bytes </a:t>
            </a:r>
            <a:r>
              <a:rPr lang="en-US" sz="2900" dirty="0" smtClean="0"/>
              <a:t>(not four like some languages with an end byte). </a:t>
            </a:r>
          </a:p>
          <a:p>
            <a:endParaRPr lang="en-US" sz="2900" dirty="0" smtClean="0"/>
          </a:p>
          <a:p>
            <a:r>
              <a:rPr lang="en-US" sz="2900" dirty="0" smtClean="0"/>
              <a:t>As </a:t>
            </a:r>
            <a:r>
              <a:rPr lang="en-US" sz="2900" dirty="0"/>
              <a:t>with integer literals, their type can vary, but they are implicitly convertible to bytes1, …, bytes32, if they fit, to bytes and to string</a:t>
            </a:r>
            <a:r>
              <a:rPr lang="en-US" sz="2900" dirty="0" smtClean="0"/>
              <a:t>.</a:t>
            </a:r>
          </a:p>
          <a:p>
            <a:endParaRPr lang="en-US" sz="2900" dirty="0"/>
          </a:p>
          <a:p>
            <a:r>
              <a:rPr lang="en-US" sz="2900" dirty="0"/>
              <a:t>String literals support escape characters, such as \n, \</a:t>
            </a:r>
            <a:r>
              <a:rPr lang="en-US" sz="2900" dirty="0" err="1"/>
              <a:t>xNN</a:t>
            </a:r>
            <a:r>
              <a:rPr lang="en-US" sz="2900" dirty="0"/>
              <a:t> and \</a:t>
            </a:r>
            <a:r>
              <a:rPr lang="en-US" sz="2900" dirty="0" err="1"/>
              <a:t>uNNNN</a:t>
            </a:r>
            <a:r>
              <a:rPr lang="en-US" sz="2900" dirty="0"/>
              <a:t>. </a:t>
            </a:r>
            <a:endParaRPr lang="en-US" sz="2900" dirty="0" smtClean="0"/>
          </a:p>
          <a:p>
            <a:pPr lvl="1"/>
            <a:r>
              <a:rPr lang="en-US" sz="2900" dirty="0" smtClean="0"/>
              <a:t>\</a:t>
            </a:r>
            <a:r>
              <a:rPr lang="en-US" sz="2900" dirty="0" err="1"/>
              <a:t>xNN</a:t>
            </a:r>
            <a:r>
              <a:rPr lang="en-US" sz="2900" dirty="0"/>
              <a:t> takes a hex value and inserts the appropriate </a:t>
            </a:r>
            <a:r>
              <a:rPr lang="en-US" sz="2900" dirty="0" smtClean="0"/>
              <a:t>byte</a:t>
            </a:r>
          </a:p>
          <a:p>
            <a:pPr lvl="1"/>
            <a:r>
              <a:rPr lang="en-US" sz="2900" dirty="0" smtClean="0"/>
              <a:t>\</a:t>
            </a:r>
            <a:r>
              <a:rPr lang="en-US" sz="2900" dirty="0" err="1"/>
              <a:t>uNNNN</a:t>
            </a:r>
            <a:r>
              <a:rPr lang="en-US" sz="2900" dirty="0"/>
              <a:t> takes a Unicode </a:t>
            </a:r>
            <a:r>
              <a:rPr lang="en-US" sz="2900" dirty="0" smtClean="0"/>
              <a:t>code point </a:t>
            </a:r>
            <a:r>
              <a:rPr lang="en-US" sz="2900" dirty="0"/>
              <a:t>and inserts an UTF-8 sequence.</a:t>
            </a:r>
          </a:p>
          <a:p>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Hexadecimals</a:t>
            </a:r>
            <a:endParaRPr lang="en-US" dirty="0"/>
          </a:p>
        </p:txBody>
      </p:sp>
      <p:sp>
        <p:nvSpPr>
          <p:cNvPr id="3" name="Content Placeholder 2"/>
          <p:cNvSpPr>
            <a:spLocks noGrp="1"/>
          </p:cNvSpPr>
          <p:nvPr>
            <p:ph idx="1"/>
          </p:nvPr>
        </p:nvSpPr>
        <p:spPr/>
        <p:txBody>
          <a:bodyPr>
            <a:normAutofit/>
          </a:bodyPr>
          <a:lstStyle/>
          <a:p>
            <a:pPr>
              <a:buNone/>
            </a:pPr>
            <a:r>
              <a:rPr lang="en-US" sz="2000" b="1" dirty="0"/>
              <a:t>Hexadecimal Literals</a:t>
            </a:r>
          </a:p>
          <a:p>
            <a:r>
              <a:rPr lang="en-US" sz="2000" dirty="0" err="1"/>
              <a:t>Hexademical</a:t>
            </a:r>
            <a:r>
              <a:rPr lang="en-US" sz="2000" dirty="0"/>
              <a:t> Literals are prefixed with the keyword hex and are enclosed in double or single-quotes (hex"001122FF"). </a:t>
            </a:r>
            <a:endParaRPr lang="en-US" sz="2000" dirty="0" smtClean="0"/>
          </a:p>
          <a:p>
            <a:endParaRPr lang="en-US" sz="2000" dirty="0" smtClean="0"/>
          </a:p>
          <a:p>
            <a:r>
              <a:rPr lang="en-US" sz="2000" dirty="0" smtClean="0"/>
              <a:t>Their </a:t>
            </a:r>
            <a:r>
              <a:rPr lang="en-US" sz="2000" dirty="0"/>
              <a:t>content must be a hexadecimal string and their value will be the binary representation of those values</a:t>
            </a:r>
            <a:r>
              <a:rPr lang="en-US" sz="2000" dirty="0" smtClean="0"/>
              <a:t>.</a:t>
            </a:r>
          </a:p>
          <a:p>
            <a:endParaRPr lang="en-US" sz="2000" dirty="0"/>
          </a:p>
          <a:p>
            <a:r>
              <a:rPr lang="en-US" sz="2000" dirty="0" err="1"/>
              <a:t>Hexademical</a:t>
            </a:r>
            <a:r>
              <a:rPr lang="en-US" sz="2000" dirty="0"/>
              <a:t> Literals behave like String Literals and have the same convertibility restrictions.</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Enums</a:t>
            </a:r>
            <a:endParaRPr lang="en-US" dirty="0"/>
          </a:p>
        </p:txBody>
      </p:sp>
      <p:sp>
        <p:nvSpPr>
          <p:cNvPr id="3" name="Content Placeholder 2"/>
          <p:cNvSpPr>
            <a:spLocks noGrp="1"/>
          </p:cNvSpPr>
          <p:nvPr>
            <p:ph idx="1"/>
          </p:nvPr>
        </p:nvSpPr>
        <p:spPr/>
        <p:txBody>
          <a:bodyPr>
            <a:normAutofit fontScale="70000" lnSpcReduction="20000"/>
          </a:bodyPr>
          <a:lstStyle/>
          <a:p>
            <a:r>
              <a:rPr lang="en-US" sz="2900" dirty="0" err="1" smtClean="0"/>
              <a:t>Enums</a:t>
            </a:r>
            <a:r>
              <a:rPr lang="en-US" sz="2900" dirty="0" smtClean="0"/>
              <a:t> </a:t>
            </a:r>
            <a:r>
              <a:rPr lang="en-US" sz="2900" dirty="0"/>
              <a:t>are one way to create a user-defined type in Solidity. </a:t>
            </a:r>
            <a:endParaRPr lang="en-US" sz="2900" dirty="0" smtClean="0"/>
          </a:p>
          <a:p>
            <a:endParaRPr lang="en-US" sz="2900" dirty="0" smtClean="0"/>
          </a:p>
          <a:p>
            <a:r>
              <a:rPr lang="en-US" sz="2900" dirty="0" smtClean="0"/>
              <a:t>They </a:t>
            </a:r>
            <a:r>
              <a:rPr lang="en-US" sz="2900" dirty="0"/>
              <a:t>are explicitly convertible to and from all integer </a:t>
            </a:r>
            <a:r>
              <a:rPr lang="en-US" sz="2900" dirty="0" smtClean="0"/>
              <a:t>types (unlike Java, but like some other C-based languages) </a:t>
            </a:r>
            <a:r>
              <a:rPr lang="en-US" sz="2900" dirty="0"/>
              <a:t>but implicit conversion is not allowed. </a:t>
            </a:r>
            <a:endParaRPr lang="en-US" sz="2900" dirty="0" smtClean="0"/>
          </a:p>
          <a:p>
            <a:endParaRPr lang="en-US" sz="2900" dirty="0" smtClean="0"/>
          </a:p>
          <a:p>
            <a:r>
              <a:rPr lang="en-US" sz="2900" dirty="0" smtClean="0"/>
              <a:t>The </a:t>
            </a:r>
            <a:r>
              <a:rPr lang="en-US" sz="2900" dirty="0"/>
              <a:t>explicit conversions check the value ranges at runtime and a </a:t>
            </a:r>
            <a:r>
              <a:rPr lang="en-US" sz="2900" dirty="0" smtClean="0"/>
              <a:t>reference out of range</a:t>
            </a:r>
            <a:r>
              <a:rPr lang="en-US" sz="2900" dirty="0" smtClean="0"/>
              <a:t> </a:t>
            </a:r>
            <a:r>
              <a:rPr lang="en-US" sz="2900" dirty="0"/>
              <a:t>causes an exception. </a:t>
            </a:r>
            <a:endParaRPr lang="en-US" sz="2900" dirty="0" smtClean="0"/>
          </a:p>
          <a:p>
            <a:endParaRPr lang="en-US" sz="2900" dirty="0" smtClean="0"/>
          </a:p>
          <a:p>
            <a:r>
              <a:rPr lang="en-US" sz="2900" dirty="0" err="1" smtClean="0"/>
              <a:t>Enums</a:t>
            </a:r>
            <a:r>
              <a:rPr lang="en-US" sz="2900" dirty="0" smtClean="0"/>
              <a:t> </a:t>
            </a:r>
            <a:r>
              <a:rPr lang="en-US" sz="2900" dirty="0"/>
              <a:t>needs at least one member</a:t>
            </a:r>
            <a:r>
              <a:rPr lang="en-US" sz="2900" dirty="0" smtClean="0"/>
              <a:t>.</a:t>
            </a:r>
          </a:p>
          <a:p>
            <a:endParaRPr lang="en-US" sz="2900" dirty="0"/>
          </a:p>
          <a:p>
            <a:endParaRPr lang="en-US" sz="2900" dirty="0" smtClean="0"/>
          </a:p>
          <a:p>
            <a:r>
              <a:rPr lang="en-US" sz="2900" dirty="0"/>
              <a:t> </a:t>
            </a:r>
            <a:r>
              <a:rPr lang="en-US" sz="2900" dirty="0" smtClean="0"/>
              <a:t>see the following example</a:t>
            </a:r>
            <a:endParaRPr lang="en-US" sz="2900" dirty="0"/>
          </a:p>
          <a:p>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5" descr="Enums.JPG"/>
          <p:cNvPicPr>
            <a:picLocks noGrp="1" noChangeAspect="1"/>
          </p:cNvPicPr>
          <p:nvPr>
            <p:ph idx="1"/>
          </p:nvPr>
        </p:nvPicPr>
        <p:blipFill>
          <a:blip r:embed="rId2" cstate="print"/>
          <a:stretch>
            <a:fillRect/>
          </a:stretch>
        </p:blipFill>
        <p:spPr>
          <a:xfrm>
            <a:off x="838200" y="762000"/>
            <a:ext cx="7620000" cy="5486400"/>
          </a:xfrm>
        </p:spPr>
      </p:pic>
      <p:sp>
        <p:nvSpPr>
          <p:cNvPr id="3" name="TextBox 2"/>
          <p:cNvSpPr txBox="1"/>
          <p:nvPr/>
        </p:nvSpPr>
        <p:spPr>
          <a:xfrm>
            <a:off x="685800" y="6324600"/>
            <a:ext cx="5211491" cy="369332"/>
          </a:xfrm>
          <a:prstGeom prst="rect">
            <a:avLst/>
          </a:prstGeom>
          <a:noFill/>
        </p:spPr>
        <p:txBody>
          <a:bodyPr wrap="none" rtlCol="0">
            <a:spAutoFit/>
          </a:bodyPr>
          <a:lstStyle/>
          <a:p>
            <a:r>
              <a:rPr lang="en-US" dirty="0" smtClean="0">
                <a:hlinkClick r:id="rId3"/>
              </a:rPr>
              <a:t>https://solidity.readthedocs.io/en/v0.4.24/types.html</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Functions</a:t>
            </a:r>
            <a:endParaRPr lang="en-US" dirty="0"/>
          </a:p>
        </p:txBody>
      </p:sp>
      <p:sp>
        <p:nvSpPr>
          <p:cNvPr id="3" name="Content Placeholder 2"/>
          <p:cNvSpPr>
            <a:spLocks noGrp="1"/>
          </p:cNvSpPr>
          <p:nvPr>
            <p:ph idx="1"/>
          </p:nvPr>
        </p:nvSpPr>
        <p:spPr/>
        <p:txBody>
          <a:bodyPr>
            <a:normAutofit fontScale="92500" lnSpcReduction="10000"/>
          </a:bodyPr>
          <a:lstStyle/>
          <a:p>
            <a:r>
              <a:rPr lang="en-US" sz="2200" dirty="0" smtClean="0"/>
              <a:t>Functions </a:t>
            </a:r>
            <a:r>
              <a:rPr lang="en-US" sz="2200" dirty="0"/>
              <a:t>are the executable units of code within a </a:t>
            </a:r>
            <a:r>
              <a:rPr lang="en-US" sz="2200" dirty="0" smtClean="0"/>
              <a:t>contract, equivalent to methods in classes.</a:t>
            </a:r>
          </a:p>
          <a:p>
            <a:endParaRPr lang="en-US" sz="2200" dirty="0"/>
          </a:p>
          <a:p>
            <a:pPr>
              <a:buNone/>
            </a:pPr>
            <a:r>
              <a:rPr lang="en-US" sz="2200" b="1" dirty="0" err="1"/>
              <a:t>pragma</a:t>
            </a:r>
            <a:r>
              <a:rPr lang="en-US" sz="2200" dirty="0"/>
              <a:t> solidity </a:t>
            </a:r>
            <a:r>
              <a:rPr lang="en-US" sz="2200" b="1" dirty="0"/>
              <a:t>^</a:t>
            </a:r>
            <a:r>
              <a:rPr lang="en-US" sz="2200" dirty="0" smtClean="0"/>
              <a:t>0.4.0;</a:t>
            </a:r>
          </a:p>
          <a:p>
            <a:pPr>
              <a:buNone/>
            </a:pPr>
            <a:r>
              <a:rPr lang="en-US" sz="2200" b="1" dirty="0" smtClean="0"/>
              <a:t>contract</a:t>
            </a:r>
            <a:r>
              <a:rPr lang="en-US" sz="2200" dirty="0" smtClean="0"/>
              <a:t> </a:t>
            </a:r>
            <a:r>
              <a:rPr lang="en-US" sz="2200" dirty="0" err="1"/>
              <a:t>SimpleAuction</a:t>
            </a:r>
            <a:r>
              <a:rPr lang="en-US" sz="2200" dirty="0"/>
              <a:t> </a:t>
            </a:r>
            <a:r>
              <a:rPr lang="en-US" sz="2200" dirty="0" smtClean="0"/>
              <a:t>{</a:t>
            </a:r>
          </a:p>
          <a:p>
            <a:pPr>
              <a:buNone/>
            </a:pPr>
            <a:r>
              <a:rPr lang="en-US" sz="2200" b="1" dirty="0" smtClean="0"/>
              <a:t>function</a:t>
            </a:r>
            <a:r>
              <a:rPr lang="en-US" sz="2200" dirty="0" smtClean="0"/>
              <a:t> </a:t>
            </a:r>
            <a:r>
              <a:rPr lang="en-US" sz="2200" dirty="0"/>
              <a:t>bid() </a:t>
            </a:r>
            <a:r>
              <a:rPr lang="en-US" sz="2200" b="1" dirty="0"/>
              <a:t>public</a:t>
            </a:r>
            <a:r>
              <a:rPr lang="en-US" sz="2200" dirty="0"/>
              <a:t> </a:t>
            </a:r>
            <a:r>
              <a:rPr lang="en-US" sz="2200" b="1" dirty="0"/>
              <a:t>payable</a:t>
            </a:r>
            <a:r>
              <a:rPr lang="en-US" sz="2200" dirty="0"/>
              <a:t> { </a:t>
            </a:r>
            <a:endParaRPr lang="en-US" sz="2200" dirty="0" smtClean="0"/>
          </a:p>
          <a:p>
            <a:pPr>
              <a:buNone/>
            </a:pPr>
            <a:r>
              <a:rPr lang="en-US" sz="2200" i="1" dirty="0" smtClean="0"/>
              <a:t>// </a:t>
            </a:r>
            <a:r>
              <a:rPr lang="en-US" sz="2200" i="1" dirty="0"/>
              <a:t>Function</a:t>
            </a:r>
            <a:r>
              <a:rPr lang="en-US" sz="2200" dirty="0"/>
              <a:t> </a:t>
            </a:r>
            <a:r>
              <a:rPr lang="en-US" sz="2200" i="1" dirty="0"/>
              <a:t>// ...</a:t>
            </a:r>
            <a:r>
              <a:rPr lang="en-US" sz="2200" dirty="0"/>
              <a:t> } </a:t>
            </a:r>
            <a:endParaRPr lang="en-US" sz="2200" dirty="0" smtClean="0"/>
          </a:p>
          <a:p>
            <a:pPr>
              <a:buNone/>
            </a:pPr>
            <a:r>
              <a:rPr lang="en-US" sz="2200" dirty="0" smtClean="0"/>
              <a:t>} </a:t>
            </a:r>
          </a:p>
          <a:p>
            <a:pPr>
              <a:buNone/>
            </a:pPr>
            <a:endParaRPr lang="en-US" sz="2200" dirty="0"/>
          </a:p>
          <a:p>
            <a:r>
              <a:rPr lang="en-US" sz="2200" dirty="0"/>
              <a:t>Function </a:t>
            </a:r>
            <a:r>
              <a:rPr lang="en-US" sz="2200" dirty="0" smtClean="0"/>
              <a:t>calls</a:t>
            </a:r>
            <a:r>
              <a:rPr lang="en-US" sz="2200" dirty="0"/>
              <a:t> can happen internally or externally and have different levels of visibility</a:t>
            </a:r>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Modifiers</a:t>
            </a:r>
            <a:endParaRPr lang="en-US" dirty="0"/>
          </a:p>
        </p:txBody>
      </p:sp>
      <p:sp>
        <p:nvSpPr>
          <p:cNvPr id="3" name="Content Placeholder 2"/>
          <p:cNvSpPr>
            <a:spLocks noGrp="1"/>
          </p:cNvSpPr>
          <p:nvPr>
            <p:ph idx="1"/>
          </p:nvPr>
        </p:nvSpPr>
        <p:spPr/>
        <p:txBody>
          <a:bodyPr>
            <a:normAutofit fontScale="70000" lnSpcReduction="20000"/>
          </a:bodyPr>
          <a:lstStyle/>
          <a:p>
            <a:r>
              <a:rPr lang="en-US" b="1" dirty="0" smtClean="0"/>
              <a:t>pure</a:t>
            </a:r>
            <a:r>
              <a:rPr lang="en-US" dirty="0"/>
              <a:t> for functions: Disallows modification or access of state </a:t>
            </a:r>
            <a:r>
              <a:rPr lang="en-US" dirty="0" smtClean="0"/>
              <a:t>– as of v0.4.17.  Best to use if state is not even read.</a:t>
            </a:r>
          </a:p>
          <a:p>
            <a:endParaRPr lang="en-US" dirty="0"/>
          </a:p>
          <a:p>
            <a:r>
              <a:rPr lang="en-US" b="1" dirty="0"/>
              <a:t>view</a:t>
            </a:r>
            <a:r>
              <a:rPr lang="en-US" dirty="0"/>
              <a:t> for functions: Disallows modification of state </a:t>
            </a:r>
            <a:r>
              <a:rPr lang="en-US" dirty="0" smtClean="0"/>
              <a:t>– as of v0.4.17.  Best to use if state is read but not updated.</a:t>
            </a:r>
          </a:p>
          <a:p>
            <a:endParaRPr lang="en-US" dirty="0"/>
          </a:p>
          <a:p>
            <a:r>
              <a:rPr lang="en-US" b="1" dirty="0"/>
              <a:t>payable</a:t>
            </a:r>
            <a:r>
              <a:rPr lang="en-US" dirty="0"/>
              <a:t> for functions: Allows them to receive Ether together with a call</a:t>
            </a:r>
            <a:r>
              <a:rPr lang="en-US" dirty="0" smtClean="0"/>
              <a:t>.</a:t>
            </a:r>
          </a:p>
          <a:p>
            <a:endParaRPr lang="en-US" dirty="0"/>
          </a:p>
          <a:p>
            <a:r>
              <a:rPr lang="en-US" b="1" dirty="0"/>
              <a:t>constant</a:t>
            </a:r>
            <a:r>
              <a:rPr lang="en-US" dirty="0"/>
              <a:t> for state variables: Disallows assignment (except </a:t>
            </a:r>
            <a:r>
              <a:rPr lang="en-US" dirty="0" smtClean="0"/>
              <a:t>initialization</a:t>
            </a:r>
            <a:r>
              <a:rPr lang="en-US" dirty="0"/>
              <a:t>), does not occupy storage slot</a:t>
            </a:r>
            <a:r>
              <a:rPr lang="en-US" dirty="0" smtClean="0"/>
              <a:t>.</a:t>
            </a:r>
          </a:p>
          <a:p>
            <a:endParaRPr lang="en-US" dirty="0"/>
          </a:p>
          <a:p>
            <a:r>
              <a:rPr lang="en-US" b="1" dirty="0"/>
              <a:t>constant</a:t>
            </a:r>
            <a:r>
              <a:rPr lang="en-US" dirty="0"/>
              <a:t> for functions: Same as view</a:t>
            </a:r>
            <a:r>
              <a:rPr lang="en-US" dirty="0" smtClean="0"/>
              <a:t>. (as of 0.5.0 view or pure should be used for functions, rather than constant)</a:t>
            </a:r>
            <a:endParaRPr lang="en-US" dirty="0"/>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 Modifiers</a:t>
            </a:r>
            <a:endParaRPr lang="en-US" dirty="0"/>
          </a:p>
        </p:txBody>
      </p:sp>
      <p:sp>
        <p:nvSpPr>
          <p:cNvPr id="3" name="Content Placeholder 2"/>
          <p:cNvSpPr>
            <a:spLocks noGrp="1"/>
          </p:cNvSpPr>
          <p:nvPr>
            <p:ph idx="1"/>
          </p:nvPr>
        </p:nvSpPr>
        <p:spPr/>
        <p:txBody>
          <a:bodyPr>
            <a:normAutofit fontScale="70000" lnSpcReduction="20000"/>
          </a:bodyPr>
          <a:lstStyle/>
          <a:p>
            <a:r>
              <a:rPr lang="en-US" sz="2900" dirty="0" smtClean="0"/>
              <a:t>Function modifiers are a feature in Solidity that is not common in other languages</a:t>
            </a:r>
          </a:p>
          <a:p>
            <a:r>
              <a:rPr lang="en-US" sz="2900" dirty="0" smtClean="0"/>
              <a:t>Function modifiers can be used to limit or effectively change the behavior of functions. </a:t>
            </a:r>
          </a:p>
          <a:p>
            <a:endParaRPr lang="en-US" sz="2900" dirty="0" smtClean="0"/>
          </a:p>
          <a:p>
            <a:r>
              <a:rPr lang="en-US" sz="2900" dirty="0" smtClean="0"/>
              <a:t>For example, they can automatically check a condition prior to executing the function, using a require statement or checking a condition and using a throw if access should be denied.</a:t>
            </a:r>
          </a:p>
          <a:p>
            <a:endParaRPr lang="en-US" sz="2900" dirty="0" smtClean="0"/>
          </a:p>
          <a:p>
            <a:r>
              <a:rPr lang="en-US" sz="2900" dirty="0" smtClean="0"/>
              <a:t>Modifiers are inheritable properties of contracts and may be overridden by derived contracts.</a:t>
            </a:r>
          </a:p>
          <a:p>
            <a:pPr>
              <a:buNone/>
            </a:pPr>
            <a:endParaRPr lang="en-US" dirty="0" smtClean="0"/>
          </a:p>
          <a:p>
            <a:pPr>
              <a:buNone/>
            </a:pPr>
            <a:r>
              <a:rPr lang="en-US" dirty="0" smtClean="0">
                <a:hlinkClick r:id="rId2"/>
              </a:rPr>
              <a:t>https://solidity.readthedocs.io/en/latest/contracts.html#function-modifiers</a:t>
            </a:r>
            <a:endParaRPr lang="en-US" dirty="0" smtClean="0"/>
          </a:p>
          <a:p>
            <a:pPr>
              <a:buNone/>
            </a:pPr>
            <a:endParaRPr lang="en-US" dirty="0"/>
          </a:p>
          <a:p>
            <a:pPr>
              <a:buNone/>
            </a:pPr>
            <a:endParaRPr lang="en-US" dirty="0" smtClean="0"/>
          </a:p>
          <a:p>
            <a:pPr>
              <a:buNone/>
            </a:pPr>
            <a:r>
              <a:rPr lang="en-US" dirty="0"/>
              <a:t> </a:t>
            </a:r>
            <a:endParaRPr lang="en-US" dirty="0" smtClean="0"/>
          </a:p>
          <a:p>
            <a:endParaRPr lang="en-US" dirty="0"/>
          </a:p>
          <a:p>
            <a:endParaRPr lang="en-US" dirty="0" smtClean="0"/>
          </a:p>
          <a:p>
            <a:endParaRPr lang="en-US" dirty="0"/>
          </a:p>
          <a:p>
            <a:pPr>
              <a:buNone/>
            </a:pPr>
            <a:endParaRPr lang="en-US" dirty="0" smtClean="0"/>
          </a:p>
          <a:p>
            <a:pPr>
              <a:buNone/>
            </a:pP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Input and Output Parameters</a:t>
            </a:r>
            <a:endParaRPr lang="en-US" dirty="0"/>
          </a:p>
        </p:txBody>
      </p:sp>
      <p:sp>
        <p:nvSpPr>
          <p:cNvPr id="3" name="Content Placeholder 2"/>
          <p:cNvSpPr>
            <a:spLocks noGrp="1"/>
          </p:cNvSpPr>
          <p:nvPr>
            <p:ph idx="1"/>
          </p:nvPr>
        </p:nvSpPr>
        <p:spPr>
          <a:xfrm>
            <a:off x="457200" y="1600200"/>
            <a:ext cx="8229600" cy="4953000"/>
          </a:xfrm>
        </p:spPr>
        <p:txBody>
          <a:bodyPr>
            <a:normAutofit fontScale="62500" lnSpcReduction="20000"/>
          </a:bodyPr>
          <a:lstStyle/>
          <a:p>
            <a:pPr>
              <a:buNone/>
            </a:pPr>
            <a:r>
              <a:rPr lang="en-US" dirty="0" smtClean="0"/>
              <a:t>- </a:t>
            </a:r>
            <a:r>
              <a:rPr lang="en-US" b="1" dirty="0" smtClean="0"/>
              <a:t>Multiple output parameters are allowed in Solidity</a:t>
            </a:r>
            <a:r>
              <a:rPr lang="en-US" dirty="0" smtClean="0"/>
              <a:t>, as well as the usual multiple input parameters:</a:t>
            </a:r>
          </a:p>
          <a:p>
            <a:pPr>
              <a:buNone/>
            </a:pPr>
            <a:endParaRPr lang="en-US" dirty="0"/>
          </a:p>
          <a:p>
            <a:pPr>
              <a:buNone/>
            </a:pPr>
            <a:endParaRPr lang="en-US" dirty="0" smtClean="0"/>
          </a:p>
          <a:p>
            <a:pPr>
              <a:buNone/>
            </a:pPr>
            <a:r>
              <a:rPr lang="en-US" dirty="0" smtClean="0"/>
              <a:t>function </a:t>
            </a:r>
            <a:r>
              <a:rPr lang="en-US" dirty="0" err="1" smtClean="0"/>
              <a:t>multOpFunc</a:t>
            </a:r>
            <a:r>
              <a:rPr lang="en-US" dirty="0" smtClean="0"/>
              <a:t>(int8 p1, int8 p2, int8 p3) pure returns (uint8, uint8)  { </a:t>
            </a:r>
          </a:p>
          <a:p>
            <a:pPr>
              <a:buNone/>
            </a:pPr>
            <a:r>
              <a:rPr lang="en-US" dirty="0" smtClean="0"/>
              <a:t>	uint8 test1 = uint8(p1 + p2);</a:t>
            </a:r>
          </a:p>
          <a:p>
            <a:pPr>
              <a:buNone/>
            </a:pPr>
            <a:r>
              <a:rPr lang="en-US" dirty="0" smtClean="0"/>
              <a:t>	uint8 test2 = uint8(p2 + p3);</a:t>
            </a:r>
          </a:p>
          <a:p>
            <a:pPr>
              <a:buNone/>
            </a:pPr>
            <a:r>
              <a:rPr lang="en-US" dirty="0" smtClean="0"/>
              <a:t>	return (test1, test2);</a:t>
            </a:r>
          </a:p>
          <a:p>
            <a:pPr>
              <a:buNone/>
            </a:pPr>
            <a:r>
              <a:rPr lang="en-US" dirty="0" smtClean="0"/>
              <a:t>}</a:t>
            </a:r>
          </a:p>
          <a:p>
            <a:pPr>
              <a:buNone/>
            </a:pPr>
            <a:endParaRPr lang="en-US" dirty="0"/>
          </a:p>
          <a:p>
            <a:pPr>
              <a:buNone/>
            </a:pPr>
            <a:r>
              <a:rPr lang="en-US" dirty="0"/>
              <a:t>f</a:t>
            </a:r>
            <a:r>
              <a:rPr lang="en-US" dirty="0" smtClean="0"/>
              <a:t>unction view </a:t>
            </a:r>
            <a:r>
              <a:rPr lang="en-US" dirty="0" err="1" smtClean="0"/>
              <a:t>useMultOp</a:t>
            </a:r>
            <a:r>
              <a:rPr lang="en-US" dirty="0" smtClean="0"/>
              <a:t>(){</a:t>
            </a:r>
          </a:p>
          <a:p>
            <a:pPr>
              <a:buNone/>
            </a:pPr>
            <a:r>
              <a:rPr lang="en-US" dirty="0" smtClean="0"/>
              <a:t>…</a:t>
            </a:r>
          </a:p>
          <a:p>
            <a:pPr>
              <a:buNone/>
            </a:pPr>
            <a:r>
              <a:rPr lang="en-US" dirty="0" err="1" smtClean="0"/>
              <a:t>var</a:t>
            </a:r>
            <a:r>
              <a:rPr lang="en-US" dirty="0" smtClean="0"/>
              <a:t> (a, b) = </a:t>
            </a:r>
            <a:r>
              <a:rPr lang="en-US" dirty="0" err="1" smtClean="0"/>
              <a:t>multOpFunc</a:t>
            </a:r>
            <a:r>
              <a:rPr lang="en-US" dirty="0" smtClean="0"/>
              <a:t>(ip1, ip2, ip3);</a:t>
            </a:r>
          </a:p>
          <a:p>
            <a:pPr>
              <a:buNone/>
            </a:pPr>
            <a:r>
              <a:rPr lang="en-US" dirty="0" smtClean="0"/>
              <a:t>…</a:t>
            </a:r>
          </a:p>
          <a:p>
            <a:pPr>
              <a:buNone/>
            </a:pPr>
            <a:r>
              <a:rPr lang="en-US" dirty="0"/>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a:t>
            </a:r>
            <a:r>
              <a:rPr lang="en-US" dirty="0" err="1" smtClean="0"/>
              <a:t>vs</a:t>
            </a:r>
            <a:r>
              <a:rPr lang="en-US" dirty="0" smtClean="0"/>
              <a:t> Storage</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sz="2900" b="1" dirty="0"/>
              <a:t>Data location</a:t>
            </a:r>
          </a:p>
          <a:p>
            <a:r>
              <a:rPr lang="en-US" sz="2900" dirty="0"/>
              <a:t>Every complex type, i.e. </a:t>
            </a:r>
            <a:r>
              <a:rPr lang="en-US" sz="2900" i="1" dirty="0"/>
              <a:t>arrays</a:t>
            </a:r>
            <a:r>
              <a:rPr lang="en-US" sz="2900" dirty="0"/>
              <a:t> and </a:t>
            </a:r>
            <a:r>
              <a:rPr lang="en-US" sz="2900" i="1" dirty="0" err="1"/>
              <a:t>structs</a:t>
            </a:r>
            <a:r>
              <a:rPr lang="en-US" sz="2900" dirty="0"/>
              <a:t>, has an additional annotation, the “data location”, about whether it is stored in memory or in storage. </a:t>
            </a:r>
            <a:endParaRPr lang="en-US" sz="2900" dirty="0" smtClean="0"/>
          </a:p>
          <a:p>
            <a:endParaRPr lang="en-US" sz="2900" dirty="0" smtClean="0"/>
          </a:p>
          <a:p>
            <a:r>
              <a:rPr lang="en-US" sz="2900" dirty="0" smtClean="0"/>
              <a:t>Depending </a:t>
            </a:r>
            <a:r>
              <a:rPr lang="en-US" sz="2900" dirty="0"/>
              <a:t>on the </a:t>
            </a:r>
            <a:r>
              <a:rPr lang="en-US" sz="2900" dirty="0" smtClean="0"/>
              <a:t>context </a:t>
            </a:r>
            <a:r>
              <a:rPr lang="en-US" sz="2900" dirty="0"/>
              <a:t>there is always a default, but it can be overridden by appending either storage or memory to the type. </a:t>
            </a:r>
            <a:endParaRPr lang="en-US" sz="2900" dirty="0" smtClean="0"/>
          </a:p>
          <a:p>
            <a:endParaRPr lang="en-US" sz="2900" dirty="0" smtClean="0"/>
          </a:p>
          <a:p>
            <a:r>
              <a:rPr lang="en-US" sz="2900" dirty="0" smtClean="0"/>
              <a:t>The </a:t>
            </a:r>
            <a:r>
              <a:rPr lang="en-US" sz="2900" dirty="0"/>
              <a:t>default for function parameters (including return parameters) is memory, </a:t>
            </a:r>
            <a:endParaRPr lang="en-US" sz="2900" dirty="0" smtClean="0"/>
          </a:p>
          <a:p>
            <a:endParaRPr lang="en-US" sz="2900" dirty="0" smtClean="0"/>
          </a:p>
          <a:p>
            <a:r>
              <a:rPr lang="en-US" sz="2900" dirty="0"/>
              <a:t>T</a:t>
            </a:r>
            <a:r>
              <a:rPr lang="en-US" sz="2900" dirty="0" smtClean="0"/>
              <a:t>he </a:t>
            </a:r>
            <a:r>
              <a:rPr lang="en-US" sz="2900" dirty="0"/>
              <a:t>default for local variables is storage and the location is </a:t>
            </a:r>
            <a:r>
              <a:rPr lang="en-US" sz="2900" dirty="0" smtClean="0"/>
              <a:t>implicitly</a:t>
            </a:r>
            <a:r>
              <a:rPr lang="en-US" sz="2900" dirty="0"/>
              <a:t> storage for state </a:t>
            </a:r>
            <a:r>
              <a:rPr lang="en-US" sz="2900" dirty="0" smtClean="0"/>
              <a:t>variables.</a:t>
            </a:r>
            <a:endParaRPr lang="en-US" sz="2900" dirty="0"/>
          </a:p>
          <a:p>
            <a:pPr>
              <a:buNone/>
            </a:pP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 Types</a:t>
            </a:r>
            <a:endParaRPr lang="en-US" dirty="0"/>
          </a:p>
        </p:txBody>
      </p:sp>
      <p:sp>
        <p:nvSpPr>
          <p:cNvPr id="3" name="Content Placeholder 2"/>
          <p:cNvSpPr>
            <a:spLocks noGrp="1"/>
          </p:cNvSpPr>
          <p:nvPr>
            <p:ph idx="1"/>
          </p:nvPr>
        </p:nvSpPr>
        <p:spPr/>
        <p:txBody>
          <a:bodyPr>
            <a:normAutofit/>
          </a:bodyPr>
          <a:lstStyle/>
          <a:p>
            <a:pPr>
              <a:buNone/>
            </a:pPr>
            <a:r>
              <a:rPr lang="en-US" sz="2000" b="1" dirty="0"/>
              <a:t>Reference Types</a:t>
            </a:r>
          </a:p>
          <a:p>
            <a:r>
              <a:rPr lang="en-US" sz="2000" dirty="0"/>
              <a:t>Complex types</a:t>
            </a:r>
            <a:r>
              <a:rPr lang="en-US" sz="2000" dirty="0" smtClean="0"/>
              <a:t>, </a:t>
            </a:r>
            <a:r>
              <a:rPr lang="en-US" sz="2000" dirty="0"/>
              <a:t>which do not always fit into 256 bits have to be handled more carefully </a:t>
            </a:r>
            <a:r>
              <a:rPr lang="en-US" sz="2000" dirty="0" smtClean="0"/>
              <a:t>than value types. </a:t>
            </a:r>
          </a:p>
          <a:p>
            <a:endParaRPr lang="en-US" sz="2000" dirty="0" smtClean="0"/>
          </a:p>
          <a:p>
            <a:r>
              <a:rPr lang="en-US" sz="2000" dirty="0"/>
              <a:t>C</a:t>
            </a:r>
            <a:r>
              <a:rPr lang="en-US" sz="2000" dirty="0" smtClean="0"/>
              <a:t>opying </a:t>
            </a:r>
            <a:r>
              <a:rPr lang="en-US" sz="2000" dirty="0"/>
              <a:t>them can be quite expensive, </a:t>
            </a:r>
            <a:r>
              <a:rPr lang="en-US" sz="2000" dirty="0" smtClean="0"/>
              <a:t>so the decision of whether they should be defined as </a:t>
            </a:r>
            <a:r>
              <a:rPr lang="en-US" sz="2000" dirty="0"/>
              <a:t>stored in </a:t>
            </a:r>
            <a:r>
              <a:rPr lang="en-US" sz="2000" b="1" dirty="0"/>
              <a:t>memory</a:t>
            </a:r>
            <a:r>
              <a:rPr lang="en-US" sz="2000" dirty="0"/>
              <a:t> </a:t>
            </a:r>
            <a:r>
              <a:rPr lang="en-US" sz="2000" dirty="0" smtClean="0"/>
              <a:t>(like function variables, which are </a:t>
            </a:r>
            <a:r>
              <a:rPr lang="en-US" sz="2000" dirty="0"/>
              <a:t>not persisting) or </a:t>
            </a:r>
            <a:r>
              <a:rPr lang="en-US" sz="2000" b="1" dirty="0" smtClean="0"/>
              <a:t>storage</a:t>
            </a:r>
            <a:r>
              <a:rPr lang="en-US" sz="2000" dirty="0" smtClean="0"/>
              <a:t>(like class or instance variables which are persisted as part of state) can be important.</a:t>
            </a:r>
          </a:p>
          <a:p>
            <a:endParaRPr lang="en-US" sz="2000" dirty="0" smtClean="0"/>
          </a:p>
          <a:p>
            <a:r>
              <a:rPr lang="en-US" sz="2000" dirty="0" smtClean="0"/>
              <a:t>Storage variables are always passed by reference.</a:t>
            </a:r>
            <a:endParaRPr lang="en-US" sz="2000" dirty="0"/>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Arrays</a:t>
            </a:r>
            <a:endParaRPr lang="en-US" dirty="0"/>
          </a:p>
        </p:txBody>
      </p:sp>
      <p:sp>
        <p:nvSpPr>
          <p:cNvPr id="3" name="Content Placeholder 2"/>
          <p:cNvSpPr>
            <a:spLocks noGrp="1"/>
          </p:cNvSpPr>
          <p:nvPr>
            <p:ph idx="1"/>
          </p:nvPr>
        </p:nvSpPr>
        <p:spPr/>
        <p:txBody>
          <a:bodyPr>
            <a:normAutofit fontScale="70000" lnSpcReduction="20000"/>
          </a:bodyPr>
          <a:lstStyle/>
          <a:p>
            <a:r>
              <a:rPr lang="en-US" sz="2900" dirty="0" smtClean="0"/>
              <a:t>Arrays </a:t>
            </a:r>
            <a:r>
              <a:rPr lang="en-US" sz="2900" dirty="0"/>
              <a:t>can have a compile-time fixed size or they can be dynamic. </a:t>
            </a:r>
            <a:endParaRPr lang="en-US" sz="2900" dirty="0" smtClean="0"/>
          </a:p>
          <a:p>
            <a:endParaRPr lang="en-US" sz="2900" dirty="0"/>
          </a:p>
          <a:p>
            <a:r>
              <a:rPr lang="en-US" sz="2900" dirty="0"/>
              <a:t>An array of fixed size k and element type T is written as T[k], an array of dynamic size as T[]. </a:t>
            </a:r>
            <a:endParaRPr lang="en-US" sz="2900" dirty="0" smtClean="0"/>
          </a:p>
          <a:p>
            <a:endParaRPr lang="en-US" sz="2900" dirty="0" smtClean="0"/>
          </a:p>
          <a:p>
            <a:r>
              <a:rPr lang="en-US" sz="2900" dirty="0" smtClean="0"/>
              <a:t>As </a:t>
            </a:r>
            <a:r>
              <a:rPr lang="en-US" sz="2900" dirty="0"/>
              <a:t>an example, an array of 5 dynamic arrays of </a:t>
            </a:r>
            <a:r>
              <a:rPr lang="en-US" sz="2900" dirty="0" err="1"/>
              <a:t>uint</a:t>
            </a:r>
            <a:r>
              <a:rPr lang="en-US" sz="2900" dirty="0"/>
              <a:t> is </a:t>
            </a:r>
            <a:r>
              <a:rPr lang="en-US" sz="2900" dirty="0" err="1"/>
              <a:t>uint</a:t>
            </a:r>
            <a:r>
              <a:rPr lang="en-US" sz="2900" dirty="0"/>
              <a:t>[][5] </a:t>
            </a:r>
            <a:endParaRPr lang="en-US" sz="2900" dirty="0" smtClean="0"/>
          </a:p>
          <a:p>
            <a:endParaRPr lang="en-US" sz="2900" dirty="0" smtClean="0"/>
          </a:p>
          <a:p>
            <a:r>
              <a:rPr lang="en-US" sz="2900" dirty="0" smtClean="0"/>
              <a:t>note </a:t>
            </a:r>
            <a:r>
              <a:rPr lang="en-US" sz="2900" dirty="0"/>
              <a:t>that </a:t>
            </a:r>
            <a:r>
              <a:rPr lang="en-US" sz="2900" dirty="0" smtClean="0"/>
              <a:t>the declaration </a:t>
            </a:r>
            <a:r>
              <a:rPr lang="en-US" sz="2900" dirty="0"/>
              <a:t>notation is reversed when compared to some other </a:t>
            </a:r>
            <a:r>
              <a:rPr lang="en-US" sz="2900" dirty="0" smtClean="0"/>
              <a:t>languages like Java. </a:t>
            </a:r>
          </a:p>
          <a:p>
            <a:endParaRPr lang="en-US" sz="2900" dirty="0" smtClean="0"/>
          </a:p>
          <a:p>
            <a:r>
              <a:rPr lang="en-US" sz="2900" dirty="0" smtClean="0"/>
              <a:t>But access is similar to other languages: To </a:t>
            </a:r>
            <a:r>
              <a:rPr lang="en-US" sz="2900" dirty="0"/>
              <a:t>access the second </a:t>
            </a:r>
            <a:r>
              <a:rPr lang="en-US" sz="2900" dirty="0" err="1"/>
              <a:t>uint</a:t>
            </a:r>
            <a:r>
              <a:rPr lang="en-US" sz="2900" dirty="0"/>
              <a:t> in the third dynamic array, you use x[2][1] (indices are zero-based and access works in the opposite way of the </a:t>
            </a:r>
            <a:r>
              <a:rPr lang="en-US" sz="2900" dirty="0" smtClean="0"/>
              <a:t>declaration).</a:t>
            </a:r>
            <a:endParaRPr lang="en-US" sz="2900" dirty="0"/>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Arrays</a:t>
            </a:r>
            <a:endParaRPr lang="en-US" dirty="0"/>
          </a:p>
        </p:txBody>
      </p:sp>
      <p:sp>
        <p:nvSpPr>
          <p:cNvPr id="3" name="Content Placeholder 2"/>
          <p:cNvSpPr>
            <a:spLocks noGrp="1"/>
          </p:cNvSpPr>
          <p:nvPr>
            <p:ph idx="1"/>
          </p:nvPr>
        </p:nvSpPr>
        <p:spPr/>
        <p:txBody>
          <a:bodyPr>
            <a:noAutofit/>
          </a:bodyPr>
          <a:lstStyle/>
          <a:p>
            <a:pPr>
              <a:buNone/>
            </a:pPr>
            <a:r>
              <a:rPr lang="en-US" sz="2000" b="1" dirty="0" smtClean="0"/>
              <a:t>Array Members</a:t>
            </a:r>
            <a:endParaRPr lang="en-US" sz="2000" b="1" dirty="0"/>
          </a:p>
          <a:p>
            <a:r>
              <a:rPr lang="en-US" sz="2000" b="1" dirty="0" smtClean="0"/>
              <a:t>length</a:t>
            </a:r>
            <a:r>
              <a:rPr lang="en-US" sz="2000" dirty="0" smtClean="0"/>
              <a:t>: Arrays have a length member to hold their number of elements. </a:t>
            </a:r>
          </a:p>
          <a:p>
            <a:r>
              <a:rPr lang="en-US" sz="2000" dirty="0" smtClean="0"/>
              <a:t>Dynamic arrays can be resized in storage (not in memory) by changing the .length member. </a:t>
            </a:r>
          </a:p>
          <a:p>
            <a:r>
              <a:rPr lang="en-US" sz="2000" dirty="0" smtClean="0"/>
              <a:t>This does not happen automatically when attempting to access elements outside the current length. </a:t>
            </a:r>
          </a:p>
          <a:p>
            <a:r>
              <a:rPr lang="en-US" sz="2000" dirty="0" smtClean="0"/>
              <a:t>The size of memory arrays is fixed (but dynamic, i.e. it can depend on runtime parameters) once they are created.</a:t>
            </a:r>
          </a:p>
          <a:p>
            <a:endParaRPr lang="en-US" sz="2000" dirty="0" smtClean="0"/>
          </a:p>
          <a:p>
            <a:r>
              <a:rPr lang="en-US" sz="2000" b="1" dirty="0" smtClean="0"/>
              <a:t>push</a:t>
            </a:r>
            <a:r>
              <a:rPr lang="en-US" sz="2000" dirty="0" smtClean="0"/>
              <a:t>: Dynamic storage arrays and bytes (not string) have a member function called push that can be used to append an element at the end of the array. The function returns the new length.</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Structs</a:t>
            </a:r>
            <a:endParaRPr lang="en-US" dirty="0"/>
          </a:p>
        </p:txBody>
      </p:sp>
      <p:sp>
        <p:nvSpPr>
          <p:cNvPr id="3" name="Content Placeholder 2"/>
          <p:cNvSpPr>
            <a:spLocks noGrp="1"/>
          </p:cNvSpPr>
          <p:nvPr>
            <p:ph idx="1"/>
          </p:nvPr>
        </p:nvSpPr>
        <p:spPr/>
        <p:txBody>
          <a:bodyPr>
            <a:normAutofit fontScale="62500" lnSpcReduction="20000"/>
          </a:bodyPr>
          <a:lstStyle/>
          <a:p>
            <a:r>
              <a:rPr lang="en-US" dirty="0" smtClean="0"/>
              <a:t>Solidity </a:t>
            </a:r>
            <a:r>
              <a:rPr lang="en-US" dirty="0"/>
              <a:t>provides a way to define new types in the form of </a:t>
            </a:r>
            <a:r>
              <a:rPr lang="en-US" dirty="0" err="1"/>
              <a:t>structs</a:t>
            </a:r>
            <a:r>
              <a:rPr lang="en-US" dirty="0"/>
              <a:t>, </a:t>
            </a:r>
            <a:r>
              <a:rPr lang="en-US" dirty="0" smtClean="0"/>
              <a:t>similar to many C-based languages.</a:t>
            </a:r>
          </a:p>
          <a:p>
            <a:endParaRPr lang="en-US" dirty="0" smtClean="0"/>
          </a:p>
          <a:p>
            <a:r>
              <a:rPr lang="en-US" dirty="0" smtClean="0"/>
              <a:t>A </a:t>
            </a:r>
            <a:r>
              <a:rPr lang="en-US" dirty="0" err="1" smtClean="0"/>
              <a:t>struct</a:t>
            </a:r>
            <a:r>
              <a:rPr lang="en-US" dirty="0" smtClean="0"/>
              <a:t> is like a lightweight data-only class in that is has the equivalent of fields, but (usually) no methods or constructors.</a:t>
            </a:r>
          </a:p>
          <a:p>
            <a:endParaRPr lang="en-US" dirty="0"/>
          </a:p>
          <a:p>
            <a:r>
              <a:rPr lang="en-US" dirty="0" err="1" smtClean="0"/>
              <a:t>Structs</a:t>
            </a:r>
            <a:r>
              <a:rPr lang="en-US" dirty="0" smtClean="0"/>
              <a:t> can be initialized by member order, or by member name:</a:t>
            </a:r>
          </a:p>
          <a:p>
            <a:pPr>
              <a:buNone/>
            </a:pPr>
            <a:endParaRPr lang="en-US" dirty="0" smtClean="0"/>
          </a:p>
          <a:p>
            <a:pPr>
              <a:buNone/>
            </a:pPr>
            <a:endParaRPr lang="en-US" dirty="0"/>
          </a:p>
          <a:p>
            <a:pPr>
              <a:buNone/>
            </a:pPr>
            <a:endParaRPr lang="en-US" dirty="0" smtClean="0"/>
          </a:p>
          <a:p>
            <a:pPr>
              <a:buNone/>
            </a:pPr>
            <a:endParaRPr lang="en-US" dirty="0"/>
          </a:p>
          <a:p>
            <a:pPr>
              <a:buNone/>
            </a:pPr>
            <a:endParaRPr lang="en-US" dirty="0" smtClean="0"/>
          </a:p>
          <a:p>
            <a:pPr>
              <a:buNone/>
            </a:pPr>
            <a:endParaRPr lang="en-US" dirty="0"/>
          </a:p>
          <a:p>
            <a:pPr>
              <a:buNone/>
            </a:pPr>
            <a:r>
              <a:rPr lang="en-US" dirty="0" smtClean="0"/>
              <a:t> </a:t>
            </a:r>
            <a:endParaRPr lang="en-US" dirty="0"/>
          </a:p>
          <a:p>
            <a:endParaRPr lang="en-US" dirty="0"/>
          </a:p>
        </p:txBody>
      </p:sp>
      <p:pic>
        <p:nvPicPr>
          <p:cNvPr id="7" name="Picture 6" descr="Struct3.JPG"/>
          <p:cNvPicPr>
            <a:picLocks noChangeAspect="1"/>
          </p:cNvPicPr>
          <p:nvPr/>
        </p:nvPicPr>
        <p:blipFill>
          <a:blip r:embed="rId2" cstate="print"/>
          <a:stretch>
            <a:fillRect/>
          </a:stretch>
        </p:blipFill>
        <p:spPr>
          <a:xfrm>
            <a:off x="838200" y="4038600"/>
            <a:ext cx="1905000" cy="1171575"/>
          </a:xfrm>
          <a:prstGeom prst="rect">
            <a:avLst/>
          </a:prstGeom>
        </p:spPr>
      </p:pic>
      <p:pic>
        <p:nvPicPr>
          <p:cNvPr id="8" name="Picture 7" descr="Struct3b.JPG"/>
          <p:cNvPicPr>
            <a:picLocks noChangeAspect="1"/>
          </p:cNvPicPr>
          <p:nvPr/>
        </p:nvPicPr>
        <p:blipFill>
          <a:blip r:embed="rId3" cstate="print"/>
          <a:stretch>
            <a:fillRect/>
          </a:stretch>
        </p:blipFill>
        <p:spPr>
          <a:xfrm>
            <a:off x="3505200" y="4114800"/>
            <a:ext cx="4876800" cy="533400"/>
          </a:xfrm>
          <a:prstGeom prst="rect">
            <a:avLst/>
          </a:prstGeom>
        </p:spPr>
      </p:pic>
      <p:pic>
        <p:nvPicPr>
          <p:cNvPr id="9" name="Picture 8" descr="Struct3c.JPG"/>
          <p:cNvPicPr>
            <a:picLocks noChangeAspect="1"/>
          </p:cNvPicPr>
          <p:nvPr/>
        </p:nvPicPr>
        <p:blipFill>
          <a:blip r:embed="rId4" cstate="print"/>
          <a:stretch>
            <a:fillRect/>
          </a:stretch>
        </p:blipFill>
        <p:spPr>
          <a:xfrm>
            <a:off x="3505200" y="4953000"/>
            <a:ext cx="4800600" cy="457200"/>
          </a:xfrm>
          <a:prstGeom prst="rect">
            <a:avLst/>
          </a:prstGeom>
        </p:spPr>
      </p:pic>
      <p:sp>
        <p:nvSpPr>
          <p:cNvPr id="10" name="TextBox 9"/>
          <p:cNvSpPr txBox="1"/>
          <p:nvPr/>
        </p:nvSpPr>
        <p:spPr>
          <a:xfrm>
            <a:off x="838200" y="6172200"/>
            <a:ext cx="7655429" cy="369332"/>
          </a:xfrm>
          <a:prstGeom prst="rect">
            <a:avLst/>
          </a:prstGeom>
          <a:noFill/>
        </p:spPr>
        <p:txBody>
          <a:bodyPr wrap="none" rtlCol="0">
            <a:spAutoFit/>
          </a:bodyPr>
          <a:lstStyle/>
          <a:p>
            <a:r>
              <a:rPr lang="en-US" dirty="0" smtClean="0">
                <a:hlinkClick r:id="rId5"/>
              </a:rPr>
              <a:t>https://ethereum.stackexchange.com/questions/1511/how-to-initialize-a-struct</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Mappings</a:t>
            </a:r>
            <a:endParaRPr lang="en-US" dirty="0"/>
          </a:p>
        </p:txBody>
      </p:sp>
      <p:sp>
        <p:nvSpPr>
          <p:cNvPr id="3" name="Content Placeholder 2"/>
          <p:cNvSpPr>
            <a:spLocks noGrp="1"/>
          </p:cNvSpPr>
          <p:nvPr>
            <p:ph idx="1"/>
          </p:nvPr>
        </p:nvSpPr>
        <p:spPr/>
        <p:txBody>
          <a:bodyPr>
            <a:normAutofit fontScale="70000" lnSpcReduction="20000"/>
          </a:bodyPr>
          <a:lstStyle/>
          <a:p>
            <a:r>
              <a:rPr lang="en-US" sz="2900" dirty="0" smtClean="0"/>
              <a:t>Mapping </a:t>
            </a:r>
            <a:r>
              <a:rPr lang="en-US" sz="2900" dirty="0"/>
              <a:t>types are declared as mapping(_</a:t>
            </a:r>
            <a:r>
              <a:rPr lang="en-US" sz="2900" dirty="0" err="1"/>
              <a:t>KeyType</a:t>
            </a:r>
            <a:r>
              <a:rPr lang="en-US" sz="2900" dirty="0"/>
              <a:t> =&gt; _</a:t>
            </a:r>
            <a:r>
              <a:rPr lang="en-US" sz="2900" dirty="0" err="1"/>
              <a:t>ValueType</a:t>
            </a:r>
            <a:r>
              <a:rPr lang="en-US" sz="2900" dirty="0"/>
              <a:t>). </a:t>
            </a:r>
            <a:endParaRPr lang="en-US" sz="2900" dirty="0" smtClean="0"/>
          </a:p>
          <a:p>
            <a:pPr lvl="1"/>
            <a:r>
              <a:rPr lang="en-US" sz="2900" dirty="0" smtClean="0"/>
              <a:t>_</a:t>
            </a:r>
            <a:r>
              <a:rPr lang="en-US" sz="2900" dirty="0" err="1" smtClean="0"/>
              <a:t>KeyType</a:t>
            </a:r>
            <a:r>
              <a:rPr lang="en-US" sz="2900" dirty="0"/>
              <a:t> can be almost any type except for a mapping, a dynamically sized array, a contract, an enum and a </a:t>
            </a:r>
            <a:r>
              <a:rPr lang="en-US" sz="2900" dirty="0" err="1"/>
              <a:t>struct</a:t>
            </a:r>
            <a:r>
              <a:rPr lang="en-US" sz="2900" dirty="0"/>
              <a:t>. </a:t>
            </a:r>
            <a:r>
              <a:rPr lang="en-US" sz="2900" dirty="0" smtClean="0"/>
              <a:t>  It is effectively the lookup key for the mapping.</a:t>
            </a:r>
          </a:p>
          <a:p>
            <a:pPr lvl="1"/>
            <a:r>
              <a:rPr lang="en-US" sz="2900" dirty="0" smtClean="0"/>
              <a:t>_</a:t>
            </a:r>
            <a:r>
              <a:rPr lang="en-US" sz="2900" dirty="0" err="1" smtClean="0"/>
              <a:t>ValueType</a:t>
            </a:r>
            <a:r>
              <a:rPr lang="en-US" sz="2900" dirty="0" smtClean="0"/>
              <a:t> can </a:t>
            </a:r>
            <a:r>
              <a:rPr lang="en-US" sz="2900" dirty="0"/>
              <a:t>be any type, including mappings.</a:t>
            </a:r>
          </a:p>
          <a:p>
            <a:endParaRPr lang="en-US" sz="2900" dirty="0" smtClean="0"/>
          </a:p>
          <a:p>
            <a:r>
              <a:rPr lang="en-US" sz="2900" dirty="0" smtClean="0"/>
              <a:t>Mappings </a:t>
            </a:r>
            <a:r>
              <a:rPr lang="en-US" sz="2900" dirty="0"/>
              <a:t>can be seen as hash </a:t>
            </a:r>
            <a:r>
              <a:rPr lang="en-US" sz="2900" dirty="0" smtClean="0"/>
              <a:t>tables</a:t>
            </a:r>
            <a:r>
              <a:rPr lang="en-US" sz="2900" dirty="0"/>
              <a:t> which are virtually initialized such that every possible </a:t>
            </a:r>
            <a:r>
              <a:rPr lang="en-US" sz="2900" dirty="0" smtClean="0"/>
              <a:t>key theoretically </a:t>
            </a:r>
            <a:r>
              <a:rPr lang="en-US" sz="2900" dirty="0"/>
              <a:t>exists and is mapped to a value whose byte-representation is all zeros: a type’s default value. </a:t>
            </a:r>
            <a:endParaRPr lang="en-US" sz="2900" dirty="0" smtClean="0"/>
          </a:p>
          <a:p>
            <a:endParaRPr lang="en-US" sz="2900" dirty="0" smtClean="0"/>
          </a:p>
          <a:p>
            <a:r>
              <a:rPr lang="en-US" sz="2900" dirty="0" smtClean="0"/>
              <a:t>The </a:t>
            </a:r>
            <a:r>
              <a:rPr lang="en-US" sz="2900" dirty="0"/>
              <a:t>similarity ends here, though: The key data is not actually stored in a mapping, only its </a:t>
            </a:r>
            <a:r>
              <a:rPr lang="en-US" sz="2900" dirty="0" smtClean="0"/>
              <a:t>keccak256 hash </a:t>
            </a:r>
            <a:r>
              <a:rPr lang="en-US" sz="2900" dirty="0"/>
              <a:t>used to look up the value.</a:t>
            </a:r>
          </a:p>
          <a:p>
            <a:endParaRPr lang="en-US" sz="2900" dirty="0" smtClean="0"/>
          </a:p>
          <a:p>
            <a:r>
              <a:rPr lang="en-US" sz="2900" dirty="0" smtClean="0"/>
              <a:t>Because </a:t>
            </a:r>
            <a:r>
              <a:rPr lang="en-US" sz="2900" dirty="0"/>
              <a:t>of this, mappings do not have a length or a concept of a key or value being “set”.</a:t>
            </a:r>
          </a:p>
          <a:p>
            <a:r>
              <a:rPr lang="en-US" sz="2900" dirty="0" smtClean="0"/>
              <a:t>And mappings cannot be iterated over.</a:t>
            </a:r>
            <a:endParaRPr lang="en-US" sz="2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descr="Struct1.JPG"/>
          <p:cNvPicPr>
            <a:picLocks noGrp="1" noChangeAspect="1"/>
          </p:cNvPicPr>
          <p:nvPr>
            <p:ph idx="1"/>
          </p:nvPr>
        </p:nvPicPr>
        <p:blipFill>
          <a:blip r:embed="rId2" cstate="print"/>
          <a:stretch>
            <a:fillRect/>
          </a:stretch>
        </p:blipFill>
        <p:spPr>
          <a:xfrm>
            <a:off x="762000" y="990600"/>
            <a:ext cx="7467600" cy="4724400"/>
          </a:xfrm>
        </p:spPr>
      </p:pic>
      <p:sp>
        <p:nvSpPr>
          <p:cNvPr id="3" name="TextBox 2"/>
          <p:cNvSpPr txBox="1"/>
          <p:nvPr/>
        </p:nvSpPr>
        <p:spPr>
          <a:xfrm>
            <a:off x="990600" y="6172200"/>
            <a:ext cx="5211491" cy="369332"/>
          </a:xfrm>
          <a:prstGeom prst="rect">
            <a:avLst/>
          </a:prstGeom>
          <a:noFill/>
        </p:spPr>
        <p:txBody>
          <a:bodyPr wrap="none" rtlCol="0">
            <a:spAutoFit/>
          </a:bodyPr>
          <a:lstStyle/>
          <a:p>
            <a:r>
              <a:rPr lang="en-US" dirty="0" smtClean="0">
                <a:hlinkClick r:id="rId3"/>
              </a:rPr>
              <a:t>https://solidity.readthedocs.io/en/v0.4.24/types.html</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Struct2.JPG"/>
          <p:cNvPicPr>
            <a:picLocks noGrp="1" noChangeAspect="1"/>
          </p:cNvPicPr>
          <p:nvPr>
            <p:ph idx="1"/>
          </p:nvPr>
        </p:nvPicPr>
        <p:blipFill>
          <a:blip r:embed="rId2" cstate="print"/>
          <a:stretch>
            <a:fillRect/>
          </a:stretch>
        </p:blipFill>
        <p:spPr>
          <a:xfrm>
            <a:off x="609600" y="685800"/>
            <a:ext cx="7620000" cy="5638800"/>
          </a:xfrm>
        </p:spPr>
      </p:pic>
      <p:sp>
        <p:nvSpPr>
          <p:cNvPr id="3" name="TextBox 2"/>
          <p:cNvSpPr txBox="1"/>
          <p:nvPr/>
        </p:nvSpPr>
        <p:spPr>
          <a:xfrm>
            <a:off x="990600" y="6172200"/>
            <a:ext cx="5211491" cy="369332"/>
          </a:xfrm>
          <a:prstGeom prst="rect">
            <a:avLst/>
          </a:prstGeom>
          <a:noFill/>
        </p:spPr>
        <p:txBody>
          <a:bodyPr wrap="none" rtlCol="0">
            <a:spAutoFit/>
          </a:bodyPr>
          <a:lstStyle/>
          <a:p>
            <a:r>
              <a:rPr lang="en-US" dirty="0" smtClean="0">
                <a:hlinkClick r:id="rId3"/>
              </a:rPr>
              <a:t>https://solidity.readthedocs.io/en/v0.4.24/types.html</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Initialize Values</a:t>
            </a:r>
            <a:endParaRPr lang="en-US" dirty="0"/>
          </a:p>
        </p:txBody>
      </p:sp>
      <p:sp>
        <p:nvSpPr>
          <p:cNvPr id="3" name="Content Placeholder 2"/>
          <p:cNvSpPr>
            <a:spLocks noGrp="1"/>
          </p:cNvSpPr>
          <p:nvPr>
            <p:ph idx="1"/>
          </p:nvPr>
        </p:nvSpPr>
        <p:spPr>
          <a:xfrm>
            <a:off x="457200" y="1600200"/>
            <a:ext cx="8229600" cy="4876800"/>
          </a:xfrm>
        </p:spPr>
        <p:txBody>
          <a:bodyPr>
            <a:normAutofit fontScale="32500" lnSpcReduction="20000"/>
          </a:bodyPr>
          <a:lstStyle/>
          <a:p>
            <a:pPr>
              <a:buNone/>
            </a:pPr>
            <a:r>
              <a:rPr lang="en-US" sz="6200" b="1" dirty="0"/>
              <a:t>delete</a:t>
            </a:r>
          </a:p>
          <a:p>
            <a:r>
              <a:rPr lang="en-US" sz="6200" dirty="0" smtClean="0"/>
              <a:t>“delete</a:t>
            </a:r>
            <a:r>
              <a:rPr lang="en-US" sz="6200" dirty="0"/>
              <a:t> </a:t>
            </a:r>
            <a:r>
              <a:rPr lang="en-US" sz="6200" dirty="0" smtClean="0"/>
              <a:t>a;”</a:t>
            </a:r>
            <a:r>
              <a:rPr lang="en-US" sz="6200" dirty="0"/>
              <a:t> assigns the </a:t>
            </a:r>
            <a:r>
              <a:rPr lang="en-US" sz="6200" dirty="0" smtClean="0"/>
              <a:t>default initial </a:t>
            </a:r>
            <a:r>
              <a:rPr lang="en-US" sz="6200" dirty="0"/>
              <a:t>value for the type to a. </a:t>
            </a:r>
            <a:endParaRPr lang="en-US" sz="6200" dirty="0" smtClean="0"/>
          </a:p>
          <a:p>
            <a:endParaRPr lang="en-US" sz="6200" dirty="0" smtClean="0"/>
          </a:p>
          <a:p>
            <a:r>
              <a:rPr lang="en-US" sz="6200" dirty="0" smtClean="0"/>
              <a:t>For </a:t>
            </a:r>
            <a:r>
              <a:rPr lang="en-US" sz="6200" dirty="0"/>
              <a:t>integers it is equivalent to a = 0, but it can also be used on arrays, where it assigns a dynamic array of length zero or a static array of the same length with all elements reset. </a:t>
            </a:r>
            <a:endParaRPr lang="en-US" sz="6200" dirty="0" smtClean="0"/>
          </a:p>
          <a:p>
            <a:r>
              <a:rPr lang="en-US" sz="6200" dirty="0" smtClean="0"/>
              <a:t>For </a:t>
            </a:r>
            <a:r>
              <a:rPr lang="en-US" sz="6200" dirty="0" err="1"/>
              <a:t>structs</a:t>
            </a:r>
            <a:r>
              <a:rPr lang="en-US" sz="6200" dirty="0"/>
              <a:t>, it assigns a </a:t>
            </a:r>
            <a:r>
              <a:rPr lang="en-US" sz="6200" dirty="0" err="1"/>
              <a:t>struct</a:t>
            </a:r>
            <a:r>
              <a:rPr lang="en-US" sz="6200" dirty="0"/>
              <a:t> with all members reset</a:t>
            </a:r>
            <a:r>
              <a:rPr lang="en-US" sz="6200" dirty="0" smtClean="0"/>
              <a:t>.</a:t>
            </a:r>
          </a:p>
          <a:p>
            <a:endParaRPr lang="en-US" sz="6200" b="1" dirty="0" smtClean="0"/>
          </a:p>
          <a:p>
            <a:pPr>
              <a:buNone/>
            </a:pPr>
            <a:r>
              <a:rPr lang="en-US" sz="6200" b="1" dirty="0" smtClean="0"/>
              <a:t>contract</a:t>
            </a:r>
            <a:r>
              <a:rPr lang="en-US" sz="6200" dirty="0" smtClean="0"/>
              <a:t> </a:t>
            </a:r>
            <a:r>
              <a:rPr lang="en-US" sz="6200" dirty="0" err="1" smtClean="0"/>
              <a:t>DeleteExample</a:t>
            </a:r>
            <a:r>
              <a:rPr lang="en-US" sz="6200" dirty="0" smtClean="0"/>
              <a:t> { </a:t>
            </a:r>
          </a:p>
          <a:p>
            <a:pPr>
              <a:buNone/>
            </a:pPr>
            <a:r>
              <a:rPr lang="en-US" sz="6200" dirty="0" smtClean="0"/>
              <a:t>	</a:t>
            </a:r>
            <a:r>
              <a:rPr lang="en-US" sz="6200" dirty="0" err="1" smtClean="0"/>
              <a:t>uint</a:t>
            </a:r>
            <a:r>
              <a:rPr lang="en-US" sz="6200" dirty="0" smtClean="0"/>
              <a:t> data; </a:t>
            </a:r>
          </a:p>
          <a:p>
            <a:pPr>
              <a:buNone/>
            </a:pPr>
            <a:r>
              <a:rPr lang="en-US" sz="6200" b="1" dirty="0" smtClean="0"/>
              <a:t>	function</a:t>
            </a:r>
            <a:r>
              <a:rPr lang="en-US" sz="6200" dirty="0" smtClean="0"/>
              <a:t> f() </a:t>
            </a:r>
            <a:r>
              <a:rPr lang="en-US" sz="6200" b="1" dirty="0" smtClean="0"/>
              <a:t>public</a:t>
            </a:r>
            <a:r>
              <a:rPr lang="en-US" sz="6200" dirty="0" smtClean="0"/>
              <a:t> { </a:t>
            </a:r>
          </a:p>
          <a:p>
            <a:pPr>
              <a:buNone/>
            </a:pPr>
            <a:r>
              <a:rPr lang="en-US" sz="6200" dirty="0" smtClean="0"/>
              <a:t>		</a:t>
            </a:r>
            <a:r>
              <a:rPr lang="en-US" sz="6200" dirty="0" err="1" smtClean="0"/>
              <a:t>uint</a:t>
            </a:r>
            <a:r>
              <a:rPr lang="en-US" sz="6200" dirty="0" smtClean="0"/>
              <a:t> x = data; </a:t>
            </a:r>
          </a:p>
          <a:p>
            <a:pPr>
              <a:buNone/>
            </a:pPr>
            <a:r>
              <a:rPr lang="en-US" sz="6200" b="1" dirty="0" smtClean="0"/>
              <a:t>		delete</a:t>
            </a:r>
            <a:r>
              <a:rPr lang="en-US" sz="6200" dirty="0" smtClean="0"/>
              <a:t> x; </a:t>
            </a:r>
            <a:r>
              <a:rPr lang="en-US" sz="6200" i="1" dirty="0" smtClean="0"/>
              <a:t>// sets x to 0, does not affect data</a:t>
            </a:r>
            <a:r>
              <a:rPr lang="en-US" sz="6200" dirty="0" smtClean="0"/>
              <a:t> </a:t>
            </a:r>
          </a:p>
          <a:p>
            <a:pPr>
              <a:buNone/>
            </a:pPr>
            <a:r>
              <a:rPr lang="en-US" sz="6200" b="1" dirty="0" smtClean="0"/>
              <a:t>		delete</a:t>
            </a:r>
            <a:r>
              <a:rPr lang="en-US" sz="6200" dirty="0" smtClean="0"/>
              <a:t> data; </a:t>
            </a:r>
            <a:r>
              <a:rPr lang="en-US" sz="6200" i="1" dirty="0" smtClean="0"/>
              <a:t>// sets data to 0, does not affect x</a:t>
            </a:r>
          </a:p>
          <a:p>
            <a:pPr>
              <a:buNone/>
            </a:pPr>
            <a:r>
              <a:rPr lang="en-US" sz="6200" dirty="0" smtClean="0"/>
              <a:t>		…</a:t>
            </a:r>
            <a:endParaRPr lang="en-US" sz="6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 Conversion</a:t>
            </a:r>
            <a:endParaRPr lang="en-US" dirty="0"/>
          </a:p>
        </p:txBody>
      </p:sp>
      <p:sp>
        <p:nvSpPr>
          <p:cNvPr id="3" name="Content Placeholder 2"/>
          <p:cNvSpPr>
            <a:spLocks noGrp="1"/>
          </p:cNvSpPr>
          <p:nvPr>
            <p:ph idx="1"/>
          </p:nvPr>
        </p:nvSpPr>
        <p:spPr>
          <a:xfrm>
            <a:off x="457200" y="1600200"/>
            <a:ext cx="8229600" cy="4876800"/>
          </a:xfrm>
        </p:spPr>
        <p:txBody>
          <a:bodyPr>
            <a:normAutofit fontScale="62500" lnSpcReduction="20000"/>
          </a:bodyPr>
          <a:lstStyle/>
          <a:p>
            <a:pPr>
              <a:buNone/>
            </a:pPr>
            <a:r>
              <a:rPr lang="en-US" b="1" dirty="0" smtClean="0"/>
              <a:t>Implicit </a:t>
            </a:r>
            <a:r>
              <a:rPr lang="en-US" b="1" dirty="0"/>
              <a:t>Conversions</a:t>
            </a:r>
          </a:p>
          <a:p>
            <a:r>
              <a:rPr lang="en-US" dirty="0"/>
              <a:t>If an operator is applied to different types, the compiler tries to implicitly convert one of the operands to the type of the </a:t>
            </a:r>
            <a:r>
              <a:rPr lang="en-US" dirty="0" smtClean="0"/>
              <a:t>other, as is done for assignments. </a:t>
            </a:r>
          </a:p>
          <a:p>
            <a:r>
              <a:rPr lang="en-US" dirty="0" smtClean="0"/>
              <a:t>In </a:t>
            </a:r>
            <a:r>
              <a:rPr lang="en-US" dirty="0"/>
              <a:t>general, an implicit conversion between value-types is possible if it makes sense semantically and no information is lost: </a:t>
            </a:r>
            <a:endParaRPr lang="en-US" dirty="0" smtClean="0"/>
          </a:p>
          <a:p>
            <a:pPr lvl="1"/>
            <a:r>
              <a:rPr lang="en-US" dirty="0" err="1" smtClean="0"/>
              <a:t>uint</a:t>
            </a:r>
            <a:r>
              <a:rPr lang="en-US" i="1" dirty="0" err="1" smtClean="0"/>
              <a:t>n</a:t>
            </a:r>
            <a:r>
              <a:rPr lang="en-US" dirty="0" smtClean="0"/>
              <a:t> to</a:t>
            </a:r>
            <a:r>
              <a:rPr lang="en-US" dirty="0"/>
              <a:t> </a:t>
            </a:r>
            <a:r>
              <a:rPr lang="en-US" dirty="0" err="1" smtClean="0"/>
              <a:t>uint</a:t>
            </a:r>
            <a:r>
              <a:rPr lang="en-US" i="1" dirty="0" err="1" smtClean="0"/>
              <a:t>m</a:t>
            </a:r>
            <a:r>
              <a:rPr lang="en-US" dirty="0"/>
              <a:t>,</a:t>
            </a:r>
            <a:r>
              <a:rPr lang="en-US" dirty="0" smtClean="0"/>
              <a:t> </a:t>
            </a:r>
            <a:r>
              <a:rPr lang="en-US" dirty="0" err="1" smtClean="0"/>
              <a:t>int</a:t>
            </a:r>
            <a:r>
              <a:rPr lang="en-US" i="1" dirty="0" err="1" smtClean="0"/>
              <a:t>n</a:t>
            </a:r>
            <a:r>
              <a:rPr lang="en-US" dirty="0" smtClean="0"/>
              <a:t> to </a:t>
            </a:r>
            <a:r>
              <a:rPr lang="en-US" dirty="0" err="1" smtClean="0"/>
              <a:t>int</a:t>
            </a:r>
            <a:r>
              <a:rPr lang="en-US" i="1" dirty="0" err="1" smtClean="0"/>
              <a:t>m</a:t>
            </a:r>
            <a:r>
              <a:rPr lang="en-US" dirty="0" smtClean="0"/>
              <a:t> and </a:t>
            </a:r>
            <a:r>
              <a:rPr lang="en-US" dirty="0" err="1" smtClean="0"/>
              <a:t>uint</a:t>
            </a:r>
            <a:r>
              <a:rPr lang="en-US" i="1" dirty="0" err="1" smtClean="0"/>
              <a:t>n</a:t>
            </a:r>
            <a:r>
              <a:rPr lang="en-US" dirty="0" smtClean="0"/>
              <a:t> to </a:t>
            </a:r>
            <a:r>
              <a:rPr lang="en-US" dirty="0" err="1" smtClean="0"/>
              <a:t>int</a:t>
            </a:r>
            <a:r>
              <a:rPr lang="en-US" i="1" dirty="0" err="1" smtClean="0"/>
              <a:t>m</a:t>
            </a:r>
            <a:r>
              <a:rPr lang="en-US" dirty="0" smtClean="0"/>
              <a:t> where </a:t>
            </a:r>
            <a:r>
              <a:rPr lang="en-US" i="1" dirty="0" smtClean="0"/>
              <a:t>m</a:t>
            </a:r>
            <a:r>
              <a:rPr lang="en-US" dirty="0" smtClean="0"/>
              <a:t>&gt;</a:t>
            </a:r>
            <a:r>
              <a:rPr lang="en-US" i="1" dirty="0" smtClean="0"/>
              <a:t>n</a:t>
            </a:r>
            <a:r>
              <a:rPr lang="en-US" dirty="0" smtClean="0"/>
              <a:t>, </a:t>
            </a:r>
          </a:p>
          <a:p>
            <a:pPr lvl="1"/>
            <a:r>
              <a:rPr lang="en-US" dirty="0" smtClean="0"/>
              <a:t>Also, </a:t>
            </a:r>
            <a:r>
              <a:rPr lang="en-US" dirty="0"/>
              <a:t>unsigned integers can be converted to bytes of the same or larger size, but not vice-versa. </a:t>
            </a:r>
            <a:endParaRPr lang="en-US" dirty="0" smtClean="0"/>
          </a:p>
          <a:p>
            <a:pPr lvl="1"/>
            <a:r>
              <a:rPr lang="en-US" dirty="0" smtClean="0"/>
              <a:t>Any </a:t>
            </a:r>
            <a:r>
              <a:rPr lang="en-US" dirty="0"/>
              <a:t>type that can be converted to uint160 can also be converted to address.</a:t>
            </a:r>
          </a:p>
          <a:p>
            <a:pPr>
              <a:buNone/>
            </a:pPr>
            <a:r>
              <a:rPr lang="en-US" b="1" dirty="0"/>
              <a:t>Explicit Conversions</a:t>
            </a:r>
          </a:p>
          <a:p>
            <a:r>
              <a:rPr lang="en-US" dirty="0"/>
              <a:t>If the compiler does not allow implicit conversion but you know what you are doing, an explicit type conversion is sometimes possible. </a:t>
            </a:r>
            <a:r>
              <a:rPr lang="en-US" dirty="0" smtClean="0"/>
              <a:t>This may result in </a:t>
            </a:r>
            <a:r>
              <a:rPr lang="en-US" dirty="0"/>
              <a:t>unexpected </a:t>
            </a:r>
            <a:r>
              <a:rPr lang="en-US" dirty="0" smtClean="0"/>
              <a:t>behavior </a:t>
            </a:r>
            <a:r>
              <a:rPr lang="en-US" dirty="0"/>
              <a:t>so be sure to </a:t>
            </a:r>
            <a:r>
              <a:rPr lang="en-US" dirty="0" smtClean="0"/>
              <a:t>test.</a:t>
            </a:r>
          </a:p>
          <a:p>
            <a:pPr>
              <a:buNone/>
            </a:pPr>
            <a:r>
              <a:rPr lang="en-US" dirty="0" smtClean="0"/>
              <a:t>	uint8 test1 = 1;</a:t>
            </a:r>
          </a:p>
          <a:p>
            <a:pPr>
              <a:buNone/>
            </a:pPr>
            <a:r>
              <a:rPr lang="en-US" dirty="0" smtClean="0"/>
              <a:t>	int8 test2 = int8(test1);</a:t>
            </a:r>
            <a:endParaRPr lang="en-US" dirty="0"/>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Implicit Type Specification</a:t>
            </a:r>
            <a:endParaRPr lang="en-US" dirty="0"/>
          </a:p>
        </p:txBody>
      </p:sp>
      <p:sp>
        <p:nvSpPr>
          <p:cNvPr id="3" name="Content Placeholder 2"/>
          <p:cNvSpPr>
            <a:spLocks noGrp="1"/>
          </p:cNvSpPr>
          <p:nvPr>
            <p:ph idx="1"/>
          </p:nvPr>
        </p:nvSpPr>
        <p:spPr/>
        <p:txBody>
          <a:bodyPr>
            <a:normAutofit/>
          </a:bodyPr>
          <a:lstStyle/>
          <a:p>
            <a:pPr>
              <a:buNone/>
            </a:pPr>
            <a:r>
              <a:rPr lang="en-US" sz="2000" b="1" dirty="0"/>
              <a:t>Type Deduction</a:t>
            </a:r>
          </a:p>
          <a:p>
            <a:r>
              <a:rPr lang="en-US" sz="2000" dirty="0"/>
              <a:t>For convenience, it is not always necessary to explicitly specify the type of a variable, the compiler automatically infers it from the type of the first expression that is assigned to the variable:</a:t>
            </a:r>
          </a:p>
          <a:p>
            <a:pPr>
              <a:buNone/>
            </a:pPr>
            <a:r>
              <a:rPr lang="en-US" sz="2000" b="1" dirty="0" smtClean="0"/>
              <a:t>		uint24</a:t>
            </a:r>
            <a:r>
              <a:rPr lang="en-US" sz="2000" dirty="0" smtClean="0"/>
              <a:t> </a:t>
            </a:r>
            <a:r>
              <a:rPr lang="en-US" sz="2000" dirty="0"/>
              <a:t>x </a:t>
            </a:r>
            <a:r>
              <a:rPr lang="en-US" sz="2000" b="1" dirty="0"/>
              <a:t>=</a:t>
            </a:r>
            <a:r>
              <a:rPr lang="en-US" sz="2000" dirty="0"/>
              <a:t> 0x123; </a:t>
            </a:r>
            <a:endParaRPr lang="en-US" sz="2000" dirty="0" smtClean="0"/>
          </a:p>
          <a:p>
            <a:pPr>
              <a:buNone/>
            </a:pPr>
            <a:r>
              <a:rPr lang="en-US" sz="2000" b="1" dirty="0" smtClean="0"/>
              <a:t>		</a:t>
            </a:r>
            <a:r>
              <a:rPr lang="en-US" sz="2000" b="1" dirty="0" err="1" smtClean="0"/>
              <a:t>var</a:t>
            </a:r>
            <a:r>
              <a:rPr lang="en-US" sz="2000" dirty="0" smtClean="0"/>
              <a:t> </a:t>
            </a:r>
            <a:r>
              <a:rPr lang="en-US" sz="2000" dirty="0"/>
              <a:t>y </a:t>
            </a:r>
            <a:r>
              <a:rPr lang="en-US" sz="2000" b="1" dirty="0"/>
              <a:t>=</a:t>
            </a:r>
            <a:r>
              <a:rPr lang="en-US" sz="2000" dirty="0"/>
              <a:t> x; </a:t>
            </a:r>
          </a:p>
          <a:p>
            <a:r>
              <a:rPr lang="en-US" sz="2000" dirty="0"/>
              <a:t>Here, the type of y will be uint24. </a:t>
            </a:r>
            <a:endParaRPr lang="en-US" sz="2000" dirty="0" smtClean="0"/>
          </a:p>
          <a:p>
            <a:endParaRPr lang="en-US" sz="2000" dirty="0" smtClean="0"/>
          </a:p>
          <a:p>
            <a:r>
              <a:rPr lang="en-US" sz="2000" dirty="0" smtClean="0"/>
              <a:t>Using</a:t>
            </a:r>
            <a:r>
              <a:rPr lang="en-US" sz="2000" dirty="0"/>
              <a:t> </a:t>
            </a:r>
            <a:r>
              <a:rPr lang="en-US" sz="2000" dirty="0" err="1"/>
              <a:t>var</a:t>
            </a:r>
            <a:r>
              <a:rPr lang="en-US" sz="2000" dirty="0"/>
              <a:t> is not possible for function parameters or return parameters.</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Units</a:t>
            </a:r>
            <a:endParaRPr lang="en-US" dirty="0"/>
          </a:p>
        </p:txBody>
      </p:sp>
      <p:sp>
        <p:nvSpPr>
          <p:cNvPr id="3" name="Content Placeholder 2"/>
          <p:cNvSpPr>
            <a:spLocks noGrp="1"/>
          </p:cNvSpPr>
          <p:nvPr>
            <p:ph idx="1"/>
          </p:nvPr>
        </p:nvSpPr>
        <p:spPr/>
        <p:txBody>
          <a:bodyPr>
            <a:normAutofit fontScale="70000" lnSpcReduction="20000"/>
          </a:bodyPr>
          <a:lstStyle/>
          <a:p>
            <a:r>
              <a:rPr lang="en-US" sz="2900" dirty="0" smtClean="0"/>
              <a:t>A </a:t>
            </a:r>
            <a:r>
              <a:rPr lang="en-US" sz="2900" dirty="0"/>
              <a:t>literal number can take a suffix of </a:t>
            </a:r>
            <a:r>
              <a:rPr lang="en-US" sz="2900" dirty="0" err="1"/>
              <a:t>wei</a:t>
            </a:r>
            <a:r>
              <a:rPr lang="en-US" sz="2900" dirty="0"/>
              <a:t>, </a:t>
            </a:r>
            <a:r>
              <a:rPr lang="en-US" sz="2900" dirty="0" err="1"/>
              <a:t>finney</a:t>
            </a:r>
            <a:r>
              <a:rPr lang="en-US" sz="2900" dirty="0"/>
              <a:t>, </a:t>
            </a:r>
            <a:r>
              <a:rPr lang="en-US" sz="2900" dirty="0" err="1"/>
              <a:t>szabo</a:t>
            </a:r>
            <a:r>
              <a:rPr lang="en-US" sz="2900" dirty="0"/>
              <a:t> or ether to convert between the </a:t>
            </a:r>
            <a:r>
              <a:rPr lang="en-US" sz="2900" dirty="0" err="1"/>
              <a:t>subdenominations</a:t>
            </a:r>
            <a:r>
              <a:rPr lang="en-US" sz="2900" dirty="0"/>
              <a:t> of Ether, where Ether currency numbers without a postfix are assumed to be Wei, e.g. 2 ether == 2000 </a:t>
            </a:r>
            <a:r>
              <a:rPr lang="en-US" sz="2900" dirty="0" err="1"/>
              <a:t>finney</a:t>
            </a:r>
            <a:r>
              <a:rPr lang="en-US" sz="2900" dirty="0"/>
              <a:t> evaluates to true</a:t>
            </a:r>
            <a:r>
              <a:rPr lang="en-US" sz="2900" dirty="0" smtClean="0"/>
              <a:t>.</a:t>
            </a:r>
          </a:p>
          <a:p>
            <a:r>
              <a:rPr lang="de-DE" sz="2900" dirty="0"/>
              <a:t>1: wei</a:t>
            </a:r>
          </a:p>
          <a:p>
            <a:r>
              <a:rPr lang="de-DE" sz="2900" dirty="0"/>
              <a:t>10</a:t>
            </a:r>
            <a:r>
              <a:rPr lang="de-DE" sz="2900" baseline="30000" dirty="0"/>
              <a:t>12</a:t>
            </a:r>
            <a:r>
              <a:rPr lang="de-DE" sz="2900" dirty="0"/>
              <a:t>: szabo</a:t>
            </a:r>
          </a:p>
          <a:p>
            <a:r>
              <a:rPr lang="de-DE" sz="2900" dirty="0"/>
              <a:t>10</a:t>
            </a:r>
            <a:r>
              <a:rPr lang="de-DE" sz="2900" baseline="30000" dirty="0"/>
              <a:t>15</a:t>
            </a:r>
            <a:r>
              <a:rPr lang="de-DE" sz="2900" dirty="0"/>
              <a:t>: finney</a:t>
            </a:r>
          </a:p>
          <a:p>
            <a:r>
              <a:rPr lang="de-DE" sz="2900" dirty="0"/>
              <a:t>10</a:t>
            </a:r>
            <a:r>
              <a:rPr lang="de-DE" sz="2900" baseline="30000" dirty="0"/>
              <a:t>18</a:t>
            </a:r>
            <a:r>
              <a:rPr lang="de-DE" sz="2900" dirty="0"/>
              <a:t>: ether</a:t>
            </a:r>
          </a:p>
          <a:p>
            <a:endParaRPr lang="en-US" sz="2900" dirty="0" smtClean="0"/>
          </a:p>
          <a:p>
            <a:r>
              <a:rPr lang="en-US" sz="2900" dirty="0" smtClean="0"/>
              <a:t>Some implementations, specifically web.js, have additional denominations, as listed on the following </a:t>
            </a:r>
            <a:r>
              <a:rPr lang="en-US" sz="2900" dirty="0" smtClean="0"/>
              <a:t>slide</a:t>
            </a:r>
            <a:r>
              <a:rPr lang="en-US" sz="2900" dirty="0" smtClean="0"/>
              <a:t> </a:t>
            </a:r>
            <a:r>
              <a:rPr lang="en-US" sz="2900" dirty="0" smtClean="0"/>
              <a:t>(from </a:t>
            </a:r>
            <a:r>
              <a:rPr lang="en-US" sz="2900" dirty="0" smtClean="0">
                <a:hlinkClick r:id="rId2"/>
              </a:rPr>
              <a:t>https://</a:t>
            </a:r>
            <a:r>
              <a:rPr lang="en-US" sz="2900" dirty="0" smtClean="0">
                <a:hlinkClick r:id="rId2"/>
              </a:rPr>
              <a:t>github.com/ethereum/web3.js/blob/0.15.0/lib/utils/utils.js#L40</a:t>
            </a:r>
            <a:r>
              <a:rPr lang="en-US" sz="2000" dirty="0" smtClean="0"/>
              <a:t>)</a:t>
            </a:r>
            <a:endParaRPr lang="en-US" sz="2900" dirty="0" smtClean="0"/>
          </a:p>
          <a:p>
            <a:endParaRPr lang="en-US" sz="2900" dirty="0" smtClean="0"/>
          </a:p>
          <a:p>
            <a:r>
              <a:rPr lang="en-US" sz="2900" dirty="0" smtClean="0"/>
              <a:t>It’s </a:t>
            </a:r>
            <a:r>
              <a:rPr lang="en-US" sz="2900" dirty="0" smtClean="0"/>
              <a:t>probably better to stick to those above.</a:t>
            </a:r>
            <a:endParaRPr lang="en-US" sz="2900" dirty="0"/>
          </a:p>
          <a:p>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EthUnitsExpanded.JPG"/>
          <p:cNvPicPr>
            <a:picLocks noGrp="1" noChangeAspect="1"/>
          </p:cNvPicPr>
          <p:nvPr>
            <p:ph idx="1"/>
          </p:nvPr>
        </p:nvPicPr>
        <p:blipFill>
          <a:blip r:embed="rId2" cstate="print"/>
          <a:stretch>
            <a:fillRect/>
          </a:stretch>
        </p:blipFill>
        <p:spPr>
          <a:xfrm>
            <a:off x="762000" y="533400"/>
            <a:ext cx="5568019" cy="6019800"/>
          </a:xfr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Units</a:t>
            </a:r>
            <a:endParaRPr lang="en-US" dirty="0"/>
          </a:p>
        </p:txBody>
      </p:sp>
      <p:sp>
        <p:nvSpPr>
          <p:cNvPr id="3" name="Content Placeholder 2"/>
          <p:cNvSpPr>
            <a:spLocks noGrp="1"/>
          </p:cNvSpPr>
          <p:nvPr>
            <p:ph idx="1"/>
          </p:nvPr>
        </p:nvSpPr>
        <p:spPr>
          <a:xfrm>
            <a:off x="457200" y="1600201"/>
            <a:ext cx="8229600" cy="3886200"/>
          </a:xfrm>
        </p:spPr>
        <p:txBody>
          <a:bodyPr>
            <a:normAutofit fontScale="70000" lnSpcReduction="20000"/>
          </a:bodyPr>
          <a:lstStyle/>
          <a:p>
            <a:pPr>
              <a:buNone/>
            </a:pPr>
            <a:r>
              <a:rPr lang="en-US" sz="2900" b="1" dirty="0" smtClean="0"/>
              <a:t>Time </a:t>
            </a:r>
            <a:r>
              <a:rPr lang="en-US" sz="2900" b="1" dirty="0"/>
              <a:t>Units</a:t>
            </a:r>
          </a:p>
          <a:p>
            <a:r>
              <a:rPr lang="en-US" sz="2900" dirty="0"/>
              <a:t>Suffixes like seconds, minutes, hours, days, weeks and years after literal numbers can be used to convert between units of time where seconds are the base unit and units are considered naively in the following way:</a:t>
            </a:r>
          </a:p>
          <a:p>
            <a:r>
              <a:rPr lang="en-US" sz="2900" dirty="0"/>
              <a:t>1 == 1 seconds</a:t>
            </a:r>
          </a:p>
          <a:p>
            <a:r>
              <a:rPr lang="en-US" sz="2900" dirty="0"/>
              <a:t>1 minutes == 60 seconds</a:t>
            </a:r>
          </a:p>
          <a:p>
            <a:r>
              <a:rPr lang="en-US" sz="2900" dirty="0"/>
              <a:t>1 hours == 60 minutes</a:t>
            </a:r>
          </a:p>
          <a:p>
            <a:r>
              <a:rPr lang="en-US" sz="2900" dirty="0"/>
              <a:t>1 days == 24 hours</a:t>
            </a:r>
          </a:p>
          <a:p>
            <a:r>
              <a:rPr lang="en-US" sz="2900" dirty="0"/>
              <a:t>1 weeks == 7 days</a:t>
            </a:r>
          </a:p>
          <a:p>
            <a:r>
              <a:rPr lang="en-US" sz="2900" dirty="0"/>
              <a:t>1 years == 365 days</a:t>
            </a:r>
          </a:p>
          <a:p>
            <a:endParaRPr lang="en-US" dirty="0" smtClean="0"/>
          </a:p>
          <a:p>
            <a:pPr>
              <a:buNone/>
            </a:pP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Visibility</a:t>
            </a:r>
            <a:endParaRPr lang="en-US" dirty="0"/>
          </a:p>
        </p:txBody>
      </p:sp>
      <p:sp>
        <p:nvSpPr>
          <p:cNvPr id="3" name="Content Placeholder 2"/>
          <p:cNvSpPr>
            <a:spLocks noGrp="1"/>
          </p:cNvSpPr>
          <p:nvPr>
            <p:ph idx="1"/>
          </p:nvPr>
        </p:nvSpPr>
        <p:spPr/>
        <p:txBody>
          <a:bodyPr>
            <a:noAutofit/>
          </a:bodyPr>
          <a:lstStyle/>
          <a:p>
            <a:r>
              <a:rPr lang="en-US" sz="2000" dirty="0" smtClean="0"/>
              <a:t>Solidity has </a:t>
            </a:r>
            <a:r>
              <a:rPr lang="en-US" sz="2000" dirty="0"/>
              <a:t>two kinds of function </a:t>
            </a:r>
            <a:r>
              <a:rPr lang="en-US" sz="2000" dirty="0" smtClean="0"/>
              <a:t>calls; internal </a:t>
            </a:r>
            <a:r>
              <a:rPr lang="en-US" sz="2000" dirty="0"/>
              <a:t>ones that do not create an actual EVM call (also called a “message call”) and external ones that </a:t>
            </a:r>
            <a:r>
              <a:rPr lang="en-US" sz="2000" dirty="0" smtClean="0"/>
              <a:t>do.</a:t>
            </a:r>
          </a:p>
          <a:p>
            <a:r>
              <a:rPr lang="en-US" sz="2000" dirty="0" smtClean="0"/>
              <a:t>Accordingly, </a:t>
            </a:r>
            <a:r>
              <a:rPr lang="en-US" sz="2000" dirty="0"/>
              <a:t>there are four types of visibilities for functions and state variables</a:t>
            </a:r>
            <a:r>
              <a:rPr lang="en-US" sz="2000" dirty="0" smtClean="0"/>
              <a:t>.</a:t>
            </a:r>
          </a:p>
          <a:p>
            <a:endParaRPr lang="en-US" sz="2000" dirty="0"/>
          </a:p>
          <a:p>
            <a:r>
              <a:rPr lang="en-US" sz="2000" dirty="0"/>
              <a:t>Functions can be specified as being external, public, internal or private, where the default </a:t>
            </a:r>
            <a:r>
              <a:rPr lang="en-US" sz="2000" dirty="0" smtClean="0"/>
              <a:t>is public</a:t>
            </a:r>
            <a:r>
              <a:rPr lang="en-US" sz="2000" dirty="0"/>
              <a:t>. </a:t>
            </a:r>
            <a:endParaRPr lang="en-US" sz="2000" dirty="0" smtClean="0"/>
          </a:p>
          <a:p>
            <a:r>
              <a:rPr lang="en-US" sz="2000" dirty="0" smtClean="0"/>
              <a:t>For </a:t>
            </a:r>
            <a:r>
              <a:rPr lang="en-US" sz="2000" dirty="0"/>
              <a:t>state variables, external is not possible and the default is internal</a:t>
            </a:r>
            <a:r>
              <a:rPr lang="en-US" sz="2000" dirty="0" smtClean="0"/>
              <a:t>.</a:t>
            </a:r>
          </a:p>
          <a:p>
            <a:endParaRPr lang="en-US" sz="2000" dirty="0"/>
          </a:p>
          <a:p>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Visibility</a:t>
            </a:r>
            <a:endParaRPr lang="en-US" dirty="0"/>
          </a:p>
        </p:txBody>
      </p:sp>
      <p:sp>
        <p:nvSpPr>
          <p:cNvPr id="3" name="Content Placeholder 2"/>
          <p:cNvSpPr>
            <a:spLocks noGrp="1"/>
          </p:cNvSpPr>
          <p:nvPr>
            <p:ph idx="1"/>
          </p:nvPr>
        </p:nvSpPr>
        <p:spPr>
          <a:xfrm>
            <a:off x="457200" y="1600200"/>
            <a:ext cx="8229600" cy="4876800"/>
          </a:xfrm>
        </p:spPr>
        <p:txBody>
          <a:bodyPr>
            <a:normAutofit fontScale="47500" lnSpcReduction="20000"/>
          </a:bodyPr>
          <a:lstStyle/>
          <a:p>
            <a:r>
              <a:rPr lang="en-US" sz="4200" b="1" dirty="0" smtClean="0"/>
              <a:t>external</a:t>
            </a:r>
            <a:r>
              <a:rPr lang="en-US" sz="4200" dirty="0" smtClean="0"/>
              <a:t> functions are part of the contract interface, which means they can be called from other contracts and via transactions. </a:t>
            </a:r>
          </a:p>
          <a:p>
            <a:r>
              <a:rPr lang="en-US" sz="4200" dirty="0" smtClean="0"/>
              <a:t>An external function f cannot be called internally (e.g. f() does not work, but </a:t>
            </a:r>
            <a:r>
              <a:rPr lang="en-US" sz="4200" dirty="0" err="1" smtClean="0"/>
              <a:t>this.f</a:t>
            </a:r>
            <a:r>
              <a:rPr lang="en-US" sz="4200" dirty="0" smtClean="0"/>
              <a:t>() works). External functions are sometimes more efficient when they receive large arrays of data.</a:t>
            </a:r>
          </a:p>
          <a:p>
            <a:endParaRPr lang="en-US" sz="4200" dirty="0" smtClean="0"/>
          </a:p>
          <a:p>
            <a:r>
              <a:rPr lang="en-US" sz="4200" b="1" dirty="0" smtClean="0"/>
              <a:t>public</a:t>
            </a:r>
            <a:r>
              <a:rPr lang="en-US" sz="4200" dirty="0" smtClean="0"/>
              <a:t> functions are part of the contract interface and can be either called internally or via messages. For public state variables, an automatic getter function is generated.</a:t>
            </a:r>
          </a:p>
          <a:p>
            <a:endParaRPr lang="en-US" sz="4200" dirty="0" smtClean="0"/>
          </a:p>
          <a:p>
            <a:r>
              <a:rPr lang="en-US" sz="4200" b="1" dirty="0" smtClean="0"/>
              <a:t>internal</a:t>
            </a:r>
            <a:r>
              <a:rPr lang="en-US" sz="4200" dirty="0" smtClean="0"/>
              <a:t> functions and state variables can only be accessed internally (i.e. from within the current contract or contracts deriving from it), without using this.</a:t>
            </a:r>
          </a:p>
          <a:p>
            <a:endParaRPr lang="en-US" sz="4200" dirty="0" smtClean="0"/>
          </a:p>
          <a:p>
            <a:r>
              <a:rPr lang="en-US" sz="4200" b="1" dirty="0" smtClean="0"/>
              <a:t>private</a:t>
            </a:r>
            <a:r>
              <a:rPr lang="en-US" sz="4200" dirty="0" smtClean="0"/>
              <a:t> functions and state variables are only visible for the contract they are defined in and not in derived contracts.</a:t>
            </a:r>
            <a:endParaRPr lang="en-US" sz="4200" b="1" dirty="0"/>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Visibility</a:t>
            </a:r>
            <a:endParaRPr lang="en-US" dirty="0"/>
          </a:p>
        </p:txBody>
      </p:sp>
      <p:sp>
        <p:nvSpPr>
          <p:cNvPr id="3" name="Content Placeholder 2"/>
          <p:cNvSpPr>
            <a:spLocks noGrp="1"/>
          </p:cNvSpPr>
          <p:nvPr>
            <p:ph idx="1"/>
          </p:nvPr>
        </p:nvSpPr>
        <p:spPr/>
        <p:txBody>
          <a:bodyPr>
            <a:normAutofit fontScale="55000" lnSpcReduction="20000"/>
          </a:bodyPr>
          <a:lstStyle/>
          <a:p>
            <a:r>
              <a:rPr lang="en-US" sz="3300" dirty="0" smtClean="0"/>
              <a:t>Everything </a:t>
            </a:r>
            <a:r>
              <a:rPr lang="en-US" sz="3300" dirty="0"/>
              <a:t>that is inside a contract is visible to all external observers. Making something private only prevents other contracts from accessing and modifying the information, but it will still be visible to the whole world outside of the blockchain</a:t>
            </a:r>
            <a:r>
              <a:rPr lang="en-US" sz="3300" dirty="0" smtClean="0"/>
              <a:t>.</a:t>
            </a:r>
          </a:p>
          <a:p>
            <a:endParaRPr lang="en-US" sz="3300" dirty="0"/>
          </a:p>
          <a:p>
            <a:r>
              <a:rPr lang="en-US" sz="3300" dirty="0"/>
              <a:t>The visibility </a:t>
            </a:r>
            <a:r>
              <a:rPr lang="en-US" sz="3300" dirty="0" err="1"/>
              <a:t>specifier</a:t>
            </a:r>
            <a:r>
              <a:rPr lang="en-US" sz="3300" dirty="0"/>
              <a:t> is given after the type for state variables and between parameter list and return parameter list for functions</a:t>
            </a:r>
            <a:r>
              <a:rPr lang="en-US" sz="3300" dirty="0" smtClean="0"/>
              <a:t>.</a:t>
            </a:r>
          </a:p>
          <a:p>
            <a:endParaRPr lang="en-US" dirty="0"/>
          </a:p>
          <a:p>
            <a:endParaRPr lang="en-US" dirty="0" smtClean="0"/>
          </a:p>
          <a:p>
            <a:endParaRPr lang="en-US" dirty="0"/>
          </a:p>
          <a:p>
            <a:endParaRPr lang="en-US" dirty="0" smtClean="0"/>
          </a:p>
          <a:p>
            <a:endParaRPr lang="en-US" dirty="0"/>
          </a:p>
          <a:p>
            <a:pPr>
              <a:buNone/>
            </a:pPr>
            <a:endParaRPr lang="en-US" dirty="0" smtClean="0"/>
          </a:p>
          <a:p>
            <a:pPr>
              <a:buNone/>
            </a:pPr>
            <a:endParaRPr lang="en-US" dirty="0"/>
          </a:p>
          <a:p>
            <a:pPr>
              <a:buNone/>
            </a:pPr>
            <a:endParaRPr lang="en-US" dirty="0" smtClean="0"/>
          </a:p>
          <a:p>
            <a:pPr>
              <a:buNone/>
            </a:pPr>
            <a:r>
              <a:rPr lang="en-US" dirty="0"/>
              <a:t> </a:t>
            </a:r>
            <a:r>
              <a:rPr lang="en-US" dirty="0" smtClean="0"/>
              <a:t> </a:t>
            </a:r>
          </a:p>
          <a:p>
            <a:endParaRPr lang="en-US" dirty="0"/>
          </a:p>
          <a:p>
            <a:endParaRPr lang="en-US" dirty="0" smtClean="0"/>
          </a:p>
          <a:p>
            <a:endParaRPr lang="en-US" dirty="0" smtClean="0"/>
          </a:p>
          <a:p>
            <a:endParaRPr lang="en-US" dirty="0" smtClean="0"/>
          </a:p>
          <a:p>
            <a:endParaRPr lang="en-US" dirty="0"/>
          </a:p>
          <a:p>
            <a:endParaRPr lang="en-US" dirty="0" smtClean="0"/>
          </a:p>
          <a:p>
            <a:endParaRPr lang="en-US" dirty="0"/>
          </a:p>
        </p:txBody>
      </p:sp>
      <p:pic>
        <p:nvPicPr>
          <p:cNvPr id="4" name="Picture 3" descr="Modifiers.JPG"/>
          <p:cNvPicPr>
            <a:picLocks noChangeAspect="1"/>
          </p:cNvPicPr>
          <p:nvPr/>
        </p:nvPicPr>
        <p:blipFill>
          <a:blip r:embed="rId2" cstate="print"/>
          <a:stretch>
            <a:fillRect/>
          </a:stretch>
        </p:blipFill>
        <p:spPr>
          <a:xfrm>
            <a:off x="609600" y="3276600"/>
            <a:ext cx="8534400" cy="2819400"/>
          </a:xfrm>
          <a:prstGeom prst="rect">
            <a:avLst/>
          </a:prstGeom>
        </p:spPr>
      </p:pic>
      <p:sp>
        <p:nvSpPr>
          <p:cNvPr id="5" name="TextBox 4"/>
          <p:cNvSpPr txBox="1"/>
          <p:nvPr/>
        </p:nvSpPr>
        <p:spPr>
          <a:xfrm>
            <a:off x="838200" y="6248400"/>
            <a:ext cx="7586949" cy="369332"/>
          </a:xfrm>
          <a:prstGeom prst="rect">
            <a:avLst/>
          </a:prstGeom>
          <a:noFill/>
        </p:spPr>
        <p:txBody>
          <a:bodyPr wrap="none" rtlCol="0">
            <a:spAutoFit/>
          </a:bodyPr>
          <a:lstStyle/>
          <a:p>
            <a:r>
              <a:rPr lang="en-US" dirty="0" smtClean="0">
                <a:hlinkClick r:id="rId3"/>
              </a:rPr>
              <a:t>https://solidity.readthedocs.io/en/v0.4.24/contracts.html#visibility-and-getters</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a:t>
            </a:r>
            <a:endParaRPr lang="en-US" dirty="0"/>
          </a:p>
        </p:txBody>
      </p:sp>
      <p:sp>
        <p:nvSpPr>
          <p:cNvPr id="3" name="Content Placeholder 2"/>
          <p:cNvSpPr>
            <a:spLocks noGrp="1"/>
          </p:cNvSpPr>
          <p:nvPr>
            <p:ph idx="1"/>
          </p:nvPr>
        </p:nvSpPr>
        <p:spPr/>
        <p:txBody>
          <a:bodyPr>
            <a:normAutofit/>
          </a:bodyPr>
          <a:lstStyle/>
          <a:p>
            <a:r>
              <a:rPr lang="en-US" sz="2000" dirty="0" smtClean="0"/>
              <a:t>Solidity and the Ethereum Virtual Machine are deep and well-documented topics.</a:t>
            </a:r>
          </a:p>
          <a:p>
            <a:r>
              <a:rPr lang="en-US" sz="2000" dirty="0" smtClean="0"/>
              <a:t>The page at </a:t>
            </a:r>
            <a:r>
              <a:rPr lang="en-US" sz="2000" dirty="0" smtClean="0">
                <a:hlinkClick r:id="rId2"/>
              </a:rPr>
              <a:t>https://solidity.readthedocs.io/en/latest</a:t>
            </a:r>
            <a:r>
              <a:rPr lang="en-US" sz="2000" dirty="0" smtClean="0">
                <a:hlinkClick r:id="rId2"/>
              </a:rPr>
              <a:t>/</a:t>
            </a:r>
            <a:r>
              <a:rPr lang="en-US" sz="2000" dirty="0" smtClean="0"/>
              <a:t> includes a table of contents in the left panel that includes links such as Solidity by Example and Solidity in Depth</a:t>
            </a:r>
          </a:p>
          <a:p>
            <a:endParaRPr lang="en-US" sz="2000" dirty="0" smtClean="0"/>
          </a:p>
          <a:p>
            <a:r>
              <a:rPr lang="en-US" sz="2000" dirty="0" smtClean="0"/>
              <a:t>Since contracts are immutable on the blockchain, the concept of upgrading contracts is not straightforward.  Some information can be found on the following links (and there are many more)</a:t>
            </a:r>
          </a:p>
          <a:p>
            <a:r>
              <a:rPr lang="en-US" sz="2000" dirty="0" smtClean="0">
                <a:hlinkClick r:id="rId3"/>
              </a:rPr>
              <a:t>https://blog.trailofbits.com/2018/09/05/contract-upgrade-anti-patterns/ </a:t>
            </a:r>
            <a:endParaRPr lang="en-US" sz="2000" dirty="0" smtClean="0"/>
          </a:p>
          <a:p>
            <a:r>
              <a:rPr lang="en-US" sz="2000" dirty="0" smtClean="0">
                <a:hlinkClick r:id="rId4"/>
              </a:rPr>
              <a:t>https</a:t>
            </a:r>
            <a:r>
              <a:rPr lang="en-US" sz="2000" dirty="0" smtClean="0">
                <a:hlinkClick r:id="rId4"/>
              </a:rPr>
              <a:t>://yos.io/2018/10/28/upgrading-solidity-smart-contracts/</a:t>
            </a:r>
            <a:endParaRPr lang="en-US" sz="2000" dirty="0" smtClean="0">
              <a:hlinkClick r:id="rId3"/>
            </a:endParaRPr>
          </a:p>
          <a:p>
            <a:r>
              <a:rPr lang="en-US" sz="2000" dirty="0" smtClean="0">
                <a:hlinkClick r:id="rId5"/>
              </a:rPr>
              <a:t>https://medium.com/quillhash/how-to-write-upgradable-smart-contracts-in-solidity-d8f1b95a0e9a</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14139</TotalTime>
  <Words>1631</Words>
  <Application>Microsoft Office PowerPoint</Application>
  <PresentationFormat>On-screen Show (4:3)</PresentationFormat>
  <Paragraphs>498</Paragraphs>
  <Slides>50</Slides>
  <Notes>0</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Solidity</vt:lpstr>
      <vt:lpstr>Solidity</vt:lpstr>
      <vt:lpstr>Solidity</vt:lpstr>
      <vt:lpstr>Version</vt:lpstr>
      <vt:lpstr>Version</vt:lpstr>
      <vt:lpstr>Version Ranges</vt:lpstr>
      <vt:lpstr>Comments</vt:lpstr>
      <vt:lpstr>Contracts</vt:lpstr>
      <vt:lpstr>Contracts</vt:lpstr>
      <vt:lpstr>Constructors</vt:lpstr>
      <vt:lpstr>Base Constructors</vt:lpstr>
      <vt:lpstr>Control Statements</vt:lpstr>
      <vt:lpstr>State Variables</vt:lpstr>
      <vt:lpstr>Types</vt:lpstr>
      <vt:lpstr>Value Types: Booleans</vt:lpstr>
      <vt:lpstr>Value Types: Integers</vt:lpstr>
      <vt:lpstr>Integer Arithmetic</vt:lpstr>
      <vt:lpstr>Integer Arithmetic</vt:lpstr>
      <vt:lpstr>Shorthand Operators</vt:lpstr>
      <vt:lpstr>Operators Order of Precedence</vt:lpstr>
      <vt:lpstr>Value Types: Fixed/Decimal</vt:lpstr>
      <vt:lpstr>Value Types: Address</vt:lpstr>
      <vt:lpstr>Fixed Size Byte Strings</vt:lpstr>
      <vt:lpstr>Dynamic Sized Strings</vt:lpstr>
      <vt:lpstr>Strings</vt:lpstr>
      <vt:lpstr>Hexadecimals</vt:lpstr>
      <vt:lpstr>Enums</vt:lpstr>
      <vt:lpstr>Slide 28</vt:lpstr>
      <vt:lpstr>Functions</vt:lpstr>
      <vt:lpstr>Modifiers</vt:lpstr>
      <vt:lpstr>Function Modifiers</vt:lpstr>
      <vt:lpstr>Input and Output Parameters</vt:lpstr>
      <vt:lpstr>Memory vs Storage</vt:lpstr>
      <vt:lpstr>Reference Types</vt:lpstr>
      <vt:lpstr>Arrays</vt:lpstr>
      <vt:lpstr>Arrays</vt:lpstr>
      <vt:lpstr>Structs</vt:lpstr>
      <vt:lpstr>Mappings</vt:lpstr>
      <vt:lpstr>Slide 39</vt:lpstr>
      <vt:lpstr>Slide 40</vt:lpstr>
      <vt:lpstr>Initialize Values</vt:lpstr>
      <vt:lpstr>Type Conversion</vt:lpstr>
      <vt:lpstr>Implicit Type Specification</vt:lpstr>
      <vt:lpstr>Units</vt:lpstr>
      <vt:lpstr>Slide 45</vt:lpstr>
      <vt:lpstr>Units</vt:lpstr>
      <vt:lpstr>Visibility</vt:lpstr>
      <vt:lpstr>Visibility</vt:lpstr>
      <vt:lpstr>Visibility</vt:lpstr>
      <vt:lpstr>More</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Solidity</dc:title>
  <dc:creator>BP - FL</dc:creator>
  <cp:lastModifiedBy>BP - FL</cp:lastModifiedBy>
  <cp:revision>57</cp:revision>
  <dcterms:created xsi:type="dcterms:W3CDTF">2018-03-20T16:48:50Z</dcterms:created>
  <dcterms:modified xsi:type="dcterms:W3CDTF">2019-05-19T14:34:52Z</dcterms:modified>
</cp:coreProperties>
</file>