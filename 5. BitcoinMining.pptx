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93" r:id="rId4"/>
    <p:sldId id="264" r:id="rId5"/>
    <p:sldId id="294" r:id="rId6"/>
    <p:sldId id="265" r:id="rId7"/>
    <p:sldId id="295" r:id="rId8"/>
    <p:sldId id="284" r:id="rId9"/>
    <p:sldId id="266" r:id="rId10"/>
    <p:sldId id="267" r:id="rId11"/>
    <p:sldId id="296" r:id="rId12"/>
    <p:sldId id="285" r:id="rId13"/>
    <p:sldId id="263" r:id="rId14"/>
    <p:sldId id="261" r:id="rId15"/>
    <p:sldId id="289" r:id="rId16"/>
    <p:sldId id="299" r:id="rId17"/>
    <p:sldId id="297" r:id="rId18"/>
    <p:sldId id="270" r:id="rId19"/>
    <p:sldId id="259" r:id="rId20"/>
    <p:sldId id="298" r:id="rId21"/>
    <p:sldId id="262" r:id="rId22"/>
    <p:sldId id="282" r:id="rId23"/>
    <p:sldId id="268" r:id="rId24"/>
    <p:sldId id="277" r:id="rId25"/>
    <p:sldId id="279" r:id="rId26"/>
    <p:sldId id="280"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96" autoAdjust="0"/>
    <p:restoredTop sz="94638" autoAdjust="0"/>
  </p:normalViewPr>
  <p:slideViewPr>
    <p:cSldViewPr>
      <p:cViewPr varScale="1">
        <p:scale>
          <a:sx n="86" d="100"/>
          <a:sy n="86" d="100"/>
        </p:scale>
        <p:origin x="-1500"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FA6A59-1C0B-4AE2-894F-F9DFAE6507A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FA6A59-1C0B-4AE2-894F-F9DFAE6507A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FA6A59-1C0B-4AE2-894F-F9DFAE6507A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3FA6A59-1C0B-4AE2-894F-F9DFAE6507A9}"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3FA6A59-1C0B-4AE2-894F-F9DFAE6507A9}" type="datetimeFigureOut">
              <a:rPr lang="en-US" smtClean="0"/>
              <a:pPr/>
              <a:t>5/19/2019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3FA6A59-1C0B-4AE2-894F-F9DFAE6507A9}" type="datetimeFigureOut">
              <a:rPr lang="en-US" smtClean="0"/>
              <a:pPr/>
              <a:t>5/19/2019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FA6A59-1C0B-4AE2-894F-F9DFAE6507A9}" type="datetimeFigureOut">
              <a:rPr lang="en-US" smtClean="0"/>
              <a:pPr/>
              <a:t>5/19/2019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FA6A59-1C0B-4AE2-894F-F9DFAE6507A9}"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FA6A59-1C0B-4AE2-894F-F9DFAE6507A9}"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FA6A59-1C0B-4AE2-894F-F9DFAE6507A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FA6A59-1C0B-4AE2-894F-F9DFAE6507A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FA6A59-1C0B-4AE2-894F-F9DFAE6507A9}" type="datetimeFigureOut">
              <a:rPr lang="en-US" smtClean="0"/>
              <a:pPr/>
              <a:t>5/19/2019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D5AC5B-A9AA-429E-9090-03C750E0FF4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bitcoinwisdom.com/bitcoin/difficulty" TargetMode="External"/><Relationship Id="rId2" Type="http://schemas.openxmlformats.org/officeDocument/2006/relationships/hyperlink" Target="https://blockchain.info/charts/hash-rat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canaan.io/product/avalonminer-821/" TargetMode="External"/><Relationship Id="rId2" Type="http://schemas.openxmlformats.org/officeDocument/2006/relationships/hyperlink" Target="https://en.bitcoin.it/wiki/Mining_hardware_comparison" TargetMode="External"/><Relationship Id="rId1" Type="http://schemas.openxmlformats.org/officeDocument/2006/relationships/slideLayout" Target="../slideLayouts/slideLayout2.xml"/><Relationship Id="rId5" Type="http://schemas.openxmlformats.org/officeDocument/2006/relationships/hyperlink" Target="http://miner.ebang.com.cn/" TargetMode="External"/><Relationship Id="rId4" Type="http://schemas.openxmlformats.org/officeDocument/2006/relationships/hyperlink" Target="https://canaan.io/sho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chetminingco.co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genesis-mining.com/" TargetMode="External"/><Relationship Id="rId2" Type="http://schemas.openxmlformats.org/officeDocument/2006/relationships/hyperlink" Target="https://www.buybitcoinworldwide.com/mining/cloud-minin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cnbc.com/2018/02/23/secretive-chinese-bitcoin-mining-company-may-have-made-as-much-money-as-nvidia-last-year.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qz.com/1204840/iceland-will-use-more-electricity-mining-bitcoins-than-powering-home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digiconomist.net/bitcoin-energy-consumption"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Bitcoin</a:t>
            </a:r>
            <a:r>
              <a:rPr lang="en-US" dirty="0" smtClean="0"/>
              <a:t> </a:t>
            </a:r>
            <a:r>
              <a:rPr lang="en-US" dirty="0" smtClean="0"/>
              <a:t>Mining</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sp>
        <p:nvSpPr>
          <p:cNvPr id="4" name="Subtitle 2"/>
          <p:cNvSpPr txBox="1">
            <a:spLocks/>
          </p:cNvSpPr>
          <p:nvPr/>
        </p:nvSpPr>
        <p:spPr>
          <a:xfrm>
            <a:off x="1524000" y="4038600"/>
            <a:ext cx="6400800" cy="17526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Bernard Parenteau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bparente@fit.edu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January 2019</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Mining</a:t>
            </a:r>
            <a:endParaRPr lang="en-US" dirty="0"/>
          </a:p>
        </p:txBody>
      </p:sp>
      <p:sp>
        <p:nvSpPr>
          <p:cNvPr id="3" name="Content Placeholder 2"/>
          <p:cNvSpPr>
            <a:spLocks noGrp="1"/>
          </p:cNvSpPr>
          <p:nvPr>
            <p:ph idx="1"/>
          </p:nvPr>
        </p:nvSpPr>
        <p:spPr/>
        <p:txBody>
          <a:bodyPr>
            <a:normAutofit/>
          </a:bodyPr>
          <a:lstStyle/>
          <a:p>
            <a:r>
              <a:rPr lang="en-US" sz="2000" dirty="0" smtClean="0"/>
              <a:t>After </a:t>
            </a:r>
            <a:r>
              <a:rPr lang="en-US" sz="2000" dirty="0"/>
              <a:t>validating transactions, </a:t>
            </a:r>
            <a:r>
              <a:rPr lang="en-US" sz="2000" dirty="0" smtClean="0"/>
              <a:t>bitcoin nodes add them to the transaction pool (“</a:t>
            </a:r>
            <a:r>
              <a:rPr lang="en-US" sz="2000" dirty="0" err="1" smtClean="0"/>
              <a:t>mempool</a:t>
            </a:r>
            <a:r>
              <a:rPr lang="en-US" sz="2000" dirty="0" smtClean="0"/>
              <a:t>”) of transactions waiting to be mined into a new block. </a:t>
            </a:r>
          </a:p>
          <a:p>
            <a:endParaRPr lang="en-US" sz="2000" dirty="0" smtClean="0"/>
          </a:p>
          <a:p>
            <a:r>
              <a:rPr lang="en-US" sz="2000" dirty="0" smtClean="0"/>
              <a:t>A mining </a:t>
            </a:r>
            <a:r>
              <a:rPr lang="en-US" sz="2000" dirty="0"/>
              <a:t>node collects, validates and relays new transactions just like any other node</a:t>
            </a:r>
            <a:r>
              <a:rPr lang="en-US" sz="2000" dirty="0" smtClean="0"/>
              <a:t>. </a:t>
            </a:r>
          </a:p>
          <a:p>
            <a:endParaRPr lang="en-US" sz="2000" dirty="0" smtClean="0"/>
          </a:p>
          <a:p>
            <a:r>
              <a:rPr lang="en-US" sz="2000" dirty="0" smtClean="0"/>
              <a:t>In addition, </a:t>
            </a:r>
            <a:r>
              <a:rPr lang="en-US" sz="2000" dirty="0"/>
              <a:t>a</a:t>
            </a:r>
            <a:r>
              <a:rPr lang="en-US" sz="2000" dirty="0" smtClean="0"/>
              <a:t> mining </a:t>
            </a:r>
            <a:r>
              <a:rPr lang="en-US" sz="2000" dirty="0"/>
              <a:t>node will then aggregate these transactions into </a:t>
            </a:r>
            <a:r>
              <a:rPr lang="en-US" sz="2000" dirty="0" smtClean="0"/>
              <a:t>a temporary candidate </a:t>
            </a:r>
            <a:r>
              <a:rPr lang="en-US" sz="2000" dirty="0"/>
              <a:t>block</a:t>
            </a:r>
            <a:r>
              <a:rPr lang="en-US" sz="2000" dirty="0" smtClean="0"/>
              <a:t>.</a:t>
            </a:r>
          </a:p>
          <a:p>
            <a:endParaRPr lang="en-US" sz="2000" dirty="0" smtClean="0"/>
          </a:p>
          <a:p>
            <a:r>
              <a:rPr lang="en-US" sz="2000" dirty="0" smtClean="0"/>
              <a:t>To build its candidate </a:t>
            </a:r>
            <a:r>
              <a:rPr lang="en-US" sz="2000" dirty="0"/>
              <a:t>block </a:t>
            </a:r>
            <a:r>
              <a:rPr lang="en-US" sz="2000" dirty="0" smtClean="0"/>
              <a:t>a mining node </a:t>
            </a:r>
            <a:r>
              <a:rPr lang="en-US" sz="2000" dirty="0"/>
              <a:t>selects transactions from the </a:t>
            </a:r>
            <a:r>
              <a:rPr lang="en-US" sz="2000" dirty="0" smtClean="0"/>
              <a:t>memory pool </a:t>
            </a:r>
            <a:r>
              <a:rPr lang="en-US" sz="2000" dirty="0"/>
              <a:t>by </a:t>
            </a:r>
            <a:r>
              <a:rPr lang="en-US" sz="2000" dirty="0" smtClean="0"/>
              <a:t>calculating a priority and </a:t>
            </a:r>
            <a:r>
              <a:rPr lang="en-US" sz="2000" dirty="0"/>
              <a:t>adding the highest </a:t>
            </a:r>
            <a:r>
              <a:rPr lang="en-US" sz="2000" dirty="0" smtClean="0"/>
              <a:t>priority transactions </a:t>
            </a:r>
            <a:r>
              <a:rPr lang="en-US" sz="2000" dirty="0"/>
              <a:t>first. </a:t>
            </a:r>
            <a:endParaRPr lang="en-US" sz="2000" dirty="0" smtClean="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Mining</a:t>
            </a:r>
            <a:endParaRPr lang="en-US" dirty="0"/>
          </a:p>
        </p:txBody>
      </p:sp>
      <p:sp>
        <p:nvSpPr>
          <p:cNvPr id="3" name="Content Placeholder 2"/>
          <p:cNvSpPr>
            <a:spLocks noGrp="1"/>
          </p:cNvSpPr>
          <p:nvPr>
            <p:ph idx="1"/>
          </p:nvPr>
        </p:nvSpPr>
        <p:spPr/>
        <p:txBody>
          <a:bodyPr>
            <a:normAutofit/>
          </a:bodyPr>
          <a:lstStyle/>
          <a:p>
            <a:r>
              <a:rPr lang="en-US" sz="2000" dirty="0" smtClean="0"/>
              <a:t>Transactions </a:t>
            </a:r>
            <a:r>
              <a:rPr lang="en-US" sz="2000" dirty="0"/>
              <a:t>are prioritized based on </a:t>
            </a:r>
            <a:r>
              <a:rPr lang="en-US" sz="2000" dirty="0" smtClean="0"/>
              <a:t>the value and age </a:t>
            </a:r>
            <a:r>
              <a:rPr lang="en-US" sz="2000" dirty="0"/>
              <a:t>of the </a:t>
            </a:r>
            <a:r>
              <a:rPr lang="en-US" sz="2000" dirty="0" smtClean="0"/>
              <a:t>UTXOs that are </a:t>
            </a:r>
            <a:r>
              <a:rPr lang="en-US" sz="2000" dirty="0"/>
              <a:t>being </a:t>
            </a:r>
            <a:r>
              <a:rPr lang="en-US" sz="2000" dirty="0" smtClean="0"/>
              <a:t>spent. </a:t>
            </a:r>
          </a:p>
          <a:p>
            <a:endParaRPr lang="en-US" sz="2000" dirty="0" smtClean="0"/>
          </a:p>
          <a:p>
            <a:r>
              <a:rPr lang="en-US" sz="2000" dirty="0" smtClean="0"/>
              <a:t>The first 50 kilobytes of transaction space in a block are set aside for high priority transactions.</a:t>
            </a:r>
          </a:p>
          <a:p>
            <a:endParaRPr lang="en-US" sz="2000" dirty="0" smtClean="0"/>
          </a:p>
          <a:p>
            <a:r>
              <a:rPr lang="en-US" sz="2000" dirty="0" smtClean="0"/>
              <a:t>A mining node will fill the first 50 kilobytes, prioritizing the highest priority transactions first, regardless of fee. </a:t>
            </a:r>
          </a:p>
          <a:p>
            <a:endParaRPr lang="en-US" dirty="0" smtClean="0"/>
          </a:p>
          <a:p>
            <a:endParaRPr lang="en-US" dirty="0" smtClean="0"/>
          </a:p>
          <a:p>
            <a:endParaRPr lang="en-US" dirty="0"/>
          </a:p>
        </p:txBody>
      </p:sp>
      <p:sp>
        <p:nvSpPr>
          <p:cNvPr id="4" name="TextBox 3"/>
          <p:cNvSpPr txBox="1"/>
          <p:nvPr/>
        </p:nvSpPr>
        <p:spPr>
          <a:xfrm>
            <a:off x="609600" y="6172200"/>
            <a:ext cx="3264292" cy="369332"/>
          </a:xfrm>
          <a:prstGeom prst="rect">
            <a:avLst/>
          </a:prstGeom>
          <a:noFill/>
        </p:spPr>
        <p:txBody>
          <a:bodyPr wrap="none" rtlCol="0">
            <a:spAutoFit/>
          </a:bodyPr>
          <a:lstStyle/>
          <a:p>
            <a:r>
              <a:rPr lang="en-US" dirty="0" smtClean="0"/>
              <a:t>Mastering Bitcoin, Antonopoulos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Mining</a:t>
            </a:r>
            <a:endParaRPr lang="en-US" dirty="0"/>
          </a:p>
        </p:txBody>
      </p:sp>
      <p:sp>
        <p:nvSpPr>
          <p:cNvPr id="3" name="Content Placeholder 2"/>
          <p:cNvSpPr>
            <a:spLocks noGrp="1"/>
          </p:cNvSpPr>
          <p:nvPr>
            <p:ph idx="1"/>
          </p:nvPr>
        </p:nvSpPr>
        <p:spPr/>
        <p:txBody>
          <a:bodyPr>
            <a:normAutofit/>
          </a:bodyPr>
          <a:lstStyle/>
          <a:p>
            <a:pPr algn="ctr">
              <a:buNone/>
            </a:pPr>
            <a:r>
              <a:rPr lang="en-US" sz="2000" dirty="0"/>
              <a:t>Priority = Sum (Value of input * Input Age) / Transaction Size</a:t>
            </a:r>
          </a:p>
          <a:p>
            <a:pPr>
              <a:buNone/>
            </a:pPr>
            <a:r>
              <a:rPr lang="en-US" sz="2000" i="1" dirty="0" smtClean="0"/>
              <a:t>- Value of </a:t>
            </a:r>
            <a:r>
              <a:rPr lang="en-US" sz="2000" i="1" dirty="0"/>
              <a:t>input </a:t>
            </a:r>
            <a:r>
              <a:rPr lang="en-US" sz="2000" i="1" dirty="0" smtClean="0"/>
              <a:t>is </a:t>
            </a:r>
            <a:r>
              <a:rPr lang="en-US" sz="2000" i="1" dirty="0"/>
              <a:t>in </a:t>
            </a:r>
            <a:r>
              <a:rPr lang="en-US" sz="2000" i="1" dirty="0" err="1" smtClean="0"/>
              <a:t>satoshis</a:t>
            </a:r>
            <a:r>
              <a:rPr lang="en-US" sz="2000" i="1" dirty="0" smtClean="0"/>
              <a:t> (100m per </a:t>
            </a:r>
            <a:r>
              <a:rPr lang="en-US" sz="2000" i="1" dirty="0"/>
              <a:t>bitcoin</a:t>
            </a:r>
            <a:r>
              <a:rPr lang="en-US" sz="2000" i="1" dirty="0" smtClean="0"/>
              <a:t>)</a:t>
            </a:r>
            <a:endParaRPr lang="en-US" sz="2000" i="1" dirty="0"/>
          </a:p>
          <a:p>
            <a:pPr>
              <a:buNone/>
            </a:pPr>
            <a:r>
              <a:rPr lang="en-US" sz="2000" i="1" dirty="0"/>
              <a:t>-</a:t>
            </a:r>
            <a:r>
              <a:rPr lang="en-US" sz="2000" i="1" dirty="0" smtClean="0"/>
              <a:t> Input Age is </a:t>
            </a:r>
            <a:r>
              <a:rPr lang="en-US" sz="2000" i="1" dirty="0"/>
              <a:t>the number of </a:t>
            </a:r>
            <a:r>
              <a:rPr lang="en-US" sz="2000" i="1" dirty="0" smtClean="0"/>
              <a:t>blocks since the input’s UTXO block</a:t>
            </a:r>
          </a:p>
          <a:p>
            <a:pPr>
              <a:buNone/>
            </a:pPr>
            <a:r>
              <a:rPr lang="en-US" sz="2000" i="1" dirty="0"/>
              <a:t>-</a:t>
            </a:r>
            <a:r>
              <a:rPr lang="en-US" sz="2000" i="1" dirty="0" smtClean="0"/>
              <a:t> Transaction Size </a:t>
            </a:r>
            <a:r>
              <a:rPr lang="en-US" sz="2000" i="1" dirty="0"/>
              <a:t>is </a:t>
            </a:r>
            <a:r>
              <a:rPr lang="en-US" sz="2000" i="1" dirty="0" smtClean="0"/>
              <a:t>its size </a:t>
            </a:r>
            <a:r>
              <a:rPr lang="en-US" sz="2000" i="1" dirty="0"/>
              <a:t>in bytes</a:t>
            </a:r>
            <a:r>
              <a:rPr lang="en-US" sz="2000" i="1" dirty="0" smtClean="0"/>
              <a:t>.</a:t>
            </a:r>
          </a:p>
          <a:p>
            <a:pPr>
              <a:buNone/>
            </a:pPr>
            <a:endParaRPr lang="en-US" sz="2000" dirty="0"/>
          </a:p>
          <a:p>
            <a:r>
              <a:rPr lang="en-US" sz="2000" dirty="0"/>
              <a:t>For a transaction to be considered “high priority” its priority must be greater </a:t>
            </a:r>
            <a:r>
              <a:rPr lang="en-US" sz="2000" dirty="0" smtClean="0"/>
              <a:t>than 57,600,000</a:t>
            </a:r>
            <a:r>
              <a:rPr lang="en-US" sz="2000" dirty="0"/>
              <a:t>, which corresponds to one bitcoin (100m </a:t>
            </a:r>
            <a:r>
              <a:rPr lang="en-US" sz="2000" dirty="0" err="1"/>
              <a:t>satoshis</a:t>
            </a:r>
            <a:r>
              <a:rPr lang="en-US" sz="2000" dirty="0"/>
              <a:t>), aged one day (</a:t>
            </a:r>
            <a:r>
              <a:rPr lang="en-US" sz="2000" dirty="0" smtClean="0"/>
              <a:t>144 blocks</a:t>
            </a:r>
            <a:r>
              <a:rPr lang="en-US" sz="2000" dirty="0"/>
              <a:t>) in a transaction of 250 bytes total size</a:t>
            </a:r>
            <a:r>
              <a:rPr lang="en-US" sz="2000" dirty="0" smtClean="0"/>
              <a:t>.</a:t>
            </a:r>
          </a:p>
          <a:p>
            <a:endParaRPr lang="en-US" sz="2000" dirty="0"/>
          </a:p>
          <a:p>
            <a:r>
              <a:rPr lang="en-US" sz="2000" dirty="0"/>
              <a:t>High Priority &gt; 100,000,000 </a:t>
            </a:r>
            <a:r>
              <a:rPr lang="en-US" sz="2000" dirty="0" err="1"/>
              <a:t>satoshis</a:t>
            </a:r>
            <a:r>
              <a:rPr lang="en-US" sz="2000" dirty="0"/>
              <a:t> * 144 blocks / 250 bytes = </a:t>
            </a:r>
            <a:r>
              <a:rPr lang="en-US" sz="2000" dirty="0" smtClean="0"/>
              <a:t>57,600,000 or 1 BTC one day old with average transaction size</a:t>
            </a:r>
            <a:endParaRPr lang="en-US" sz="2000" dirty="0"/>
          </a:p>
          <a:p>
            <a:pPr>
              <a:buNone/>
            </a:pPr>
            <a:endParaRPr lang="en-US" dirty="0" smtClean="0"/>
          </a:p>
          <a:p>
            <a:endParaRPr lang="en-US" dirty="0" smtClean="0"/>
          </a:p>
          <a:p>
            <a:endParaRPr lang="en-US" dirty="0"/>
          </a:p>
        </p:txBody>
      </p:sp>
      <p:sp>
        <p:nvSpPr>
          <p:cNvPr id="4" name="TextBox 3"/>
          <p:cNvSpPr txBox="1"/>
          <p:nvPr/>
        </p:nvSpPr>
        <p:spPr>
          <a:xfrm>
            <a:off x="609600" y="6172200"/>
            <a:ext cx="3264292" cy="369332"/>
          </a:xfrm>
          <a:prstGeom prst="rect">
            <a:avLst/>
          </a:prstGeom>
          <a:noFill/>
        </p:spPr>
        <p:txBody>
          <a:bodyPr wrap="none" rtlCol="0">
            <a:spAutoFit/>
          </a:bodyPr>
          <a:lstStyle/>
          <a:p>
            <a:r>
              <a:rPr lang="en-US" dirty="0" smtClean="0"/>
              <a:t>Mastering Bitcoin, Antonopoulos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Mining</a:t>
            </a:r>
            <a:endParaRPr lang="en-US" dirty="0"/>
          </a:p>
        </p:txBody>
      </p:sp>
      <p:sp>
        <p:nvSpPr>
          <p:cNvPr id="3" name="Content Placeholder 2"/>
          <p:cNvSpPr>
            <a:spLocks noGrp="1"/>
          </p:cNvSpPr>
          <p:nvPr>
            <p:ph idx="1"/>
          </p:nvPr>
        </p:nvSpPr>
        <p:spPr/>
        <p:txBody>
          <a:bodyPr>
            <a:normAutofit/>
          </a:bodyPr>
          <a:lstStyle/>
          <a:p>
            <a:r>
              <a:rPr lang="en-US" sz="2000" dirty="0" smtClean="0"/>
              <a:t>High priority transactions can be sent without any fees, if there is enough space in the block. </a:t>
            </a:r>
          </a:p>
          <a:p>
            <a:endParaRPr lang="en-US" sz="2000" dirty="0" smtClean="0"/>
          </a:p>
          <a:p>
            <a:r>
              <a:rPr lang="en-US" sz="2000" dirty="0" smtClean="0"/>
              <a:t>The mining node then fills the rest of the block with transactions that carry at least the minimum fee, prioritizing those with the highest fee per kilobyte of transaction.</a:t>
            </a:r>
          </a:p>
          <a:p>
            <a:endParaRPr lang="en-US" sz="2000" dirty="0" smtClean="0"/>
          </a:p>
          <a:p>
            <a:r>
              <a:rPr lang="en-US" sz="2000" dirty="0" smtClean="0"/>
              <a:t>If there is any space remaining in the block, the mining node may choose to fill it with no-fee transactions.  Some do and some don’t.</a:t>
            </a:r>
          </a:p>
          <a:p>
            <a:endParaRPr lang="en-US" dirty="0" smtClean="0"/>
          </a:p>
          <a:p>
            <a:endParaRPr lang="en-US" dirty="0" smtClean="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Mining</a:t>
            </a:r>
            <a:endParaRPr lang="en-US" dirty="0"/>
          </a:p>
        </p:txBody>
      </p:sp>
      <p:sp>
        <p:nvSpPr>
          <p:cNvPr id="3" name="Content Placeholder 2"/>
          <p:cNvSpPr>
            <a:spLocks noGrp="1"/>
          </p:cNvSpPr>
          <p:nvPr>
            <p:ph idx="1"/>
          </p:nvPr>
        </p:nvSpPr>
        <p:spPr/>
        <p:txBody>
          <a:bodyPr>
            <a:normAutofit/>
          </a:bodyPr>
          <a:lstStyle/>
          <a:p>
            <a:r>
              <a:rPr lang="en-US" sz="2000" dirty="0" smtClean="0"/>
              <a:t>After the transactions are in the block a timestamp is added.</a:t>
            </a:r>
          </a:p>
          <a:p>
            <a:endParaRPr lang="en-US" sz="2000" dirty="0" smtClean="0"/>
          </a:p>
          <a:p>
            <a:r>
              <a:rPr lang="en-US" sz="2000" dirty="0" smtClean="0"/>
              <a:t>The </a:t>
            </a:r>
            <a:r>
              <a:rPr lang="en-US" sz="2000" dirty="0"/>
              <a:t>node then fills in the difficulty target, which defines the required </a:t>
            </a:r>
            <a:r>
              <a:rPr lang="en-US" sz="2000" dirty="0" smtClean="0"/>
              <a:t>Proof-of-Work difficulty </a:t>
            </a:r>
            <a:r>
              <a:rPr lang="en-US" sz="2000" dirty="0"/>
              <a:t>to make this a valid block. </a:t>
            </a:r>
            <a:endParaRPr lang="en-US" sz="2000" dirty="0" smtClean="0"/>
          </a:p>
          <a:p>
            <a:endParaRPr lang="en-US" sz="2000" dirty="0" smtClean="0"/>
          </a:p>
          <a:p>
            <a:r>
              <a:rPr lang="en-US" sz="2000" dirty="0" smtClean="0"/>
              <a:t>The </a:t>
            </a:r>
            <a:r>
              <a:rPr lang="en-US" sz="2000" dirty="0"/>
              <a:t>difficulty is stored in the block as a “</a:t>
            </a:r>
            <a:r>
              <a:rPr lang="en-US" sz="2000" dirty="0" smtClean="0"/>
              <a:t>difficulty bits</a:t>
            </a:r>
            <a:r>
              <a:rPr lang="en-US" sz="2000" dirty="0"/>
              <a:t>” metric</a:t>
            </a:r>
            <a:r>
              <a:rPr lang="en-US" sz="2000" dirty="0" smtClean="0"/>
              <a:t>, stored in exponential format.</a:t>
            </a:r>
          </a:p>
          <a:p>
            <a:endParaRPr lang="en-US" sz="2000" dirty="0" smtClean="0"/>
          </a:p>
          <a:p>
            <a:r>
              <a:rPr lang="en-US" sz="2000" dirty="0"/>
              <a:t>The final field is the nonce, which is initialized to zero</a:t>
            </a:r>
            <a:r>
              <a:rPr lang="en-US" sz="2000" dirty="0" smtClean="0"/>
              <a:t>.</a:t>
            </a:r>
          </a:p>
          <a:p>
            <a:endParaRPr lang="en-US" dirty="0"/>
          </a:p>
          <a:p>
            <a:endParaRPr lang="en-US" dirty="0" smtClean="0"/>
          </a:p>
        </p:txBody>
      </p:sp>
      <p:sp>
        <p:nvSpPr>
          <p:cNvPr id="4" name="TextBox 3"/>
          <p:cNvSpPr txBox="1"/>
          <p:nvPr/>
        </p:nvSpPr>
        <p:spPr>
          <a:xfrm>
            <a:off x="609600" y="6172200"/>
            <a:ext cx="3264292" cy="369332"/>
          </a:xfrm>
          <a:prstGeom prst="rect">
            <a:avLst/>
          </a:prstGeom>
          <a:noFill/>
        </p:spPr>
        <p:txBody>
          <a:bodyPr wrap="none" rtlCol="0">
            <a:spAutoFit/>
          </a:bodyPr>
          <a:lstStyle/>
          <a:p>
            <a:r>
              <a:rPr lang="en-US" dirty="0" smtClean="0"/>
              <a:t>Mastering Bitcoin, Antonopoulos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Mining</a:t>
            </a:r>
            <a:endParaRPr lang="en-US" dirty="0"/>
          </a:p>
        </p:txBody>
      </p:sp>
      <p:sp>
        <p:nvSpPr>
          <p:cNvPr id="3" name="Content Placeholder 2"/>
          <p:cNvSpPr>
            <a:spLocks noGrp="1"/>
          </p:cNvSpPr>
          <p:nvPr>
            <p:ph idx="1"/>
          </p:nvPr>
        </p:nvSpPr>
        <p:spPr/>
        <p:txBody>
          <a:bodyPr>
            <a:normAutofit/>
          </a:bodyPr>
          <a:lstStyle/>
          <a:p>
            <a:r>
              <a:rPr lang="en-US" sz="2000" dirty="0" smtClean="0"/>
              <a:t>With </a:t>
            </a:r>
            <a:r>
              <a:rPr lang="en-US" sz="2000" dirty="0"/>
              <a:t>all the other fields filled, the block header is now complete and the process </a:t>
            </a:r>
            <a:r>
              <a:rPr lang="en-US" sz="2000" dirty="0" smtClean="0"/>
              <a:t>of mining </a:t>
            </a:r>
            <a:r>
              <a:rPr lang="en-US" sz="2000" dirty="0"/>
              <a:t>can begin. </a:t>
            </a:r>
            <a:endParaRPr lang="en-US" sz="2000" dirty="0" smtClean="0"/>
          </a:p>
          <a:p>
            <a:endParaRPr lang="en-US" sz="2000" dirty="0" smtClean="0"/>
          </a:p>
          <a:p>
            <a:r>
              <a:rPr lang="en-US" sz="2000" dirty="0" smtClean="0"/>
              <a:t>The </a:t>
            </a:r>
            <a:r>
              <a:rPr lang="en-US" sz="2000" dirty="0"/>
              <a:t>goal is now to find a value for the nonce that results in a </a:t>
            </a:r>
            <a:r>
              <a:rPr lang="en-US" sz="2000" dirty="0" smtClean="0"/>
              <a:t>block header </a:t>
            </a:r>
            <a:r>
              <a:rPr lang="en-US" sz="2000" dirty="0"/>
              <a:t>hash that is less than the difficulty target. </a:t>
            </a:r>
            <a:endParaRPr lang="en-US" sz="2000" dirty="0" smtClean="0"/>
          </a:p>
          <a:p>
            <a:endParaRPr lang="en-US" sz="2000" dirty="0" smtClean="0"/>
          </a:p>
          <a:p>
            <a:r>
              <a:rPr lang="en-US" sz="2000" dirty="0" smtClean="0"/>
              <a:t>The </a:t>
            </a:r>
            <a:r>
              <a:rPr lang="en-US" sz="2000" dirty="0"/>
              <a:t>mining node will need to </a:t>
            </a:r>
            <a:r>
              <a:rPr lang="en-US" sz="2000" dirty="0" smtClean="0"/>
              <a:t>test billions </a:t>
            </a:r>
            <a:r>
              <a:rPr lang="en-US" sz="2000" dirty="0"/>
              <a:t>or trillions of nonce values before a nonce is found that satisfies the requirement</a:t>
            </a:r>
            <a:r>
              <a:rPr lang="en-US" sz="2000" dirty="0" smtClean="0"/>
              <a:t>.</a:t>
            </a:r>
          </a:p>
          <a:p>
            <a:endParaRPr lang="en-US"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Bitcoin Hashing</a:t>
            </a:r>
            <a:endParaRPr lang="en-US" dirty="0"/>
          </a:p>
        </p:txBody>
      </p:sp>
      <p:sp>
        <p:nvSpPr>
          <p:cNvPr id="3" name="Content Placeholder 2"/>
          <p:cNvSpPr>
            <a:spLocks noGrp="1"/>
          </p:cNvSpPr>
          <p:nvPr>
            <p:ph idx="1"/>
          </p:nvPr>
        </p:nvSpPr>
        <p:spPr/>
        <p:txBody>
          <a:bodyPr>
            <a:normAutofit fontScale="92500" lnSpcReduction="10000"/>
          </a:bodyPr>
          <a:lstStyle/>
          <a:p>
            <a:r>
              <a:rPr lang="en-US" sz="2200" dirty="0" smtClean="0"/>
              <a:t>A hash algorithm takes an arbitrary-length data input and produces a fixed-length deterministic result. </a:t>
            </a:r>
          </a:p>
          <a:p>
            <a:r>
              <a:rPr lang="en-US" sz="2200" dirty="0" smtClean="0"/>
              <a:t>SHA-256 is the hash function used in bitcoin’s mining process.</a:t>
            </a:r>
          </a:p>
          <a:p>
            <a:r>
              <a:rPr lang="en-US" sz="2200" dirty="0" smtClean="0"/>
              <a:t>With SHA-256, the output is always 256 bits long, regardless of the size of the input.</a:t>
            </a:r>
          </a:p>
          <a:p>
            <a:endParaRPr lang="en-US" sz="2200" dirty="0" smtClean="0"/>
          </a:p>
          <a:p>
            <a:r>
              <a:rPr lang="en-US" sz="2200" dirty="0" smtClean="0"/>
              <a:t>For any specific input, the resulting hash will always be the same and can be calculated and verified relatively easily by anyone using the same hash algorithm. </a:t>
            </a:r>
          </a:p>
          <a:p>
            <a:r>
              <a:rPr lang="en-US" sz="2200" dirty="0" smtClean="0"/>
              <a:t>The key characteristic of any cryptographic hash algorithm is that it is virtually impossible to find two different inputs that produce the same fingerprint. </a:t>
            </a:r>
          </a:p>
          <a:p>
            <a:r>
              <a:rPr lang="en-US" sz="2200" dirty="0" smtClean="0"/>
              <a:t>As a corollary, it is also virtually impossible to select an input in such a way as to produce a desired result, other than trying random inputs.</a:t>
            </a:r>
          </a:p>
          <a:p>
            <a:endParaRPr lang="en-US" dirty="0" smtClean="0"/>
          </a:p>
          <a:p>
            <a:endParaRPr lang="en-US"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Difficulty</a:t>
            </a:r>
            <a:endParaRPr lang="en-US" dirty="0"/>
          </a:p>
        </p:txBody>
      </p:sp>
      <p:sp>
        <p:nvSpPr>
          <p:cNvPr id="3" name="Content Placeholder 2"/>
          <p:cNvSpPr>
            <a:spLocks noGrp="1"/>
          </p:cNvSpPr>
          <p:nvPr>
            <p:ph idx="1"/>
          </p:nvPr>
        </p:nvSpPr>
        <p:spPr/>
        <p:txBody>
          <a:bodyPr>
            <a:normAutofit/>
          </a:bodyPr>
          <a:lstStyle/>
          <a:p>
            <a:r>
              <a:rPr lang="en-US" sz="2000" dirty="0" smtClean="0"/>
              <a:t>In the simplest terms, mining is the process of hashing the block header repeatedly, changing one parameter, until the resulting hash matches a specific target, i.e. the result is less that a certain number</a:t>
            </a:r>
          </a:p>
          <a:p>
            <a:endParaRPr lang="en-US" sz="2000" dirty="0" smtClean="0"/>
          </a:p>
          <a:p>
            <a:r>
              <a:rPr lang="en-US" sz="2000" dirty="0" smtClean="0"/>
              <a:t>Bitcoin has a target block time of 10 minutes, which is achieved by regularly adjusting the difficulty.</a:t>
            </a:r>
            <a:endParaRPr lang="en-US" sz="2000" dirty="0"/>
          </a:p>
          <a:p>
            <a:r>
              <a:rPr lang="en-US" sz="2000" dirty="0" smtClean="0"/>
              <a:t>Difficulty re-targeting </a:t>
            </a:r>
            <a:r>
              <a:rPr lang="en-US" sz="2000" dirty="0"/>
              <a:t>occurs automatically and on every full node independently. </a:t>
            </a:r>
            <a:endParaRPr lang="en-US" sz="2000" dirty="0" smtClean="0"/>
          </a:p>
          <a:p>
            <a:r>
              <a:rPr lang="en-US" sz="2000" dirty="0" smtClean="0"/>
              <a:t>Every 2016 </a:t>
            </a:r>
            <a:r>
              <a:rPr lang="en-US" sz="2000" dirty="0"/>
              <a:t>blocks, all nodes re-target the Proof-of-Work difficulty. </a:t>
            </a:r>
            <a:endParaRPr lang="en-US" sz="2000" dirty="0" smtClean="0"/>
          </a:p>
          <a:p>
            <a:endParaRPr lang="en-US" sz="2000" dirty="0" smtClean="0"/>
          </a:p>
          <a:p>
            <a:r>
              <a:rPr lang="en-US" sz="2000" dirty="0" smtClean="0"/>
              <a:t>The </a:t>
            </a:r>
            <a:r>
              <a:rPr lang="en-US" sz="2000" dirty="0"/>
              <a:t>equation for </a:t>
            </a:r>
            <a:r>
              <a:rPr lang="en-US" sz="2000" dirty="0" smtClean="0"/>
              <a:t>retargeting difficulty </a:t>
            </a:r>
            <a:r>
              <a:rPr lang="en-US" sz="2000" dirty="0"/>
              <a:t>measures the time it took to find the last 2016 blocks and </a:t>
            </a:r>
            <a:r>
              <a:rPr lang="en-US" sz="2000" dirty="0" smtClean="0"/>
              <a:t>compares that </a:t>
            </a:r>
            <a:r>
              <a:rPr lang="en-US" sz="2000" dirty="0"/>
              <a:t>to the expected time of 20160 minutes (two weeks based upon a desired 10 </a:t>
            </a:r>
            <a:r>
              <a:rPr lang="en-US" sz="2000" dirty="0" smtClean="0"/>
              <a:t>minute block </a:t>
            </a:r>
            <a:r>
              <a:rPr lang="en-US" sz="2000" dirty="0"/>
              <a:t>time).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Difficulty Limitations</a:t>
            </a:r>
            <a:endParaRPr lang="en-US" dirty="0"/>
          </a:p>
        </p:txBody>
      </p:sp>
      <p:sp>
        <p:nvSpPr>
          <p:cNvPr id="3" name="Content Placeholder 2"/>
          <p:cNvSpPr>
            <a:spLocks noGrp="1"/>
          </p:cNvSpPr>
          <p:nvPr>
            <p:ph idx="1"/>
          </p:nvPr>
        </p:nvSpPr>
        <p:spPr>
          <a:xfrm>
            <a:off x="457200" y="1600200"/>
            <a:ext cx="8229600" cy="4876800"/>
          </a:xfrm>
        </p:spPr>
        <p:txBody>
          <a:bodyPr>
            <a:normAutofit/>
          </a:bodyPr>
          <a:lstStyle/>
          <a:p>
            <a:r>
              <a:rPr lang="en-US" sz="2000" dirty="0" smtClean="0"/>
              <a:t>In </a:t>
            </a:r>
            <a:r>
              <a:rPr lang="en-US" sz="2000" dirty="0"/>
              <a:t>the early days of bitcoin, a miner could find a block </a:t>
            </a:r>
            <a:r>
              <a:rPr lang="en-US" sz="2000" dirty="0" smtClean="0"/>
              <a:t>by iterating </a:t>
            </a:r>
            <a:r>
              <a:rPr lang="en-US" sz="2000" dirty="0"/>
              <a:t>through the nonce until the resulting hash was below the target. </a:t>
            </a:r>
            <a:endParaRPr lang="en-US" sz="2000" dirty="0" smtClean="0"/>
          </a:p>
          <a:p>
            <a:endParaRPr lang="en-US" sz="2000" dirty="0" smtClean="0"/>
          </a:p>
          <a:p>
            <a:r>
              <a:rPr lang="en-US" sz="2000" dirty="0" smtClean="0"/>
              <a:t>As difficulty increased</a:t>
            </a:r>
            <a:r>
              <a:rPr lang="en-US" sz="2000" dirty="0"/>
              <a:t>, miners often cycled through all 4 billion values of the nonce without </a:t>
            </a:r>
            <a:r>
              <a:rPr lang="en-US" sz="2000" dirty="0" smtClean="0"/>
              <a:t>finding a </a:t>
            </a:r>
            <a:r>
              <a:rPr lang="en-US" sz="2000" dirty="0"/>
              <a:t>block. </a:t>
            </a:r>
            <a:endParaRPr lang="en-US" sz="2000" dirty="0" smtClean="0"/>
          </a:p>
          <a:p>
            <a:endParaRPr lang="en-US" sz="2000" dirty="0" smtClean="0"/>
          </a:p>
          <a:p>
            <a:r>
              <a:rPr lang="en-US" sz="2000" dirty="0" smtClean="0"/>
              <a:t>However</a:t>
            </a:r>
            <a:r>
              <a:rPr lang="en-US" sz="2000" dirty="0"/>
              <a:t>, this was easily resolved by updating the block timestamp to </a:t>
            </a:r>
            <a:r>
              <a:rPr lang="en-US" sz="2000" dirty="0" smtClean="0"/>
              <a:t>account for </a:t>
            </a:r>
            <a:r>
              <a:rPr lang="en-US" sz="2000" dirty="0"/>
              <a:t>the elapsed time. </a:t>
            </a:r>
            <a:endParaRPr lang="en-US" sz="2000" dirty="0" smtClean="0"/>
          </a:p>
          <a:p>
            <a:r>
              <a:rPr lang="en-US" sz="2000" dirty="0" smtClean="0"/>
              <a:t>Since </a:t>
            </a:r>
            <a:r>
              <a:rPr lang="en-US" sz="2000" dirty="0"/>
              <a:t>the timestamp is part of the header, the change would </a:t>
            </a:r>
            <a:r>
              <a:rPr lang="en-US" sz="2000" dirty="0" smtClean="0"/>
              <a:t>allow miners </a:t>
            </a:r>
            <a:r>
              <a:rPr lang="en-US" sz="2000" dirty="0"/>
              <a:t>to iterate through the values of the nonce again with different results. </a:t>
            </a:r>
            <a:endParaRPr lang="en-US" sz="2000" dirty="0" smtClean="0"/>
          </a:p>
          <a:p>
            <a:endParaRPr lang="en-US" dirty="0" smtClean="0"/>
          </a:p>
          <a:p>
            <a:endParaRPr lang="en-US"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Difficulty Limitations</a:t>
            </a:r>
            <a:endParaRPr lang="en-US" dirty="0"/>
          </a:p>
        </p:txBody>
      </p:sp>
      <p:sp>
        <p:nvSpPr>
          <p:cNvPr id="3" name="Content Placeholder 2"/>
          <p:cNvSpPr>
            <a:spLocks noGrp="1"/>
          </p:cNvSpPr>
          <p:nvPr>
            <p:ph idx="1"/>
          </p:nvPr>
        </p:nvSpPr>
        <p:spPr>
          <a:xfrm>
            <a:off x="457200" y="1600200"/>
            <a:ext cx="8229600" cy="4876800"/>
          </a:xfrm>
        </p:spPr>
        <p:txBody>
          <a:bodyPr>
            <a:normAutofit/>
          </a:bodyPr>
          <a:lstStyle/>
          <a:p>
            <a:r>
              <a:rPr lang="en-US" sz="2000" dirty="0" smtClean="0"/>
              <a:t>Once mining </a:t>
            </a:r>
            <a:r>
              <a:rPr lang="en-US" sz="2000" dirty="0"/>
              <a:t>hardware exceeded 4 GH/sec however, this approach became increasingly </a:t>
            </a:r>
            <a:r>
              <a:rPr lang="en-US" sz="2000" dirty="0" smtClean="0"/>
              <a:t>difficult as </a:t>
            </a:r>
            <a:r>
              <a:rPr lang="en-US" sz="2000" dirty="0"/>
              <a:t>the nonce values were exhausted in less than a second. </a:t>
            </a:r>
            <a:endParaRPr lang="en-US" sz="2000" dirty="0" smtClean="0"/>
          </a:p>
          <a:p>
            <a:endParaRPr lang="en-US" sz="2000" dirty="0" smtClean="0"/>
          </a:p>
          <a:p>
            <a:r>
              <a:rPr lang="en-US" sz="2000" dirty="0" smtClean="0"/>
              <a:t>As </a:t>
            </a:r>
            <a:r>
              <a:rPr lang="en-US" sz="2000" dirty="0"/>
              <a:t>ASIC mining </a:t>
            </a:r>
            <a:r>
              <a:rPr lang="en-US" sz="2000" dirty="0" smtClean="0"/>
              <a:t>equipment </a:t>
            </a:r>
            <a:r>
              <a:rPr lang="en-US" sz="2000" dirty="0"/>
              <a:t>started pushing and then exceeding the TH/sec hash rate, the mining </a:t>
            </a:r>
            <a:r>
              <a:rPr lang="en-US" sz="2000" dirty="0" smtClean="0"/>
              <a:t>software needed </a:t>
            </a:r>
            <a:r>
              <a:rPr lang="en-US" sz="2000" dirty="0"/>
              <a:t>more space for nonce values in order to find valid blocks. </a:t>
            </a:r>
            <a:endParaRPr lang="en-US" sz="2000" dirty="0" smtClean="0"/>
          </a:p>
          <a:p>
            <a:endParaRPr lang="en-US" sz="2000" dirty="0" smtClean="0"/>
          </a:p>
          <a:p>
            <a:r>
              <a:rPr lang="en-US" sz="2000" dirty="0" smtClean="0"/>
              <a:t>The </a:t>
            </a:r>
            <a:r>
              <a:rPr lang="en-US" sz="2000" dirty="0"/>
              <a:t>timestamp </a:t>
            </a:r>
            <a:r>
              <a:rPr lang="en-US" sz="2000" dirty="0" smtClean="0"/>
              <a:t>could be </a:t>
            </a:r>
            <a:r>
              <a:rPr lang="en-US" sz="2000" dirty="0"/>
              <a:t>stretched a bit, but moving it too far into the future would cause the block to </a:t>
            </a:r>
            <a:r>
              <a:rPr lang="en-US" sz="2000" dirty="0" smtClean="0"/>
              <a:t>become invalid.</a:t>
            </a:r>
          </a:p>
          <a:p>
            <a:endParaRPr lang="en-US" sz="2000" dirty="0" smtClean="0"/>
          </a:p>
          <a:p>
            <a:r>
              <a:rPr lang="en-US" sz="2000" dirty="0" smtClean="0"/>
              <a:t>A new source of “change” was needed in the block header. </a:t>
            </a:r>
          </a:p>
          <a:p>
            <a:endParaRPr lang="en-US" dirty="0" smtClean="0"/>
          </a:p>
        </p:txBody>
      </p:sp>
      <p:sp>
        <p:nvSpPr>
          <p:cNvPr id="4" name="TextBox 3"/>
          <p:cNvSpPr txBox="1"/>
          <p:nvPr/>
        </p:nvSpPr>
        <p:spPr>
          <a:xfrm>
            <a:off x="609600" y="6172200"/>
            <a:ext cx="3264292" cy="369332"/>
          </a:xfrm>
          <a:prstGeom prst="rect">
            <a:avLst/>
          </a:prstGeom>
          <a:noFill/>
        </p:spPr>
        <p:txBody>
          <a:bodyPr wrap="none" rtlCol="0">
            <a:spAutoFit/>
          </a:bodyPr>
          <a:lstStyle/>
          <a:p>
            <a:r>
              <a:rPr lang="en-US" dirty="0" smtClean="0"/>
              <a:t>Mastering Bitcoin, Antonopoulos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Extra Nonce Solution</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 </a:t>
            </a:r>
            <a:r>
              <a:rPr lang="en-US" dirty="0"/>
              <a:t>solution was </a:t>
            </a:r>
            <a:r>
              <a:rPr lang="en-US" dirty="0" smtClean="0"/>
              <a:t>to use </a:t>
            </a:r>
            <a:r>
              <a:rPr lang="en-US" dirty="0"/>
              <a:t>the coinbase transaction as a source of extra nonce values. </a:t>
            </a:r>
            <a:endParaRPr lang="en-US" dirty="0" smtClean="0"/>
          </a:p>
          <a:p>
            <a:endParaRPr lang="en-US" dirty="0" smtClean="0"/>
          </a:p>
          <a:p>
            <a:r>
              <a:rPr lang="en-US" dirty="0" smtClean="0"/>
              <a:t>Since </a:t>
            </a:r>
            <a:r>
              <a:rPr lang="en-US" dirty="0"/>
              <a:t>the coinbase </a:t>
            </a:r>
            <a:r>
              <a:rPr lang="en-US" dirty="0" smtClean="0"/>
              <a:t>script can </a:t>
            </a:r>
            <a:r>
              <a:rPr lang="en-US" dirty="0"/>
              <a:t>store between 2 and 100 bytes of data, miners started using that space as extra </a:t>
            </a:r>
            <a:r>
              <a:rPr lang="en-US" dirty="0" smtClean="0"/>
              <a:t>nonce space</a:t>
            </a:r>
            <a:r>
              <a:rPr lang="en-US" dirty="0"/>
              <a:t>, allowing them to explore a much larger range of block header values to find </a:t>
            </a:r>
            <a:r>
              <a:rPr lang="en-US" dirty="0" smtClean="0"/>
              <a:t>valid blocks.</a:t>
            </a:r>
          </a:p>
          <a:p>
            <a:pPr>
              <a:buNone/>
            </a:pPr>
            <a:endParaRPr lang="en-US" dirty="0" smtClean="0"/>
          </a:p>
          <a:p>
            <a:r>
              <a:rPr lang="en-US" dirty="0" smtClean="0"/>
              <a:t>Eight </a:t>
            </a:r>
            <a:r>
              <a:rPr lang="en-US" dirty="0"/>
              <a:t>bytes of </a:t>
            </a:r>
            <a:r>
              <a:rPr lang="en-US" dirty="0" smtClean="0"/>
              <a:t>extra nonce</a:t>
            </a:r>
            <a:r>
              <a:rPr lang="en-US" dirty="0"/>
              <a:t>, plus the 4 bytes of “standard” nonce allow miners to explore a total 2</a:t>
            </a:r>
            <a:r>
              <a:rPr lang="en-US" baseline="30000" dirty="0"/>
              <a:t>96</a:t>
            </a:r>
            <a:r>
              <a:rPr lang="en-US" dirty="0"/>
              <a:t> (8 </a:t>
            </a:r>
            <a:r>
              <a:rPr lang="en-US" dirty="0" smtClean="0"/>
              <a:t>followed by </a:t>
            </a:r>
            <a:r>
              <a:rPr lang="en-US" dirty="0"/>
              <a:t>28 zeroes) possibilities per second without having to modify the timestamp. </a:t>
            </a:r>
            <a:endParaRPr lang="en-US" dirty="0" smtClean="0"/>
          </a:p>
          <a:p>
            <a:endParaRPr lang="en-US" dirty="0" smtClean="0"/>
          </a:p>
          <a:p>
            <a:r>
              <a:rPr lang="en-US" dirty="0" smtClean="0"/>
              <a:t>If</a:t>
            </a:r>
            <a:r>
              <a:rPr lang="en-US" dirty="0"/>
              <a:t>, </a:t>
            </a:r>
            <a:r>
              <a:rPr lang="en-US" dirty="0" smtClean="0"/>
              <a:t>in the </a:t>
            </a:r>
            <a:r>
              <a:rPr lang="en-US" dirty="0"/>
              <a:t>future, a miner could run through all these possibilities, they could then modify </a:t>
            </a:r>
            <a:r>
              <a:rPr lang="en-US" dirty="0" smtClean="0"/>
              <a:t>the timestamp</a:t>
            </a:r>
            <a:r>
              <a:rPr lang="en-US" dirty="0"/>
              <a:t>. </a:t>
            </a:r>
            <a:endParaRPr lang="en-US" dirty="0" smtClean="0"/>
          </a:p>
          <a:p>
            <a:endParaRPr lang="en-US" dirty="0" smtClean="0"/>
          </a:p>
          <a:p>
            <a:r>
              <a:rPr lang="en-US" dirty="0" smtClean="0"/>
              <a:t>There </a:t>
            </a:r>
            <a:r>
              <a:rPr lang="en-US" dirty="0"/>
              <a:t>is also more space in the coinbase script for future expansion of </a:t>
            </a:r>
            <a:r>
              <a:rPr lang="en-US" dirty="0" smtClean="0"/>
              <a:t>the extra </a:t>
            </a:r>
            <a:r>
              <a:rPr lang="en-US" dirty="0"/>
              <a:t>nonce space</a:t>
            </a:r>
            <a:r>
              <a:rPr lang="en-US" dirty="0" smtClean="0"/>
              <a:t>. </a:t>
            </a:r>
            <a:endParaRPr lang="en-US" dirty="0"/>
          </a:p>
        </p:txBody>
      </p:sp>
      <p:sp>
        <p:nvSpPr>
          <p:cNvPr id="4" name="TextBox 3"/>
          <p:cNvSpPr txBox="1"/>
          <p:nvPr/>
        </p:nvSpPr>
        <p:spPr>
          <a:xfrm>
            <a:off x="609600" y="6172200"/>
            <a:ext cx="3264292" cy="369332"/>
          </a:xfrm>
          <a:prstGeom prst="rect">
            <a:avLst/>
          </a:prstGeom>
          <a:noFill/>
        </p:spPr>
        <p:txBody>
          <a:bodyPr wrap="none" rtlCol="0">
            <a:spAutoFit/>
          </a:bodyPr>
          <a:lstStyle/>
          <a:p>
            <a:r>
              <a:rPr lang="en-US" dirty="0" smtClean="0"/>
              <a:t>Mastering Bitcoin, Antonopoulos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Mining </a:t>
            </a:r>
            <a:r>
              <a:rPr lang="en-US" dirty="0" err="1" smtClean="0"/>
              <a:t>Hashrate</a:t>
            </a:r>
            <a:r>
              <a:rPr lang="en-US" dirty="0" smtClean="0"/>
              <a:t> Growth</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2009 </a:t>
            </a:r>
            <a:r>
              <a:rPr lang="en-US" dirty="0"/>
              <a:t>- 0.5 MH/sec to 8 MH/sec (x 16 growth)</a:t>
            </a:r>
          </a:p>
          <a:p>
            <a:r>
              <a:rPr lang="en-US" dirty="0" smtClean="0"/>
              <a:t>2010 </a:t>
            </a:r>
            <a:r>
              <a:rPr lang="en-US" dirty="0"/>
              <a:t>- 8 MH/sec to 116 GH/sec (x 14,500 growth)</a:t>
            </a:r>
          </a:p>
          <a:p>
            <a:r>
              <a:rPr lang="en-US" dirty="0" smtClean="0"/>
              <a:t>2011 </a:t>
            </a:r>
            <a:r>
              <a:rPr lang="en-US" dirty="0"/>
              <a:t>- 16 GH/sec - 9 TH/sec (x 562 growth)</a:t>
            </a:r>
          </a:p>
          <a:p>
            <a:r>
              <a:rPr lang="en-US" dirty="0" smtClean="0"/>
              <a:t>2012 </a:t>
            </a:r>
            <a:r>
              <a:rPr lang="en-US" dirty="0"/>
              <a:t>- 9 TH/sec - 23 TH/sec (x 2.5 growth)</a:t>
            </a:r>
          </a:p>
          <a:p>
            <a:r>
              <a:rPr lang="en-US" dirty="0" smtClean="0"/>
              <a:t>2013 </a:t>
            </a:r>
            <a:r>
              <a:rPr lang="en-US" dirty="0"/>
              <a:t>- 23 TH/sec - 10 PH/sec (x 450 growth)</a:t>
            </a:r>
          </a:p>
          <a:p>
            <a:r>
              <a:rPr lang="en-US" dirty="0" smtClean="0"/>
              <a:t>2014 </a:t>
            </a:r>
            <a:r>
              <a:rPr lang="en-US" dirty="0"/>
              <a:t>- 10 PH/sec - </a:t>
            </a:r>
            <a:r>
              <a:rPr lang="en-US" dirty="0" smtClean="0"/>
              <a:t>300 PH/sec (x 30 </a:t>
            </a:r>
            <a:r>
              <a:rPr lang="en-US" dirty="0"/>
              <a:t>growth</a:t>
            </a:r>
            <a:r>
              <a:rPr lang="en-US" dirty="0" smtClean="0"/>
              <a:t>)</a:t>
            </a:r>
          </a:p>
          <a:p>
            <a:r>
              <a:rPr lang="en-US" dirty="0" smtClean="0"/>
              <a:t>2015 - 300 PH/sec -800 PH/sec (x 2.5 growth)</a:t>
            </a:r>
          </a:p>
          <a:p>
            <a:r>
              <a:rPr lang="en-US" dirty="0" smtClean="0"/>
              <a:t>2016 - 800 PH/sec – 2.4 </a:t>
            </a:r>
            <a:r>
              <a:rPr lang="en-US" dirty="0" err="1" smtClean="0"/>
              <a:t>ExH</a:t>
            </a:r>
            <a:r>
              <a:rPr lang="en-US" dirty="0" smtClean="0"/>
              <a:t>/sec (x 3 growth)</a:t>
            </a:r>
          </a:p>
          <a:p>
            <a:r>
              <a:rPr lang="en-US" dirty="0" smtClean="0"/>
              <a:t>2017 – 2.4 </a:t>
            </a:r>
            <a:r>
              <a:rPr lang="en-US" dirty="0" err="1" smtClean="0"/>
              <a:t>ExH</a:t>
            </a:r>
            <a:r>
              <a:rPr lang="en-US" dirty="0" smtClean="0"/>
              <a:t>/sec – 16 </a:t>
            </a:r>
            <a:r>
              <a:rPr lang="en-US" dirty="0" err="1" smtClean="0"/>
              <a:t>ExH</a:t>
            </a:r>
            <a:r>
              <a:rPr lang="en-US" dirty="0" smtClean="0"/>
              <a:t>/sec ( x 6.5 growth)</a:t>
            </a:r>
          </a:p>
          <a:p>
            <a:r>
              <a:rPr lang="en-US" dirty="0" smtClean="0"/>
              <a:t>2018 – 13 </a:t>
            </a:r>
            <a:r>
              <a:rPr lang="en-US" dirty="0" err="1" smtClean="0"/>
              <a:t>ExH</a:t>
            </a:r>
            <a:r>
              <a:rPr lang="en-US" dirty="0" smtClean="0"/>
              <a:t>/sec – 62 </a:t>
            </a:r>
            <a:r>
              <a:rPr lang="en-US" dirty="0" err="1" smtClean="0"/>
              <a:t>ExH</a:t>
            </a:r>
            <a:r>
              <a:rPr lang="en-US" dirty="0" smtClean="0"/>
              <a:t>/sec (x 4 growth)</a:t>
            </a:r>
          </a:p>
          <a:p>
            <a:pPr>
              <a:buNone/>
            </a:pPr>
            <a:r>
              <a:rPr lang="en-US" dirty="0" smtClean="0">
                <a:hlinkClick r:id="rId2"/>
              </a:rPr>
              <a:t>https://blockchain.info/charts/hash-rate</a:t>
            </a:r>
            <a:endParaRPr lang="en-US" dirty="0" smtClean="0"/>
          </a:p>
          <a:p>
            <a:pPr>
              <a:buNone/>
            </a:pPr>
            <a:r>
              <a:rPr lang="en-US" dirty="0" smtClean="0">
                <a:hlinkClick r:id="rId3"/>
              </a:rPr>
              <a:t>https://bitcoinwisdom.com/bitcoin/difficulty</a:t>
            </a:r>
            <a:endParaRPr lang="en-US" dirty="0" smtClean="0"/>
          </a:p>
          <a:p>
            <a:pPr>
              <a:buNone/>
            </a:pPr>
            <a:endParaRPr lang="en-US"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Mining Hardware</a:t>
            </a:r>
            <a:endParaRPr lang="en-US" dirty="0"/>
          </a:p>
        </p:txBody>
      </p:sp>
      <p:sp>
        <p:nvSpPr>
          <p:cNvPr id="3" name="Content Placeholder 2"/>
          <p:cNvSpPr>
            <a:spLocks noGrp="1"/>
          </p:cNvSpPr>
          <p:nvPr>
            <p:ph idx="1"/>
          </p:nvPr>
        </p:nvSpPr>
        <p:spPr/>
        <p:txBody>
          <a:bodyPr>
            <a:normAutofit/>
          </a:bodyPr>
          <a:lstStyle/>
          <a:p>
            <a:r>
              <a:rPr lang="en-US" dirty="0" smtClean="0"/>
              <a:t>Mining hardware; historical list</a:t>
            </a:r>
          </a:p>
          <a:p>
            <a:pPr lvl="1"/>
            <a:r>
              <a:rPr lang="en-US" dirty="0" smtClean="0">
                <a:hlinkClick r:id="rId2"/>
              </a:rPr>
              <a:t>https://en.bitcoin.it/wiki/Mining_hardware_comparison</a:t>
            </a:r>
            <a:endParaRPr lang="en-US" dirty="0" smtClean="0"/>
          </a:p>
          <a:p>
            <a:pPr lvl="1">
              <a:buNone/>
            </a:pPr>
            <a:endParaRPr lang="en-US" dirty="0" smtClean="0"/>
          </a:p>
          <a:p>
            <a:r>
              <a:rPr lang="en-US" dirty="0" smtClean="0"/>
              <a:t>Major mining hardware vendors</a:t>
            </a:r>
          </a:p>
          <a:p>
            <a:pPr lvl="1"/>
            <a:r>
              <a:rPr lang="en-US" dirty="0" smtClean="0">
                <a:hlinkClick r:id="rId3"/>
              </a:rPr>
              <a:t>https://shop.bitmain.com/?lang=en</a:t>
            </a:r>
          </a:p>
          <a:p>
            <a:pPr lvl="1"/>
            <a:r>
              <a:rPr lang="en-US" dirty="0" smtClean="0">
                <a:hlinkClick r:id="rId4"/>
              </a:rPr>
              <a:t>https://canaan.io/shop/</a:t>
            </a:r>
            <a:endParaRPr lang="en-US" dirty="0" smtClean="0"/>
          </a:p>
          <a:p>
            <a:pPr lvl="1"/>
            <a:r>
              <a:rPr lang="en-US" dirty="0" smtClean="0">
                <a:hlinkClick r:id="rId5"/>
              </a:rPr>
              <a:t>http://miner.ebang.com.cn/</a:t>
            </a:r>
            <a:endParaRPr lang="en-US" dirty="0" smtClean="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Mining Services; Pools</a:t>
            </a:r>
            <a:endParaRPr lang="en-US" dirty="0"/>
          </a:p>
        </p:txBody>
      </p:sp>
      <p:sp>
        <p:nvSpPr>
          <p:cNvPr id="3" name="Content Placeholder 2"/>
          <p:cNvSpPr>
            <a:spLocks noGrp="1"/>
          </p:cNvSpPr>
          <p:nvPr>
            <p:ph idx="1"/>
          </p:nvPr>
        </p:nvSpPr>
        <p:spPr/>
        <p:txBody>
          <a:bodyPr>
            <a:normAutofit/>
          </a:bodyPr>
          <a:lstStyle/>
          <a:p>
            <a:r>
              <a:rPr lang="en-US" sz="2000" dirty="0" smtClean="0"/>
              <a:t>Many of the top miners are actually Mining Pools, as can be inferred from the names of the top miners. (see chart)</a:t>
            </a:r>
          </a:p>
          <a:p>
            <a:endParaRPr lang="en-US" sz="2000" dirty="0" smtClean="0"/>
          </a:p>
          <a:p>
            <a:r>
              <a:rPr lang="en-US" sz="2000" dirty="0" smtClean="0"/>
              <a:t>Mining Pools are groups of miners that work together to solve the hash nonce problem.</a:t>
            </a:r>
          </a:p>
          <a:p>
            <a:endParaRPr lang="en-US" sz="2000" dirty="0" smtClean="0"/>
          </a:p>
          <a:p>
            <a:r>
              <a:rPr lang="en-US" sz="2000" dirty="0" smtClean="0"/>
              <a:t>Some pools are open in that allow anyone to join and contribute their </a:t>
            </a:r>
            <a:r>
              <a:rPr lang="en-US" sz="2000" dirty="0" err="1" smtClean="0"/>
              <a:t>hashpower</a:t>
            </a:r>
            <a:r>
              <a:rPr lang="en-US" sz="2000" dirty="0" smtClean="0"/>
              <a:t>.</a:t>
            </a:r>
          </a:p>
          <a:p>
            <a:endParaRPr lang="en-US" sz="2000" dirty="0" smtClean="0"/>
          </a:p>
          <a:p>
            <a:r>
              <a:rPr lang="en-US" sz="2000" dirty="0" smtClean="0"/>
              <a:t>Their compensation will be relative to the overall mining revenue of the pool; specifically relative to their </a:t>
            </a:r>
            <a:r>
              <a:rPr lang="en-US" sz="2000" dirty="0" err="1" smtClean="0"/>
              <a:t>hashpower</a:t>
            </a:r>
            <a:r>
              <a:rPr lang="en-US" sz="2000" dirty="0" smtClean="0"/>
              <a:t> </a:t>
            </a:r>
            <a:r>
              <a:rPr lang="en-US" sz="2000" dirty="0" err="1" smtClean="0"/>
              <a:t>vs</a:t>
            </a:r>
            <a:r>
              <a:rPr lang="en-US" sz="2000" dirty="0" smtClean="0"/>
              <a:t> the total pool </a:t>
            </a:r>
            <a:r>
              <a:rPr lang="en-US" sz="2000" dirty="0" err="1" smtClean="0"/>
              <a:t>hashpower</a:t>
            </a:r>
            <a:r>
              <a:rPr lang="en-US" sz="2000" dirty="0" smtClean="0"/>
              <a:t> (less a fee, of course).</a:t>
            </a:r>
          </a:p>
          <a:p>
            <a:pPr lvl="1"/>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Mining Services</a:t>
            </a:r>
            <a:endParaRPr lang="en-US" dirty="0"/>
          </a:p>
        </p:txBody>
      </p:sp>
      <p:sp>
        <p:nvSpPr>
          <p:cNvPr id="3" name="Content Placeholder 2"/>
          <p:cNvSpPr>
            <a:spLocks noGrp="1"/>
          </p:cNvSpPr>
          <p:nvPr>
            <p:ph idx="1"/>
          </p:nvPr>
        </p:nvSpPr>
        <p:spPr/>
        <p:txBody>
          <a:bodyPr/>
          <a:lstStyle/>
          <a:p>
            <a:r>
              <a:rPr lang="en-US" sz="2800" dirty="0" smtClean="0"/>
              <a:t>There are also services that provide sales, setup and hosting of mining equipment</a:t>
            </a:r>
          </a:p>
          <a:p>
            <a:endParaRPr lang="en-US" sz="2800" dirty="0" smtClean="0"/>
          </a:p>
          <a:p>
            <a:r>
              <a:rPr lang="en-US" sz="2800" dirty="0" smtClean="0"/>
              <a:t>Among the largest in North America is Chet Mining Co </a:t>
            </a:r>
            <a:r>
              <a:rPr lang="en-US" sz="2800" dirty="0" smtClean="0">
                <a:hlinkClick r:id="rId2"/>
              </a:rPr>
              <a:t>https://www.chetminingco.com</a:t>
            </a:r>
            <a:endParaRPr lang="en-US" sz="2800" dirty="0" smtClean="0"/>
          </a:p>
          <a:p>
            <a:endParaRPr lang="en-US" dirty="0" smtClean="0"/>
          </a:p>
          <a:p>
            <a:pPr>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Mining Services; Cloud</a:t>
            </a:r>
            <a:endParaRPr lang="en-US" dirty="0"/>
          </a:p>
        </p:txBody>
      </p:sp>
      <p:sp>
        <p:nvSpPr>
          <p:cNvPr id="3" name="Content Placeholder 2"/>
          <p:cNvSpPr>
            <a:spLocks noGrp="1"/>
          </p:cNvSpPr>
          <p:nvPr>
            <p:ph idx="1"/>
          </p:nvPr>
        </p:nvSpPr>
        <p:spPr/>
        <p:txBody>
          <a:bodyPr>
            <a:normAutofit/>
          </a:bodyPr>
          <a:lstStyle/>
          <a:p>
            <a:r>
              <a:rPr lang="en-US" sz="2000" dirty="0" smtClean="0"/>
              <a:t>There are several Cloud mining Services that allow a user to pay for a variable amount of hash power and in return promise proportionate income.</a:t>
            </a:r>
          </a:p>
          <a:p>
            <a:endParaRPr lang="en-US" sz="2200" dirty="0" smtClean="0"/>
          </a:p>
          <a:p>
            <a:r>
              <a:rPr lang="en-US" sz="2000" dirty="0" smtClean="0"/>
              <a:t>Many of these have been found to be outright scams, while others are merely unprofitable (as mentioned in </a:t>
            </a:r>
            <a:r>
              <a:rPr lang="en-US" sz="2000" dirty="0" smtClean="0">
                <a:hlinkClick r:id="rId2"/>
              </a:rPr>
              <a:t>https://www.buybitcoinworldwide.com/mining/cloud-mining/</a:t>
            </a:r>
            <a:r>
              <a:rPr lang="en-US" sz="2000" dirty="0" smtClean="0"/>
              <a:t>)</a:t>
            </a:r>
          </a:p>
          <a:p>
            <a:endParaRPr lang="en-US" sz="2200" dirty="0" smtClean="0"/>
          </a:p>
          <a:p>
            <a:r>
              <a:rPr lang="en-US" sz="2000" dirty="0" smtClean="0"/>
              <a:t>One that is believed to be legit, though not necessarily profitable is</a:t>
            </a:r>
          </a:p>
          <a:p>
            <a:pPr lvl="1"/>
            <a:r>
              <a:rPr lang="en-US" sz="2000" dirty="0" smtClean="0">
                <a:hlinkClick r:id="rId3"/>
              </a:rPr>
              <a:t>https://www.genesis-mining.com/</a:t>
            </a:r>
            <a:endParaRPr lang="en-US" sz="2000" dirty="0" smtClean="0"/>
          </a:p>
          <a:p>
            <a:pPr lvl="1"/>
            <a:endParaRPr lang="en-US" sz="2200" dirty="0" smtClean="0"/>
          </a:p>
          <a:p>
            <a:pPr>
              <a:buNone/>
            </a:pPr>
            <a:r>
              <a:rPr lang="en-US" sz="2000" i="1" dirty="0" smtClean="0"/>
              <a:t>Profitability depends in large part on the price of Bitcoin</a:t>
            </a:r>
          </a:p>
          <a:p>
            <a:pPr lvl="1"/>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 </a:t>
            </a:r>
            <a:endParaRPr lang="en-US" dirty="0"/>
          </a:p>
        </p:txBody>
      </p:sp>
      <p:sp>
        <p:nvSpPr>
          <p:cNvPr id="6" name="TextBox 5"/>
          <p:cNvSpPr txBox="1"/>
          <p:nvPr/>
        </p:nvSpPr>
        <p:spPr>
          <a:xfrm>
            <a:off x="838200" y="6248400"/>
            <a:ext cx="3723583" cy="369332"/>
          </a:xfrm>
          <a:prstGeom prst="rect">
            <a:avLst/>
          </a:prstGeom>
          <a:noFill/>
        </p:spPr>
        <p:txBody>
          <a:bodyPr wrap="none" rtlCol="0">
            <a:spAutoFit/>
          </a:bodyPr>
          <a:lstStyle/>
          <a:p>
            <a:r>
              <a:rPr lang="en-US" dirty="0" smtClean="0"/>
              <a:t>see also https://blockchain.info/pools</a:t>
            </a:r>
            <a:endParaRPr lang="en-US" dirty="0"/>
          </a:p>
        </p:txBody>
      </p:sp>
      <p:pic>
        <p:nvPicPr>
          <p:cNvPr id="10" name="Content Placeholder 9" descr="BitcoinMiningEnergyDigiJan2019b.JPG"/>
          <p:cNvPicPr>
            <a:picLocks noGrp="1" noChangeAspect="1"/>
          </p:cNvPicPr>
          <p:nvPr>
            <p:ph idx="1"/>
          </p:nvPr>
        </p:nvPicPr>
        <p:blipFill>
          <a:blip r:embed="rId2" cstate="print"/>
          <a:stretch>
            <a:fillRect/>
          </a:stretch>
        </p:blipFill>
        <p:spPr>
          <a:xfrm>
            <a:off x="609600" y="533400"/>
            <a:ext cx="7848600" cy="5215731"/>
          </a:xfrm>
        </p:spPr>
      </p:pic>
      <p:sp>
        <p:nvSpPr>
          <p:cNvPr id="11" name="TextBox 10"/>
          <p:cNvSpPr txBox="1"/>
          <p:nvPr/>
        </p:nvSpPr>
        <p:spPr>
          <a:xfrm>
            <a:off x="762000" y="5867400"/>
            <a:ext cx="5319148" cy="369332"/>
          </a:xfrm>
          <a:prstGeom prst="rect">
            <a:avLst/>
          </a:prstGeom>
          <a:noFill/>
        </p:spPr>
        <p:txBody>
          <a:bodyPr wrap="none" rtlCol="0">
            <a:spAutoFit/>
          </a:bodyPr>
          <a:lstStyle/>
          <a:p>
            <a:r>
              <a:rPr lang="en-US" dirty="0" smtClean="0"/>
              <a:t>Above from https://btc.com/stats/pool January 2019 </a:t>
            </a:r>
            <a:endParaRPr lang="en-US" dirty="0"/>
          </a:p>
        </p:txBody>
      </p:sp>
      <p:sp>
        <p:nvSpPr>
          <p:cNvPr id="12" name="TextBox 11"/>
          <p:cNvSpPr txBox="1"/>
          <p:nvPr/>
        </p:nvSpPr>
        <p:spPr>
          <a:xfrm>
            <a:off x="2819400" y="228600"/>
            <a:ext cx="3507563" cy="523220"/>
          </a:xfrm>
          <a:prstGeom prst="rect">
            <a:avLst/>
          </a:prstGeom>
          <a:noFill/>
        </p:spPr>
        <p:txBody>
          <a:bodyPr wrap="none" rtlCol="0">
            <a:spAutoFit/>
          </a:bodyPr>
          <a:lstStyle/>
          <a:p>
            <a:r>
              <a:rPr lang="en-US" sz="2800" b="1" dirty="0" smtClean="0"/>
              <a:t>Mining Concentration</a:t>
            </a:r>
            <a:r>
              <a:rPr lang="en-US" sz="2800" dirty="0" smtClean="0"/>
              <a:t> </a:t>
            </a:r>
            <a:endParaRPr lang="en-US" sz="2800" dirty="0"/>
          </a:p>
        </p:txBody>
      </p:sp>
      <p:sp>
        <p:nvSpPr>
          <p:cNvPr id="13" name="Rectangle 12"/>
          <p:cNvSpPr/>
          <p:nvPr/>
        </p:nvSpPr>
        <p:spPr>
          <a:xfrm>
            <a:off x="3821121" y="3244334"/>
            <a:ext cx="1501758" cy="369332"/>
          </a:xfrm>
          <a:prstGeom prst="rect">
            <a:avLst/>
          </a:prstGeom>
        </p:spPr>
        <p:txBody>
          <a:bodyPr wrap="none">
            <a:spAutoFit/>
          </a:bodyPr>
          <a:lstStyle/>
          <a:p>
            <a:r>
              <a:rPr lang="en-US" b="1" dirty="0" smtClean="0"/>
              <a:t>January 2019 </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 Bitcoin Miners</a:t>
            </a:r>
            <a:endParaRPr lang="en-US" dirty="0"/>
          </a:p>
        </p:txBody>
      </p:sp>
      <p:sp>
        <p:nvSpPr>
          <p:cNvPr id="3" name="Content Placeholder 2"/>
          <p:cNvSpPr>
            <a:spLocks noGrp="1"/>
          </p:cNvSpPr>
          <p:nvPr>
            <p:ph idx="1"/>
          </p:nvPr>
        </p:nvSpPr>
        <p:spPr/>
        <p:txBody>
          <a:bodyPr>
            <a:noAutofit/>
          </a:bodyPr>
          <a:lstStyle/>
          <a:p>
            <a:pPr>
              <a:buNone/>
            </a:pPr>
            <a:r>
              <a:rPr lang="en-US" sz="2000" dirty="0" err="1" smtClean="0"/>
              <a:t>AntPool</a:t>
            </a:r>
            <a:endParaRPr lang="en-US" sz="2000" dirty="0"/>
          </a:p>
          <a:p>
            <a:r>
              <a:rPr lang="en-US" sz="2000" dirty="0" err="1"/>
              <a:t>AntPool</a:t>
            </a:r>
            <a:r>
              <a:rPr lang="en-US" sz="2000" dirty="0"/>
              <a:t> is operated </a:t>
            </a:r>
            <a:r>
              <a:rPr lang="en-US" sz="2000" dirty="0" smtClean="0"/>
              <a:t>by privately-owned </a:t>
            </a:r>
            <a:r>
              <a:rPr lang="en-US" sz="2000" dirty="0" err="1"/>
              <a:t>Bitmain</a:t>
            </a:r>
            <a:r>
              <a:rPr lang="en-US" sz="2000" dirty="0"/>
              <a:t> Technologies Ltd</a:t>
            </a:r>
            <a:r>
              <a:rPr lang="en-US" sz="2000" dirty="0" smtClean="0"/>
              <a:t>.</a:t>
            </a:r>
            <a:r>
              <a:rPr lang="en-US" sz="2000" dirty="0"/>
              <a:t> </a:t>
            </a:r>
            <a:r>
              <a:rPr lang="en-US" sz="2000" dirty="0" smtClean="0"/>
              <a:t>originally based </a:t>
            </a:r>
            <a:r>
              <a:rPr lang="en-US" sz="2000" dirty="0"/>
              <a:t>in Beijing, </a:t>
            </a:r>
            <a:r>
              <a:rPr lang="en-US" sz="2000" dirty="0" smtClean="0"/>
              <a:t>China, currently setting up headquarters in Singapore.</a:t>
            </a:r>
          </a:p>
          <a:p>
            <a:r>
              <a:rPr lang="en-US" sz="2000" dirty="0" smtClean="0"/>
              <a:t>The </a:t>
            </a:r>
            <a:r>
              <a:rPr lang="en-US" sz="2000" dirty="0"/>
              <a:t>company was </a:t>
            </a:r>
            <a:r>
              <a:rPr lang="en-US" sz="2000" dirty="0" smtClean="0"/>
              <a:t>created to design and produce </a:t>
            </a:r>
            <a:r>
              <a:rPr lang="en-US" sz="2000" dirty="0"/>
              <a:t>ASIC chips </a:t>
            </a:r>
            <a:r>
              <a:rPr lang="en-US" sz="2000" dirty="0" smtClean="0"/>
              <a:t>for bitcoin mining, and is the largest producer of mining equipment.</a:t>
            </a:r>
            <a:r>
              <a:rPr lang="en-US" sz="2000" dirty="0"/>
              <a:t> </a:t>
            </a:r>
            <a:endParaRPr lang="en-US" sz="2000" dirty="0" smtClean="0"/>
          </a:p>
          <a:p>
            <a:pPr marL="342900" lvl="1" indent="-342900">
              <a:buFont typeface="Arial" pitchFamily="34" charset="0"/>
              <a:buChar char="•"/>
            </a:pPr>
            <a:r>
              <a:rPr lang="en-US" sz="2000" dirty="0" smtClean="0"/>
              <a:t>Profitability: </a:t>
            </a:r>
            <a:r>
              <a:rPr lang="en-US" sz="2000" dirty="0" smtClean="0">
                <a:hlinkClick r:id="rId2"/>
              </a:rPr>
              <a:t>https://www.cnbc.com/2018/02/23/secretive-chinese-bitcoin-mining-company-may-have-made-as-much-money-as-nvidia-last-year.html</a:t>
            </a:r>
            <a:r>
              <a:rPr lang="en-US" sz="2000" dirty="0" smtClean="0"/>
              <a:t> (article Feb 2018)</a:t>
            </a:r>
          </a:p>
          <a:p>
            <a:pPr>
              <a:buNone/>
            </a:pPr>
            <a:r>
              <a:rPr lang="en-US" sz="2000" dirty="0" smtClean="0"/>
              <a:t>BTC.com</a:t>
            </a:r>
          </a:p>
          <a:p>
            <a:r>
              <a:rPr lang="en-US" sz="2000" dirty="0" smtClean="0"/>
              <a:t>The pool was launched in September 2016, and is currently owned by </a:t>
            </a:r>
            <a:r>
              <a:rPr lang="en-US" sz="2000" dirty="0" err="1" smtClean="0"/>
              <a:t>Bitmain</a:t>
            </a:r>
            <a:r>
              <a:rPr lang="en-US" sz="2000" dirty="0" smtClean="0"/>
              <a:t> Technologies Ltd., the same Chinese firm that runs </a:t>
            </a:r>
            <a:r>
              <a:rPr lang="en-US" sz="2000" dirty="0" err="1" smtClean="0"/>
              <a:t>AntPool</a:t>
            </a:r>
            <a:r>
              <a:rPr lang="en-US" sz="2000" dirty="0" smtClean="0"/>
              <a:t>.   </a:t>
            </a:r>
          </a:p>
          <a:p>
            <a:r>
              <a:rPr lang="en-US" sz="2000" dirty="0" smtClean="0"/>
              <a:t>It currently has the highest </a:t>
            </a:r>
            <a:r>
              <a:rPr lang="en-US" sz="2000" dirty="0" err="1" smtClean="0"/>
              <a:t>hashrate</a:t>
            </a:r>
            <a:endParaRPr lang="en-US" sz="2000" dirty="0" smtClean="0"/>
          </a:p>
          <a:p>
            <a:endParaRPr lang="en-US" sz="1400" b="1"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 Bitcoin Miners</a:t>
            </a:r>
            <a:endParaRPr lang="en-US" dirty="0"/>
          </a:p>
        </p:txBody>
      </p:sp>
      <p:sp>
        <p:nvSpPr>
          <p:cNvPr id="3" name="Content Placeholder 2"/>
          <p:cNvSpPr>
            <a:spLocks noGrp="1"/>
          </p:cNvSpPr>
          <p:nvPr>
            <p:ph idx="1"/>
          </p:nvPr>
        </p:nvSpPr>
        <p:spPr/>
        <p:txBody>
          <a:bodyPr>
            <a:noAutofit/>
          </a:bodyPr>
          <a:lstStyle/>
          <a:p>
            <a:pPr>
              <a:buNone/>
            </a:pPr>
            <a:r>
              <a:rPr lang="en-US" sz="2000" dirty="0" smtClean="0"/>
              <a:t>Slush</a:t>
            </a:r>
          </a:p>
          <a:p>
            <a:r>
              <a:rPr lang="en-US" sz="2000" dirty="0" smtClean="0"/>
              <a:t>Slush is one of the oldest mining pools, having been started in 2010.  With the rise of the Chinese miners,  Slush pool is usually third to fifth in Bitcoin mining share.  It is one of the more popular pools for individuals.</a:t>
            </a:r>
          </a:p>
          <a:p>
            <a:pPr>
              <a:buNone/>
            </a:pPr>
            <a:r>
              <a:rPr lang="en-US" sz="2000" dirty="0" smtClean="0"/>
              <a:t>F2Pool</a:t>
            </a:r>
          </a:p>
          <a:p>
            <a:r>
              <a:rPr lang="en-US" sz="2000" dirty="0" smtClean="0"/>
              <a:t>F2Pool was launched in 2013 and is currently one of five largest mining pools in the world. F2Pool also mines a number of other popular </a:t>
            </a:r>
            <a:r>
              <a:rPr lang="en-US" sz="2000" dirty="0" err="1" smtClean="0"/>
              <a:t>altcoins</a:t>
            </a:r>
            <a:r>
              <a:rPr lang="en-US" sz="2000" dirty="0" smtClean="0"/>
              <a:t> as well. The project was founded by Chinese investors and is headquartered in China. </a:t>
            </a:r>
          </a:p>
          <a:p>
            <a:pPr>
              <a:buNone/>
            </a:pPr>
            <a:r>
              <a:rPr lang="en-US" sz="2000" dirty="0" err="1" smtClean="0"/>
              <a:t>ViaBTC</a:t>
            </a:r>
            <a:endParaRPr lang="en-US" sz="2000" dirty="0" smtClean="0"/>
          </a:p>
          <a:p>
            <a:r>
              <a:rPr lang="en-US" sz="2000" dirty="0" smtClean="0"/>
              <a:t>Another Chinese pool, alleged by some to be controlled by or at least related to </a:t>
            </a:r>
            <a:r>
              <a:rPr lang="en-US" sz="2000" dirty="0" err="1" smtClean="0"/>
              <a:t>Bitmain</a:t>
            </a:r>
            <a:r>
              <a:rPr lang="en-US" sz="2000" dirty="0" smtClean="0"/>
              <a:t>, that offers options to mine different kinds of cryptocurrencies.  It also operates and exchange and offers cloud-mining services.  There have been complaints about their English UIs and payouts.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Mining Countries</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China</a:t>
            </a:r>
          </a:p>
          <a:p>
            <a:pPr lvl="1"/>
            <a:r>
              <a:rPr lang="en-US" dirty="0" smtClean="0"/>
              <a:t>China historically has been the largest bitcoin mining country, and likely still is though exact figures are difficult to determine.</a:t>
            </a:r>
          </a:p>
          <a:p>
            <a:pPr lvl="1"/>
            <a:r>
              <a:rPr lang="en-US" dirty="0" smtClean="0"/>
              <a:t>Power is largely from coal and is relatively inexpensive</a:t>
            </a:r>
          </a:p>
          <a:p>
            <a:pPr lvl="1"/>
            <a:r>
              <a:rPr lang="en-US" dirty="0" smtClean="0"/>
              <a:t>Since late 2017 Chinese mining companies have been looking to expand to other countries as well, at least in part due to pressure from governmental officials</a:t>
            </a:r>
          </a:p>
          <a:p>
            <a:pPr lvl="1"/>
            <a:r>
              <a:rPr lang="en-US" dirty="0" smtClean="0"/>
              <a:t>After </a:t>
            </a:r>
            <a:r>
              <a:rPr lang="en-US" dirty="0"/>
              <a:t>banning initial coin offerings and calling on local exchanges to halt virtual currency trading </a:t>
            </a:r>
            <a:r>
              <a:rPr lang="en-US" dirty="0" smtClean="0"/>
              <a:t>in 2017, </a:t>
            </a:r>
            <a:r>
              <a:rPr lang="en-US" dirty="0"/>
              <a:t>Chinese authorities outlined proposals </a:t>
            </a:r>
            <a:r>
              <a:rPr lang="en-US" dirty="0" smtClean="0"/>
              <a:t>in early 2018 </a:t>
            </a:r>
            <a:r>
              <a:rPr lang="en-US" dirty="0"/>
              <a:t>to </a:t>
            </a:r>
            <a:r>
              <a:rPr lang="en-US" dirty="0" smtClean="0"/>
              <a:t>limit </a:t>
            </a:r>
            <a:r>
              <a:rPr lang="en-US" dirty="0"/>
              <a:t>bitcoin </a:t>
            </a:r>
            <a:r>
              <a:rPr lang="en-US" dirty="0" smtClean="0"/>
              <a:t>mining power consumption. </a:t>
            </a:r>
          </a:p>
          <a:p>
            <a:r>
              <a:rPr lang="en-US" dirty="0" smtClean="0"/>
              <a:t>Iceland</a:t>
            </a:r>
          </a:p>
          <a:p>
            <a:pPr lvl="1"/>
            <a:r>
              <a:rPr lang="en-US" dirty="0" smtClean="0"/>
              <a:t>Most power is green; geothermal, water</a:t>
            </a:r>
          </a:p>
          <a:p>
            <a:pPr lvl="1"/>
            <a:r>
              <a:rPr lang="en-US" dirty="0" smtClean="0"/>
              <a:t>Cooling costs are substantially less given the climate</a:t>
            </a:r>
          </a:p>
          <a:p>
            <a:pPr lvl="1"/>
            <a:r>
              <a:rPr lang="en-US" dirty="0" smtClean="0"/>
              <a:t>Estimated to use more power on mining than residential in 2018 (</a:t>
            </a:r>
            <a:r>
              <a:rPr lang="en-US" dirty="0" smtClean="0">
                <a:hlinkClick r:id="rId2"/>
              </a:rPr>
              <a:t>https://qz.com/1204840/iceland-will-use-more-electricity-mining-bitcoins-than-powering-homes/</a:t>
            </a:r>
            <a:r>
              <a:rPr lang="en-US" dirty="0" smtClean="0"/>
              <a:t>)</a:t>
            </a:r>
          </a:p>
          <a:p>
            <a:pPr lvl="1"/>
            <a:endParaRPr lang="en-US" dirty="0" smtClean="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Mining Countries</a:t>
            </a:r>
            <a:endParaRPr lang="en-US" dirty="0"/>
          </a:p>
        </p:txBody>
      </p:sp>
      <p:sp>
        <p:nvSpPr>
          <p:cNvPr id="3" name="Content Placeholder 2"/>
          <p:cNvSpPr>
            <a:spLocks noGrp="1"/>
          </p:cNvSpPr>
          <p:nvPr>
            <p:ph idx="1"/>
          </p:nvPr>
        </p:nvSpPr>
        <p:spPr/>
        <p:txBody>
          <a:bodyPr>
            <a:normAutofit fontScale="85000" lnSpcReduction="20000"/>
          </a:bodyPr>
          <a:lstStyle/>
          <a:p>
            <a:pPr marL="342900" lvl="1" indent="-342900">
              <a:buFont typeface="Arial" pitchFamily="34" charset="0"/>
              <a:buChar char="•"/>
            </a:pPr>
            <a:r>
              <a:rPr lang="en-US" sz="2600" dirty="0" smtClean="0"/>
              <a:t>Other popular mining locations include Canada and locations in the US with very low power rates (e.g. Washington state and upstate New York).  </a:t>
            </a:r>
          </a:p>
          <a:p>
            <a:pPr marL="342900" lvl="1" indent="-342900">
              <a:buFont typeface="Arial" pitchFamily="34" charset="0"/>
              <a:buChar char="•"/>
            </a:pPr>
            <a:r>
              <a:rPr lang="en-US" sz="2600" dirty="0" smtClean="0"/>
              <a:t>Officials in many of these locations are not happy with this trend.</a:t>
            </a:r>
          </a:p>
          <a:p>
            <a:pPr marL="342900" lvl="1" indent="-342900">
              <a:buFont typeface="Arial" pitchFamily="34" charset="0"/>
              <a:buChar char="•"/>
            </a:pPr>
            <a:endParaRPr lang="en-US" sz="2600" dirty="0" smtClean="0"/>
          </a:p>
          <a:p>
            <a:r>
              <a:rPr lang="en-US" sz="2600" dirty="0" smtClean="0"/>
              <a:t>Canada has become a desirable mining location with relatively low electricity costs in some provinces, and relatively low cooling costs due to its climate</a:t>
            </a:r>
          </a:p>
          <a:p>
            <a:r>
              <a:rPr lang="en-US" sz="2600" dirty="0"/>
              <a:t>Canada’s Hydro Quebec </a:t>
            </a:r>
            <a:r>
              <a:rPr lang="en-US" sz="2600" dirty="0" smtClean="0"/>
              <a:t>was inundated </a:t>
            </a:r>
            <a:r>
              <a:rPr lang="en-US" sz="2600" dirty="0"/>
              <a:t>with requests from cryptocurrency miners looking to setup operations in energy-rich province Quebec, </a:t>
            </a:r>
            <a:r>
              <a:rPr lang="en-US" sz="2600" dirty="0" smtClean="0"/>
              <a:t>in early 2018.</a:t>
            </a:r>
          </a:p>
          <a:p>
            <a:endParaRPr lang="en-US" sz="2600" dirty="0"/>
          </a:p>
          <a:p>
            <a:r>
              <a:rPr lang="en-US" sz="2600" dirty="0" err="1"/>
              <a:t>Bitmain</a:t>
            </a:r>
            <a:r>
              <a:rPr lang="en-US" sz="2600" dirty="0"/>
              <a:t> told Reuters that it has been mining in Canada since 2016, although the location of their Canadian </a:t>
            </a:r>
            <a:r>
              <a:rPr lang="en-US" sz="2600" dirty="0" smtClean="0"/>
              <a:t>operations </a:t>
            </a:r>
            <a:r>
              <a:rPr lang="en-US" sz="2600" dirty="0"/>
              <a:t>was not revealed</a:t>
            </a:r>
            <a:r>
              <a:rPr lang="en-US" sz="2600" dirty="0" smtClean="0"/>
              <a:t>.</a:t>
            </a:r>
          </a:p>
          <a:p>
            <a:endParaRPr lang="en-US" sz="3400" dirty="0" smtClean="0"/>
          </a:p>
          <a:p>
            <a:endParaRPr lang="en-US" sz="3400" dirty="0"/>
          </a:p>
          <a:p>
            <a:pPr lvl="1"/>
            <a:endParaRPr lang="en-US" dirty="0" smtClean="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Bitcoin Mining Energy Consumption</a:t>
            </a:r>
            <a:endParaRPr lang="en-US" dirty="0"/>
          </a:p>
        </p:txBody>
      </p:sp>
      <p:sp>
        <p:nvSpPr>
          <p:cNvPr id="5" name="TextBox 4"/>
          <p:cNvSpPr txBox="1"/>
          <p:nvPr/>
        </p:nvSpPr>
        <p:spPr>
          <a:xfrm>
            <a:off x="609600" y="6248400"/>
            <a:ext cx="5222263" cy="369332"/>
          </a:xfrm>
          <a:prstGeom prst="rect">
            <a:avLst/>
          </a:prstGeom>
          <a:noFill/>
        </p:spPr>
        <p:txBody>
          <a:bodyPr wrap="none" rtlCol="0">
            <a:spAutoFit/>
          </a:bodyPr>
          <a:lstStyle/>
          <a:p>
            <a:r>
              <a:rPr lang="en-US" dirty="0" smtClean="0"/>
              <a:t>https://digiconomist.net/bitcoin-energy-consumption</a:t>
            </a:r>
            <a:endParaRPr lang="en-US" dirty="0"/>
          </a:p>
        </p:txBody>
      </p:sp>
      <p:pic>
        <p:nvPicPr>
          <p:cNvPr id="11" name="Content Placeholder 10" descr="BitcoinMiningEnergyDigiJan2019c.JPG"/>
          <p:cNvPicPr>
            <a:picLocks noGrp="1" noChangeAspect="1"/>
          </p:cNvPicPr>
          <p:nvPr>
            <p:ph idx="1"/>
          </p:nvPr>
        </p:nvPicPr>
        <p:blipFill>
          <a:blip r:embed="rId2" cstate="print"/>
          <a:stretch>
            <a:fillRect/>
          </a:stretch>
        </p:blipFill>
        <p:spPr>
          <a:xfrm>
            <a:off x="381000" y="1447800"/>
            <a:ext cx="8305800" cy="4495800"/>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Bitcoin Mining Energy Consumption</a:t>
            </a:r>
            <a:endParaRPr lang="en-US" dirty="0"/>
          </a:p>
        </p:txBody>
      </p:sp>
      <p:sp>
        <p:nvSpPr>
          <p:cNvPr id="5" name="TextBox 4"/>
          <p:cNvSpPr txBox="1"/>
          <p:nvPr/>
        </p:nvSpPr>
        <p:spPr>
          <a:xfrm>
            <a:off x="838200" y="5867401"/>
            <a:ext cx="8001000" cy="646331"/>
          </a:xfrm>
          <a:prstGeom prst="rect">
            <a:avLst/>
          </a:prstGeom>
          <a:noFill/>
        </p:spPr>
        <p:txBody>
          <a:bodyPr wrap="square" rtlCol="0">
            <a:spAutoFit/>
          </a:bodyPr>
          <a:lstStyle/>
          <a:p>
            <a:pPr marL="0" lvl="1"/>
            <a:r>
              <a:rPr lang="en-US" dirty="0" smtClean="0">
                <a:hlinkClick r:id="rId2"/>
              </a:rPr>
              <a:t>https://digiconomist.net/bitcoin-energy-consumption</a:t>
            </a:r>
            <a:r>
              <a:rPr lang="en-US" dirty="0" smtClean="0"/>
              <a:t>   (Jan 27, 2019)</a:t>
            </a:r>
          </a:p>
          <a:p>
            <a:endParaRPr lang="en-US" dirty="0"/>
          </a:p>
        </p:txBody>
      </p:sp>
      <p:pic>
        <p:nvPicPr>
          <p:cNvPr id="6" name="Picture 5" descr="BitcoinMiningEnergyDigiJan2019.JPG"/>
          <p:cNvPicPr>
            <a:picLocks noChangeAspect="1"/>
          </p:cNvPicPr>
          <p:nvPr/>
        </p:nvPicPr>
        <p:blipFill>
          <a:blip r:embed="rId3" cstate="print"/>
          <a:stretch>
            <a:fillRect/>
          </a:stretch>
        </p:blipFill>
        <p:spPr>
          <a:xfrm>
            <a:off x="762000" y="1219200"/>
            <a:ext cx="7543800" cy="4695825"/>
          </a:xfrm>
          <a:prstGeom prst="rect">
            <a:avLst/>
          </a:prstGeom>
        </p:spPr>
      </p:pic>
      <p:sp>
        <p:nvSpPr>
          <p:cNvPr id="8" name="TextBox 7"/>
          <p:cNvSpPr txBox="1"/>
          <p:nvPr/>
        </p:nvSpPr>
        <p:spPr>
          <a:xfrm>
            <a:off x="228600" y="6211669"/>
            <a:ext cx="8425705" cy="646331"/>
          </a:xfrm>
          <a:prstGeom prst="rect">
            <a:avLst/>
          </a:prstGeom>
          <a:noFill/>
        </p:spPr>
        <p:txBody>
          <a:bodyPr wrap="square" rtlCol="0">
            <a:spAutoFit/>
          </a:bodyPr>
          <a:lstStyle/>
          <a:p>
            <a:r>
              <a:rPr lang="en-US" dirty="0" err="1" smtClean="0"/>
              <a:t>Digiconomist</a:t>
            </a:r>
            <a:r>
              <a:rPr lang="en-US" dirty="0" smtClean="0"/>
              <a:t>: general alarmist about Bitcoin power consumption, probably overstated.</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Bitcoin Mining Energy Consumption</a:t>
            </a:r>
            <a:endParaRPr lang="en-US" dirty="0"/>
          </a:p>
        </p:txBody>
      </p:sp>
      <p:sp>
        <p:nvSpPr>
          <p:cNvPr id="3" name="Content Placeholder 2"/>
          <p:cNvSpPr>
            <a:spLocks noGrp="1"/>
          </p:cNvSpPr>
          <p:nvPr>
            <p:ph idx="1"/>
          </p:nvPr>
        </p:nvSpPr>
        <p:spPr/>
        <p:txBody>
          <a:bodyPr>
            <a:normAutofit/>
          </a:bodyPr>
          <a:lstStyle/>
          <a:p>
            <a:r>
              <a:rPr lang="en-US" sz="1600" dirty="0" smtClean="0"/>
              <a:t>Alternative estimates from early 2018 (not updated since), likely more realistic: </a:t>
            </a:r>
            <a:r>
              <a:rPr lang="en-US" sz="1600" b="1" dirty="0" smtClean="0"/>
              <a:t>see </a:t>
            </a:r>
            <a:r>
              <a:rPr lang="en-US" sz="1600" b="1" dirty="0" err="1" smtClean="0"/>
              <a:t>url</a:t>
            </a:r>
            <a:r>
              <a:rPr lang="en-US" sz="1600" b="1" dirty="0" smtClean="0"/>
              <a:t>* </a:t>
            </a:r>
          </a:p>
          <a:p>
            <a:r>
              <a:rPr lang="en-US" sz="1600" dirty="0" smtClean="0"/>
              <a:t>note the percentage of world electricity consumption, about 2/3 of previous estimate</a:t>
            </a:r>
          </a:p>
          <a:p>
            <a:pPr>
              <a:buNone/>
            </a:pPr>
            <a:endParaRPr lang="en-US" dirty="0" smtClean="0"/>
          </a:p>
          <a:p>
            <a:endParaRPr lang="en-US" dirty="0"/>
          </a:p>
        </p:txBody>
      </p:sp>
      <p:pic>
        <p:nvPicPr>
          <p:cNvPr id="4" name="Picture 3" descr="BitcoinMiningEnergyStatsBetter.JPG"/>
          <p:cNvPicPr>
            <a:picLocks noChangeAspect="1"/>
          </p:cNvPicPr>
          <p:nvPr/>
        </p:nvPicPr>
        <p:blipFill>
          <a:blip r:embed="rId2" cstate="print"/>
          <a:stretch>
            <a:fillRect/>
          </a:stretch>
        </p:blipFill>
        <p:spPr>
          <a:xfrm>
            <a:off x="1219200" y="2362200"/>
            <a:ext cx="6419850" cy="3638550"/>
          </a:xfrm>
          <a:prstGeom prst="rect">
            <a:avLst/>
          </a:prstGeom>
        </p:spPr>
      </p:pic>
      <p:sp>
        <p:nvSpPr>
          <p:cNvPr id="5" name="TextBox 4"/>
          <p:cNvSpPr txBox="1"/>
          <p:nvPr/>
        </p:nvSpPr>
        <p:spPr>
          <a:xfrm>
            <a:off x="609600" y="6248400"/>
            <a:ext cx="5757474" cy="369332"/>
          </a:xfrm>
          <a:prstGeom prst="rect">
            <a:avLst/>
          </a:prstGeom>
          <a:noFill/>
        </p:spPr>
        <p:txBody>
          <a:bodyPr wrap="none" rtlCol="0">
            <a:spAutoFit/>
          </a:bodyPr>
          <a:lstStyle/>
          <a:p>
            <a:pPr marL="0" lvl="1"/>
            <a:r>
              <a:rPr lang="en-US" dirty="0" smtClean="0"/>
              <a:t>*http://blog.zorinaq.com/bitcoin-electricity-consumption/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Bitcoin Mining Energy Consumption</a:t>
            </a:r>
            <a:endParaRPr lang="en-US" dirty="0"/>
          </a:p>
        </p:txBody>
      </p:sp>
      <p:sp>
        <p:nvSpPr>
          <p:cNvPr id="3" name="Content Placeholder 2"/>
          <p:cNvSpPr>
            <a:spLocks noGrp="1"/>
          </p:cNvSpPr>
          <p:nvPr>
            <p:ph idx="1"/>
          </p:nvPr>
        </p:nvSpPr>
        <p:spPr/>
        <p:txBody>
          <a:bodyPr>
            <a:normAutofit fontScale="62500" lnSpcReduction="20000"/>
          </a:bodyPr>
          <a:lstStyle/>
          <a:p>
            <a:pPr marL="342900" lvl="1" indent="-342900">
              <a:buFont typeface="Arial" pitchFamily="34" charset="0"/>
              <a:buChar char="•"/>
            </a:pPr>
            <a:r>
              <a:rPr lang="en-US" sz="3200" dirty="0" smtClean="0"/>
              <a:t>From blog.zorinaq.com/bitcoin-electricity-consumption/:</a:t>
            </a:r>
          </a:p>
          <a:p>
            <a:r>
              <a:rPr lang="en-US" dirty="0" smtClean="0"/>
              <a:t>Bitcoin’s level of power consumption can be presented in a way to make it </a:t>
            </a:r>
            <a:r>
              <a:rPr lang="en-US" i="1" dirty="0" smtClean="0"/>
              <a:t>look</a:t>
            </a:r>
            <a:r>
              <a:rPr lang="en-US" dirty="0" smtClean="0"/>
              <a:t> large:</a:t>
            </a:r>
          </a:p>
          <a:p>
            <a:pPr lvl="1"/>
            <a:r>
              <a:rPr lang="en-US" dirty="0" smtClean="0"/>
              <a:t>Bitcoin </a:t>
            </a:r>
            <a:r>
              <a:rPr lang="en-US" dirty="0"/>
              <a:t>uses as much electricity as entire countries such as Iceland (18.1 </a:t>
            </a:r>
            <a:r>
              <a:rPr lang="en-US" dirty="0" err="1" smtClean="0"/>
              <a:t>TWh</a:t>
            </a:r>
            <a:r>
              <a:rPr lang="en-US" dirty="0" smtClean="0"/>
              <a:t>/yr)</a:t>
            </a:r>
            <a:endParaRPr lang="en-US" dirty="0"/>
          </a:p>
          <a:p>
            <a:pPr lvl="1"/>
            <a:r>
              <a:rPr lang="en-US" dirty="0"/>
              <a:t>Bitcoin uses as much as 1.7 million average American homes (18.3 </a:t>
            </a:r>
            <a:r>
              <a:rPr lang="en-US" dirty="0" err="1"/>
              <a:t>TWh</a:t>
            </a:r>
            <a:r>
              <a:rPr lang="en-US" dirty="0"/>
              <a:t>/yr)</a:t>
            </a:r>
          </a:p>
          <a:p>
            <a:r>
              <a:rPr lang="en-US" dirty="0"/>
              <a:t>Or </a:t>
            </a:r>
            <a:r>
              <a:rPr lang="en-US" i="1" dirty="0" smtClean="0"/>
              <a:t>look</a:t>
            </a:r>
            <a:r>
              <a:rPr lang="en-US" dirty="0"/>
              <a:t> small:</a:t>
            </a:r>
          </a:p>
          <a:p>
            <a:pPr lvl="1"/>
            <a:r>
              <a:rPr lang="en-US" dirty="0"/>
              <a:t>Bitcoin uses only a third of the output of the Three Gorges Dam (90 </a:t>
            </a:r>
            <a:r>
              <a:rPr lang="en-US" dirty="0" err="1"/>
              <a:t>TWh</a:t>
            </a:r>
            <a:r>
              <a:rPr lang="en-US" dirty="0"/>
              <a:t>/yr)</a:t>
            </a:r>
          </a:p>
          <a:p>
            <a:pPr lvl="1"/>
            <a:r>
              <a:rPr lang="en-US" dirty="0"/>
              <a:t>Bitcoin uses less electricity than decorative Christmas lights in the world (the US alone spends 6.63 </a:t>
            </a:r>
            <a:r>
              <a:rPr lang="en-US" dirty="0" err="1"/>
              <a:t>TWh</a:t>
            </a:r>
            <a:r>
              <a:rPr lang="en-US" dirty="0"/>
              <a:t>/yr on </a:t>
            </a:r>
            <a:r>
              <a:rPr lang="en-US" dirty="0" smtClean="0"/>
              <a:t>them)</a:t>
            </a:r>
          </a:p>
          <a:p>
            <a:endParaRPr lang="en-US" dirty="0"/>
          </a:p>
          <a:p>
            <a:r>
              <a:rPr lang="en-US" dirty="0" smtClean="0"/>
              <a:t>In any case, cryptocurrency mining consumes a very large and growing amount of electricity.  Bitcoin mining is only a part of it.</a:t>
            </a:r>
          </a:p>
          <a:p>
            <a:r>
              <a:rPr lang="en-US" dirty="0" smtClean="0"/>
              <a:t>This could become even more of an issue as environmentalists become more aware of it.</a:t>
            </a:r>
          </a:p>
          <a:p>
            <a:endParaRPr lang="en-US" dirty="0" smtClean="0"/>
          </a:p>
          <a:p>
            <a:endParaRPr lang="en-US" dirty="0" smtClean="0"/>
          </a:p>
          <a:p>
            <a:endParaRPr lang="en-US" dirty="0" smtClean="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9208</TotalTime>
  <Words>1935</Words>
  <Application>Microsoft Office PowerPoint</Application>
  <PresentationFormat>On-screen Show (4:3)</PresentationFormat>
  <Paragraphs>202</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Bitcoin Mining</vt:lpstr>
      <vt:lpstr>Bitcoin Mining</vt:lpstr>
      <vt:lpstr>Bitcoin Mining</vt:lpstr>
      <vt:lpstr>Bitcoin Mining</vt:lpstr>
      <vt:lpstr>Bitcoin Mining</vt:lpstr>
      <vt:lpstr>Bitcoin Mining</vt:lpstr>
      <vt:lpstr>Bitcoin Mining</vt:lpstr>
      <vt:lpstr>Hashing, Bitcoin Hashing</vt:lpstr>
      <vt:lpstr>Hashing Difficulty</vt:lpstr>
      <vt:lpstr>Hashing Difficulty Limitations</vt:lpstr>
      <vt:lpstr>Hashing Difficulty Limitations</vt:lpstr>
      <vt:lpstr>The Extra Nonce Solution</vt:lpstr>
      <vt:lpstr>Bitcoin Mining Hashrate Growth</vt:lpstr>
      <vt:lpstr>Bitcoin Mining Hardware</vt:lpstr>
      <vt:lpstr>Bitcoin Mining Services; Pools</vt:lpstr>
      <vt:lpstr>Bitcoin Mining Services</vt:lpstr>
      <vt:lpstr>Bitcoin Mining Services; Cloud</vt:lpstr>
      <vt:lpstr> </vt:lpstr>
      <vt:lpstr>Top Bitcoin Miners</vt:lpstr>
      <vt:lpstr>Top Bitcoin Miners</vt:lpstr>
      <vt:lpstr>Mining Countries</vt:lpstr>
      <vt:lpstr>Mining Countries</vt:lpstr>
      <vt:lpstr>Bitcoin Mining Energy Consumption</vt:lpstr>
      <vt:lpstr>Bitcoin Mining Energy Consumption</vt:lpstr>
      <vt:lpstr>Bitcoin Mining Energy Consumption</vt:lpstr>
      <vt:lpstr>Bitcoin Mining Energy Consumption</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CryptoCurrency Mining</dc:title>
  <dc:creator>BP - FL</dc:creator>
  <cp:lastModifiedBy>BP - FL</cp:lastModifiedBy>
  <cp:revision>85</cp:revision>
  <dcterms:created xsi:type="dcterms:W3CDTF">2018-02-24T13:20:06Z</dcterms:created>
  <dcterms:modified xsi:type="dcterms:W3CDTF">2019-05-19T12:37:15Z</dcterms:modified>
</cp:coreProperties>
</file>