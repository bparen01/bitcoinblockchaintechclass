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7DF5F-E4D2-44FE-9E8A-3A6754F1ADC5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5E21C-B9D8-451E-88B9-61DCC7EA28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olidity.readthedocs.io/en/v0.5.6/introduction-to-smart-contract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olidity.readthedocs.io/en/v0.5.6/solidity-by-exampl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coinmonks/how-to-create-your-own-private-ethereum-blockchain-137ab15989c6" TargetMode="External"/><Relationship Id="rId2" Type="http://schemas.openxmlformats.org/officeDocument/2006/relationships/hyperlink" Target="https://github.com/ethereum/go-ethereu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avsa/sunsetting-mist-da21c8e943d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quiknode/running-a-parity-ethereum-node-in-2019-aedad24976e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fura.io/" TargetMode="External"/><Relationship Id="rId2" Type="http://schemas.openxmlformats.org/officeDocument/2006/relationships/hyperlink" Target="https://metamask.io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127.0.0.1:9545/" TargetMode="External"/><Relationship Id="rId2" Type="http://schemas.openxmlformats.org/officeDocument/2006/relationships/hyperlink" Target="https://truffleframework.com/docs/truffle/quickstar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ruffleframework.com/docs/truffle/quickstar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ruffleframework.com/docs/truffle/quickstar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ruffleframework.com/ganach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Solidity and Tools</a:t>
            </a:r>
            <a:endParaRPr lang="en-US" dirty="0"/>
          </a:p>
        </p:txBody>
      </p:sp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Bernard Parenteau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bparente@fit.edu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dirty="0" smtClean="0">
                <a:solidFill>
                  <a:schemeClr val="tx1">
                    <a:tint val="75000"/>
                  </a:schemeClr>
                </a:solidFill>
              </a:rPr>
              <a:t>February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Solidity 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https://solidity.readthedocs.io/en/v0.5.6/introduction-to-smart-contracts.html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Notes:</a:t>
            </a:r>
            <a:endParaRPr lang="en-US" sz="2000" dirty="0" smtClean="0"/>
          </a:p>
          <a:p>
            <a:r>
              <a:rPr lang="en-US" sz="2000" dirty="0" smtClean="0"/>
              <a:t>Simple storage contract:</a:t>
            </a:r>
          </a:p>
          <a:p>
            <a:pPr lvl="1"/>
            <a:r>
              <a:rPr lang="en-US" sz="2000" dirty="0" smtClean="0"/>
              <a:t>More detailed </a:t>
            </a:r>
            <a:r>
              <a:rPr lang="en-US" sz="2000" dirty="0" err="1" smtClean="0"/>
              <a:t>pragma</a:t>
            </a:r>
            <a:r>
              <a:rPr lang="en-US" sz="2000" dirty="0" smtClean="0"/>
              <a:t> specification</a:t>
            </a:r>
          </a:p>
          <a:p>
            <a:pPr lvl="1"/>
            <a:r>
              <a:rPr lang="en-US" sz="2000" dirty="0" smtClean="0"/>
              <a:t>Identifiers</a:t>
            </a:r>
            <a:r>
              <a:rPr lang="en-US" sz="2000" dirty="0" smtClean="0"/>
              <a:t>; ASCII characters</a:t>
            </a:r>
          </a:p>
          <a:p>
            <a:pPr lvl="1"/>
            <a:r>
              <a:rPr lang="en-US" sz="2000" dirty="0" smtClean="0"/>
              <a:t>public storage; “getters” automatically created, but not “setters”</a:t>
            </a:r>
          </a:p>
          <a:p>
            <a:r>
              <a:rPr lang="en-US" sz="2000" dirty="0" smtClean="0"/>
              <a:t>Coin </a:t>
            </a:r>
            <a:r>
              <a:rPr lang="en-US" sz="2000" dirty="0" smtClean="0"/>
              <a:t>contract:</a:t>
            </a:r>
            <a:endParaRPr lang="en-US" sz="2000" dirty="0" smtClean="0"/>
          </a:p>
          <a:p>
            <a:pPr lvl="1"/>
            <a:r>
              <a:rPr lang="en-US" sz="2000" dirty="0" smtClean="0"/>
              <a:t>Mapping; common way to keep info (e.g. balance) by user address</a:t>
            </a:r>
          </a:p>
          <a:p>
            <a:pPr lvl="1"/>
            <a:r>
              <a:rPr lang="en-US" sz="2000" dirty="0" smtClean="0"/>
              <a:t>Constructor; usually saves creator from </a:t>
            </a:r>
            <a:r>
              <a:rPr lang="en-US" sz="2000" dirty="0" err="1" smtClean="0"/>
              <a:t>msg.sender</a:t>
            </a:r>
            <a:endParaRPr lang="en-US" sz="2000" dirty="0" smtClean="0"/>
          </a:p>
          <a:p>
            <a:pPr lvl="1"/>
            <a:r>
              <a:rPr lang="en-US" sz="2000" dirty="0" smtClean="0"/>
              <a:t>Require clauses</a:t>
            </a:r>
          </a:p>
          <a:p>
            <a:pPr lvl="1"/>
            <a:r>
              <a:rPr lang="en-US" sz="2000" dirty="0" smtClean="0"/>
              <a:t>Emit: events used to “log”, broadcast notifications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Solidity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solidity.readthedocs.io/en/v0.5.6/solidity-by-example.html</a:t>
            </a:r>
            <a:endParaRPr lang="en-US" sz="2000" u="sng" dirty="0" smtClean="0"/>
          </a:p>
          <a:p>
            <a:endParaRPr lang="en-US" sz="2000" u="sng" dirty="0"/>
          </a:p>
          <a:p>
            <a:r>
              <a:rPr lang="en-US" sz="2000" dirty="0" smtClean="0"/>
              <a:t>Simple storage contract:</a:t>
            </a:r>
          </a:p>
          <a:p>
            <a:pPr lvl="1"/>
            <a:r>
              <a:rPr lang="en-US" sz="2000" dirty="0" smtClean="0"/>
              <a:t>Note u</a:t>
            </a:r>
            <a:r>
              <a:rPr lang="en-US" sz="2000" dirty="0" smtClean="0"/>
              <a:t>ses </a:t>
            </a:r>
            <a:r>
              <a:rPr lang="en-US" sz="2000" dirty="0" smtClean="0"/>
              <a:t>of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in Ballot contract</a:t>
            </a:r>
            <a:endParaRPr lang="en-US" sz="2000" dirty="0" smtClean="0"/>
          </a:p>
          <a:p>
            <a:pPr lvl="1"/>
            <a:r>
              <a:rPr lang="en-US" sz="2000" dirty="0" smtClean="0"/>
              <a:t>Note Proposal array iteration in Ballot contract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Geth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github.com/ethereum/go-ethereum</a:t>
            </a:r>
            <a:endParaRPr lang="en-US" sz="2000" u="sng" dirty="0" smtClean="0"/>
          </a:p>
          <a:p>
            <a:endParaRPr lang="en-US" sz="2000" u="sng" dirty="0"/>
          </a:p>
          <a:p>
            <a:r>
              <a:rPr lang="en-US" sz="2000" dirty="0" smtClean="0"/>
              <a:t>Ethereum client written in Go</a:t>
            </a:r>
          </a:p>
          <a:p>
            <a:r>
              <a:rPr lang="en-US" sz="2000" dirty="0" smtClean="0"/>
              <a:t>The traditional Ethereum client/node, with command line interface</a:t>
            </a:r>
          </a:p>
          <a:p>
            <a:r>
              <a:rPr lang="en-US" sz="2000" dirty="0" smtClean="0"/>
              <a:t>Can have attached wallet</a:t>
            </a:r>
          </a:p>
          <a:p>
            <a:r>
              <a:rPr lang="en-US" sz="2000" dirty="0" smtClean="0"/>
              <a:t>Can connect to </a:t>
            </a:r>
            <a:r>
              <a:rPr lang="en-US" sz="2000" dirty="0" err="1" smtClean="0"/>
              <a:t>mainnet</a:t>
            </a:r>
            <a:r>
              <a:rPr lang="en-US" sz="2000" dirty="0" smtClean="0"/>
              <a:t>, </a:t>
            </a:r>
            <a:r>
              <a:rPr lang="en-US" sz="2000" dirty="0" err="1" smtClean="0"/>
              <a:t>testnet</a:t>
            </a:r>
            <a:r>
              <a:rPr lang="en-US" sz="2000" dirty="0" smtClean="0"/>
              <a:t>, or private network</a:t>
            </a:r>
          </a:p>
          <a:p>
            <a:r>
              <a:rPr lang="en-US" sz="2000" dirty="0" smtClean="0"/>
              <a:t>Will download blockchain (</a:t>
            </a:r>
            <a:r>
              <a:rPr lang="en-US" sz="2000" dirty="0" err="1" smtClean="0"/>
              <a:t>chaindata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Can reference Private chain</a:t>
            </a:r>
          </a:p>
          <a:p>
            <a:r>
              <a:rPr lang="en-US" sz="2000" dirty="0" smtClean="0">
                <a:hlinkClick r:id="rId3"/>
              </a:rPr>
              <a:t>https://medium.com/coinmonks/how-to-create-your-own-private-ethereum-blockchain-137ab15989c6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https://medium.com/@</a:t>
            </a:r>
            <a:r>
              <a:rPr lang="en-US" sz="2000" u="sng" dirty="0" smtClean="0">
                <a:hlinkClick r:id="rId2"/>
              </a:rPr>
              <a:t>avsa/sunsetting-mist-da21c8e943d2</a:t>
            </a:r>
            <a:endParaRPr lang="en-US" sz="2000" u="sng" dirty="0" smtClean="0"/>
          </a:p>
          <a:p>
            <a:endParaRPr lang="en-US" sz="2000" u="sng" dirty="0"/>
          </a:p>
          <a:p>
            <a:r>
              <a:rPr lang="en-US" sz="2000" dirty="0" smtClean="0"/>
              <a:t>Mist has been a popular browser / wallet for years</a:t>
            </a:r>
          </a:p>
          <a:p>
            <a:r>
              <a:rPr lang="en-US" sz="2000" dirty="0" smtClean="0"/>
              <a:t>There have occasionally been vulnerabilities discovered, some due not directly to Mist, but to Electron upon which it’s built (which in turn uses chromium)</a:t>
            </a:r>
          </a:p>
          <a:p>
            <a:r>
              <a:rPr lang="en-US" sz="2000" dirty="0" smtClean="0"/>
              <a:t>Many other tools and browsers have been built in recent years, and in 2019 the Mist team decided to discontinue the Mist browser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Parity, Other Ethereum Clients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medium.com/quiknode/running-a-parity-ethereum-node-in-2019-aedad24976e0</a:t>
            </a:r>
            <a:endParaRPr lang="en-US" sz="2000" u="sng" dirty="0" smtClean="0"/>
          </a:p>
          <a:p>
            <a:endParaRPr lang="en-US" sz="2000" u="sng" dirty="0"/>
          </a:p>
          <a:p>
            <a:r>
              <a:rPr lang="en-US" sz="2000" dirty="0" smtClean="0"/>
              <a:t>Parity is the other most widely used Ethereum client/node</a:t>
            </a:r>
          </a:p>
          <a:p>
            <a:r>
              <a:rPr lang="en-US" sz="2000" dirty="0" smtClean="0"/>
              <a:t>The link above also lists a number of other Ethereum clients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Metamask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https://metamask.io</a:t>
            </a:r>
            <a:r>
              <a:rPr lang="en-US" sz="2000" u="sng" dirty="0" smtClean="0">
                <a:hlinkClick r:id="rId2"/>
              </a:rPr>
              <a:t>/</a:t>
            </a:r>
            <a:endParaRPr lang="en-US" sz="2000" u="sng" dirty="0" smtClean="0"/>
          </a:p>
          <a:p>
            <a:endParaRPr lang="en-US" sz="2000" u="sng" dirty="0"/>
          </a:p>
          <a:p>
            <a:r>
              <a:rPr lang="en-US" sz="2000" dirty="0" err="1" smtClean="0"/>
              <a:t>Metamask</a:t>
            </a:r>
            <a:r>
              <a:rPr lang="en-US" sz="2000" dirty="0" smtClean="0"/>
              <a:t> is a Chrome plug-in for Ethereum</a:t>
            </a:r>
          </a:p>
          <a:p>
            <a:r>
              <a:rPr lang="en-US" sz="2000" dirty="0" smtClean="0"/>
              <a:t>It can connect to the </a:t>
            </a:r>
            <a:r>
              <a:rPr lang="en-US" sz="2000" dirty="0" err="1" smtClean="0"/>
              <a:t>mainnet</a:t>
            </a:r>
            <a:r>
              <a:rPr lang="en-US" sz="2000" dirty="0" smtClean="0"/>
              <a:t>, a </a:t>
            </a:r>
            <a:r>
              <a:rPr lang="en-US" sz="2000" dirty="0" err="1" smtClean="0"/>
              <a:t>testnet</a:t>
            </a:r>
            <a:r>
              <a:rPr lang="en-US" sz="2000" dirty="0" smtClean="0"/>
              <a:t>, or a custom connection such as a local network such as one run by Truffle or </a:t>
            </a:r>
            <a:r>
              <a:rPr lang="en-US" sz="2000" dirty="0" err="1" smtClean="0"/>
              <a:t>Ganache</a:t>
            </a:r>
            <a:endParaRPr lang="en-US" sz="2000" dirty="0" smtClean="0"/>
          </a:p>
          <a:p>
            <a:r>
              <a:rPr lang="en-US" sz="2000" dirty="0" err="1" smtClean="0"/>
              <a:t>Mainnet</a:t>
            </a:r>
            <a:r>
              <a:rPr lang="en-US" sz="2000" dirty="0" smtClean="0"/>
              <a:t> and </a:t>
            </a:r>
            <a:r>
              <a:rPr lang="en-US" sz="2000" dirty="0" err="1" smtClean="0"/>
              <a:t>testnet</a:t>
            </a:r>
            <a:r>
              <a:rPr lang="en-US" sz="2000" dirty="0" smtClean="0"/>
              <a:t> connections are via </a:t>
            </a:r>
            <a:r>
              <a:rPr lang="en-US" sz="2000" dirty="0" smtClean="0">
                <a:hlinkClick r:id="rId3"/>
              </a:rPr>
              <a:t>https://infura.io/</a:t>
            </a:r>
            <a:endParaRPr lang="en-US" sz="2000" dirty="0" smtClean="0"/>
          </a:p>
          <a:p>
            <a:r>
              <a:rPr lang="en-US" sz="2000" dirty="0" smtClean="0"/>
              <a:t>It provides Ethereum wallet services, allows import of accounts, and approves transactions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Truffle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truffleframework.com/docs/truffle/quickstart</a:t>
            </a:r>
            <a:endParaRPr lang="en-US" sz="2000" u="sng" dirty="0" smtClean="0"/>
          </a:p>
          <a:p>
            <a:pPr>
              <a:buNone/>
            </a:pPr>
            <a:r>
              <a:rPr lang="en-US" sz="2000" dirty="0" smtClean="0"/>
              <a:t>(the following notes refer to the example in the above link)</a:t>
            </a:r>
            <a:endParaRPr lang="en-US" sz="2000" dirty="0"/>
          </a:p>
          <a:p>
            <a:r>
              <a:rPr lang="en-US" sz="2000" dirty="0" smtClean="0"/>
              <a:t>Example: </a:t>
            </a:r>
            <a:r>
              <a:rPr lang="en-US" sz="2000" dirty="0" err="1" smtClean="0"/>
              <a:t>unbox</a:t>
            </a:r>
            <a:r>
              <a:rPr lang="en-US" sz="2000" dirty="0" smtClean="0"/>
              <a:t> </a:t>
            </a:r>
            <a:r>
              <a:rPr lang="en-US" sz="2000" dirty="0" err="1"/>
              <a:t>metacoin</a:t>
            </a:r>
            <a:r>
              <a:rPr lang="en-US" sz="2000" dirty="0"/>
              <a:t> (as per in link </a:t>
            </a:r>
            <a:r>
              <a:rPr lang="en-US" sz="2000" dirty="0" smtClean="0"/>
              <a:t>above)</a:t>
            </a:r>
          </a:p>
          <a:p>
            <a:pPr lvl="1"/>
            <a:r>
              <a:rPr lang="en-US" sz="2000" dirty="0" smtClean="0"/>
              <a:t>see Users/{name}/</a:t>
            </a:r>
            <a:r>
              <a:rPr lang="en-US" sz="2000" dirty="0" err="1" smtClean="0"/>
              <a:t>Metacoin</a:t>
            </a:r>
            <a:endParaRPr lang="en-US" sz="2000" dirty="0"/>
          </a:p>
          <a:p>
            <a:r>
              <a:rPr lang="en-US" sz="2000" dirty="0"/>
              <a:t>truffle develop; see </a:t>
            </a:r>
            <a:r>
              <a:rPr lang="en-US" sz="2000" dirty="0" smtClean="0"/>
              <a:t>accounts</a:t>
            </a:r>
            <a:endParaRPr lang="en-US" sz="2000" dirty="0"/>
          </a:p>
          <a:p>
            <a:r>
              <a:rPr lang="en-US" sz="2000" dirty="0" smtClean="0"/>
              <a:t>note</a:t>
            </a:r>
            <a:r>
              <a:rPr lang="en-US" sz="2000" dirty="0"/>
              <a:t>; even if you send </a:t>
            </a:r>
            <a:r>
              <a:rPr lang="en-US" sz="2000" dirty="0" err="1"/>
              <a:t>metacoins</a:t>
            </a:r>
            <a:r>
              <a:rPr lang="en-US" sz="2000" dirty="0"/>
              <a:t> from one to the other, you wouldn’t see ETH </a:t>
            </a:r>
            <a:r>
              <a:rPr lang="en-US" sz="2000" dirty="0" smtClean="0"/>
              <a:t>balances affected </a:t>
            </a:r>
            <a:r>
              <a:rPr lang="en-US" sz="2000" dirty="0"/>
              <a:t>in </a:t>
            </a:r>
            <a:r>
              <a:rPr lang="en-US" sz="2000" dirty="0" err="1" smtClean="0"/>
              <a:t>Metamask</a:t>
            </a:r>
            <a:endParaRPr lang="en-US" sz="2000" dirty="0"/>
          </a:p>
          <a:p>
            <a:r>
              <a:rPr lang="en-US" sz="2000" dirty="0" smtClean="0"/>
              <a:t>It will take ETH to send </a:t>
            </a:r>
            <a:r>
              <a:rPr lang="en-US" sz="2000" dirty="0" err="1" smtClean="0"/>
              <a:t>metacoins</a:t>
            </a:r>
            <a:r>
              <a:rPr lang="en-US" sz="2000" dirty="0" smtClean="0"/>
              <a:t>, but the </a:t>
            </a:r>
            <a:r>
              <a:rPr lang="en-US" sz="2000" dirty="0" err="1" smtClean="0"/>
              <a:t>metacoins</a:t>
            </a:r>
            <a:r>
              <a:rPr lang="en-US" sz="2000" dirty="0" smtClean="0"/>
              <a:t> don’t change the ETH balances</a:t>
            </a:r>
          </a:p>
          <a:p>
            <a:r>
              <a:rPr lang="en-US" sz="2000" dirty="0"/>
              <a:t>Y</a:t>
            </a:r>
            <a:r>
              <a:rPr lang="en-US" sz="2000" dirty="0" smtClean="0"/>
              <a:t>ou </a:t>
            </a:r>
            <a:r>
              <a:rPr lang="en-US" sz="2000" dirty="0"/>
              <a:t>could </a:t>
            </a:r>
            <a:r>
              <a:rPr lang="en-US" sz="2000" dirty="0" smtClean="0"/>
              <a:t>import any private </a:t>
            </a:r>
            <a:r>
              <a:rPr lang="en-US" sz="2000" dirty="0"/>
              <a:t>keys to </a:t>
            </a:r>
            <a:r>
              <a:rPr lang="en-US" sz="2000" dirty="0" err="1"/>
              <a:t>metamask</a:t>
            </a:r>
            <a:r>
              <a:rPr lang="en-US" sz="2000" dirty="0"/>
              <a:t> and see ETH </a:t>
            </a:r>
            <a:r>
              <a:rPr lang="en-US" sz="2000" dirty="0" smtClean="0"/>
              <a:t>balances</a:t>
            </a:r>
            <a:endParaRPr lang="en-US" sz="2000" dirty="0"/>
          </a:p>
          <a:p>
            <a:r>
              <a:rPr lang="en-US" sz="2000" dirty="0" smtClean="0"/>
              <a:t>You could change </a:t>
            </a:r>
            <a:r>
              <a:rPr lang="en-US" sz="2000" dirty="0"/>
              <a:t>the </a:t>
            </a:r>
            <a:r>
              <a:rPr lang="en-US" sz="2000" dirty="0" err="1"/>
              <a:t>metamask</a:t>
            </a:r>
            <a:r>
              <a:rPr lang="en-US" sz="2000" dirty="0"/>
              <a:t> network to </a:t>
            </a:r>
            <a:r>
              <a:rPr lang="en-US" sz="2000" u="sng" dirty="0">
                <a:hlinkClick r:id="rId3"/>
              </a:rPr>
              <a:t>https://</a:t>
            </a:r>
            <a:r>
              <a:rPr lang="en-US" sz="2000" u="sng" dirty="0" smtClean="0">
                <a:hlinkClick r:id="rId3"/>
              </a:rPr>
              <a:t>127.0.0.1:9545</a:t>
            </a:r>
            <a:r>
              <a:rPr lang="en-US" sz="2000" dirty="0" smtClean="0"/>
              <a:t> or 7545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Truffle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truffleframework.com/docs/truffle/quickstart</a:t>
            </a:r>
            <a:endParaRPr lang="en-US" sz="2000" u="sng" dirty="0" smtClean="0"/>
          </a:p>
          <a:p>
            <a:pPr>
              <a:buNone/>
            </a:pPr>
            <a:r>
              <a:rPr lang="en-US" sz="2000" dirty="0" smtClean="0"/>
              <a:t>(the following notes refer to the example in the above link)</a:t>
            </a:r>
            <a:endParaRPr lang="en-US" sz="2000" dirty="0"/>
          </a:p>
          <a:p>
            <a:r>
              <a:rPr lang="en-US" sz="2000" dirty="0" smtClean="0"/>
              <a:t>truffle develop</a:t>
            </a:r>
          </a:p>
          <a:p>
            <a:r>
              <a:rPr lang="en-US" sz="2000" dirty="0" smtClean="0"/>
              <a:t>In development console:</a:t>
            </a:r>
          </a:p>
          <a:p>
            <a:pPr lvl="1"/>
            <a:r>
              <a:rPr lang="en-US" sz="2000" dirty="0" smtClean="0"/>
              <a:t>migrate (or migrate --reset)</a:t>
            </a:r>
          </a:p>
          <a:p>
            <a:pPr lvl="1"/>
            <a:r>
              <a:rPr lang="en-US" sz="2000" dirty="0" smtClean="0"/>
              <a:t>Note</a:t>
            </a:r>
            <a:r>
              <a:rPr lang="en-US" sz="2000" dirty="0"/>
              <a:t>; if have done previously, and/or conflicts: use </a:t>
            </a:r>
            <a:r>
              <a:rPr lang="en-US" sz="2000" dirty="0" smtClean="0"/>
              <a:t>migrate --reset 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(also may need to edit truffle-config.js to set correct network port 7545 </a:t>
            </a:r>
            <a:r>
              <a:rPr lang="en-US" sz="2000" dirty="0" err="1"/>
              <a:t>vs</a:t>
            </a:r>
            <a:r>
              <a:rPr lang="en-US" sz="2000" dirty="0"/>
              <a:t> 9545)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Truffle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truffleframework.com/docs/truffle/quickstart</a:t>
            </a:r>
            <a:endParaRPr lang="en-US" sz="2000" u="sng" dirty="0" smtClean="0"/>
          </a:p>
          <a:p>
            <a:pPr>
              <a:buNone/>
            </a:pPr>
            <a:r>
              <a:rPr lang="en-US" sz="2000" dirty="0" smtClean="0"/>
              <a:t>(the following notes refer to the example in the above link)</a:t>
            </a:r>
            <a:endParaRPr lang="en-US" sz="2000" dirty="0"/>
          </a:p>
          <a:p>
            <a:r>
              <a:rPr lang="en-US" sz="2000" dirty="0" smtClean="0"/>
              <a:t>After </a:t>
            </a:r>
            <a:r>
              <a:rPr lang="en-US" sz="2000" dirty="0" err="1" smtClean="0"/>
              <a:t>Metacoin</a:t>
            </a:r>
            <a:r>
              <a:rPr lang="en-US" sz="2000" dirty="0" smtClean="0"/>
              <a:t> deployed successfully</a:t>
            </a:r>
          </a:p>
          <a:p>
            <a:r>
              <a:rPr lang="en-US" sz="2000" dirty="0" smtClean="0"/>
              <a:t>Check network to see contracts</a:t>
            </a:r>
          </a:p>
          <a:p>
            <a:r>
              <a:rPr lang="en-US" sz="2000" dirty="0" smtClean="0"/>
              <a:t>Check balance (first account should have been displayed by migrate)</a:t>
            </a:r>
          </a:p>
          <a:p>
            <a:r>
              <a:rPr lang="en-US" sz="2000" dirty="0" err="1"/>
              <a:t>MetaCoin.deployed</a:t>
            </a:r>
            <a:r>
              <a:rPr lang="en-US" sz="2000" dirty="0"/>
              <a:t>().then(function(instance) { return </a:t>
            </a:r>
            <a:r>
              <a:rPr lang="en-US" sz="2000" dirty="0" err="1"/>
              <a:t>instance.getBalance</a:t>
            </a:r>
            <a:r>
              <a:rPr lang="en-US" sz="2000" dirty="0" smtClean="0"/>
              <a:t>(“&lt;first account&gt;")}).</a:t>
            </a:r>
            <a:r>
              <a:rPr lang="en-US" sz="2000" dirty="0"/>
              <a:t>then(function(balance) { console.log("balance: ", </a:t>
            </a:r>
            <a:r>
              <a:rPr lang="en-US" sz="2000" dirty="0" err="1"/>
              <a:t>balance.toString</a:t>
            </a:r>
            <a:r>
              <a:rPr lang="en-US" sz="2000" dirty="0"/>
              <a:t>(10</a:t>
            </a:r>
            <a:r>
              <a:rPr lang="en-US" sz="2000" dirty="0" smtClean="0"/>
              <a:t>));});</a:t>
            </a:r>
          </a:p>
          <a:p>
            <a:r>
              <a:rPr lang="en-US" sz="2000" dirty="0" smtClean="0"/>
              <a:t>Should show the 10000 original balance</a:t>
            </a:r>
            <a:endParaRPr lang="en-US" sz="2000" dirty="0"/>
          </a:p>
          <a:p>
            <a:r>
              <a:rPr lang="en-US" sz="2000" dirty="0" err="1"/>
              <a:t>MetaCoin.deployed</a:t>
            </a:r>
            <a:r>
              <a:rPr lang="en-US" sz="2000" dirty="0"/>
              <a:t>().then(function(instance) { return </a:t>
            </a:r>
            <a:r>
              <a:rPr lang="en-US" sz="2000" dirty="0" err="1"/>
              <a:t>instance.sendCoin</a:t>
            </a:r>
            <a:r>
              <a:rPr lang="en-US" sz="2000" dirty="0" smtClean="0"/>
              <a:t>(“&lt;second account&gt;100</a:t>
            </a:r>
            <a:r>
              <a:rPr lang="en-US" sz="2000" dirty="0"/>
              <a:t>)}).then(function(balance) { console.log("balance: ", </a:t>
            </a:r>
            <a:r>
              <a:rPr lang="en-US" sz="2000" dirty="0" err="1"/>
              <a:t>balance.toString</a:t>
            </a:r>
            <a:r>
              <a:rPr lang="en-US" sz="2000" dirty="0"/>
              <a:t>(10));});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Ganache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u="sng" dirty="0">
                <a:hlinkClick r:id="rId2"/>
              </a:rPr>
              <a:t>https://</a:t>
            </a:r>
            <a:r>
              <a:rPr lang="en-US" sz="2000" u="sng" dirty="0" smtClean="0">
                <a:hlinkClick r:id="rId2"/>
              </a:rPr>
              <a:t>truffleframework.com/ganache</a:t>
            </a:r>
            <a:endParaRPr lang="en-US" sz="2000" u="sng" dirty="0" smtClean="0"/>
          </a:p>
          <a:p>
            <a:endParaRPr lang="en-US" sz="2000" dirty="0"/>
          </a:p>
          <a:p>
            <a:r>
              <a:rPr lang="en-US" sz="2000" dirty="0"/>
              <a:t>Like Truffle develop, </a:t>
            </a:r>
            <a:r>
              <a:rPr lang="en-US" sz="2000" dirty="0" err="1" smtClean="0"/>
              <a:t>Ganache</a:t>
            </a:r>
            <a:r>
              <a:rPr lang="en-US" sz="2000" dirty="0" smtClean="0"/>
              <a:t> will </a:t>
            </a:r>
            <a:r>
              <a:rPr lang="en-US" sz="2000" dirty="0"/>
              <a:t>generate 10 accounts with 100 ETH by default (in </a:t>
            </a:r>
            <a:r>
              <a:rPr lang="en-US" sz="2000" dirty="0" err="1"/>
              <a:t>Ganache</a:t>
            </a:r>
            <a:r>
              <a:rPr lang="en-US" sz="2000" dirty="0"/>
              <a:t>, it’s configurable in the Tools menu, the Accounts &amp; Keys tab</a:t>
            </a:r>
          </a:p>
          <a:p>
            <a:r>
              <a:rPr lang="en-US" sz="2000" dirty="0" err="1"/>
              <a:t>Ganache</a:t>
            </a:r>
            <a:r>
              <a:rPr lang="en-US" sz="2000" dirty="0"/>
              <a:t> may use port 7545 while truffle develop may use 9545, so you’ll have to change networks in </a:t>
            </a:r>
            <a:r>
              <a:rPr lang="en-US" sz="2000" dirty="0" err="1"/>
              <a:t>metamask</a:t>
            </a:r>
            <a:r>
              <a:rPr lang="en-US" sz="2000" dirty="0"/>
              <a:t> to see the </a:t>
            </a:r>
            <a:r>
              <a:rPr lang="en-US" sz="2000" dirty="0" err="1"/>
              <a:t>Ganache</a:t>
            </a:r>
            <a:r>
              <a:rPr lang="en-US" sz="2000" dirty="0"/>
              <a:t> acct balances</a:t>
            </a:r>
          </a:p>
          <a:p>
            <a:r>
              <a:rPr lang="en-US" sz="2000" dirty="0"/>
              <a:t> </a:t>
            </a:r>
          </a:p>
          <a:p>
            <a:r>
              <a:rPr lang="en-US" sz="2000" dirty="0"/>
              <a:t>Both Truffle develop and </a:t>
            </a:r>
            <a:r>
              <a:rPr lang="en-US" sz="2000" dirty="0" err="1"/>
              <a:t>Ganache</a:t>
            </a:r>
            <a:r>
              <a:rPr lang="en-US" sz="2000" dirty="0"/>
              <a:t> use their own private local test blockchains; not the actual </a:t>
            </a:r>
            <a:r>
              <a:rPr lang="en-US" sz="2000" dirty="0" err="1"/>
              <a:t>testnet</a:t>
            </a:r>
            <a:r>
              <a:rPr lang="en-US" sz="2000" dirty="0"/>
              <a:t> or </a:t>
            </a:r>
            <a:r>
              <a:rPr lang="en-US" sz="2000" dirty="0" err="1"/>
              <a:t>mainnet</a:t>
            </a:r>
            <a:endParaRPr lang="en-US" sz="2000" dirty="0"/>
          </a:p>
          <a:p>
            <a:r>
              <a:rPr lang="en-US" sz="2000" dirty="0" smtClean="0"/>
              <a:t>And </a:t>
            </a:r>
            <a:r>
              <a:rPr lang="en-US" sz="2000" dirty="0"/>
              <a:t>both will use the same keys even if you close them and re-open </a:t>
            </a:r>
            <a:r>
              <a:rPr lang="en-US" sz="2000" dirty="0" smtClean="0"/>
              <a:t>them</a:t>
            </a:r>
          </a:p>
          <a:p>
            <a:endParaRPr lang="en-US" sz="2000" dirty="0"/>
          </a:p>
          <a:p>
            <a:r>
              <a:rPr lang="en-US" sz="2000" dirty="0"/>
              <a:t>notice both Truffle develop and </a:t>
            </a:r>
            <a:r>
              <a:rPr lang="en-US" sz="2000" dirty="0" err="1"/>
              <a:t>Ganache</a:t>
            </a:r>
            <a:r>
              <a:rPr lang="en-US" sz="2000" dirty="0"/>
              <a:t> use HD keys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612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Solidity and Tools</vt:lpstr>
      <vt:lpstr>Solidity Intro</vt:lpstr>
      <vt:lpstr>Solidity Example</vt:lpstr>
      <vt:lpstr>Geth</vt:lpstr>
      <vt:lpstr>Mist</vt:lpstr>
      <vt:lpstr>Parity, Other Ethereum Clients</vt:lpstr>
      <vt:lpstr>Metamask</vt:lpstr>
      <vt:lpstr>Truffle</vt:lpstr>
      <vt:lpstr>Truffle</vt:lpstr>
      <vt:lpstr>Truffle</vt:lpstr>
      <vt:lpstr>Ganache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Solidity and Tools</dc:title>
  <dc:creator>BP - FL</dc:creator>
  <cp:lastModifiedBy>BP - FL</cp:lastModifiedBy>
  <cp:revision>15</cp:revision>
  <dcterms:created xsi:type="dcterms:W3CDTF">2019-03-27T13:25:56Z</dcterms:created>
  <dcterms:modified xsi:type="dcterms:W3CDTF">2019-05-19T14:49:56Z</dcterms:modified>
</cp:coreProperties>
</file>